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76" r:id="rId2"/>
    <p:sldId id="257" r:id="rId3"/>
    <p:sldId id="303" r:id="rId4"/>
    <p:sldId id="325" r:id="rId5"/>
    <p:sldId id="326" r:id="rId6"/>
    <p:sldId id="327" r:id="rId7"/>
    <p:sldId id="328" r:id="rId8"/>
    <p:sldId id="329" r:id="rId9"/>
    <p:sldId id="305" r:id="rId10"/>
    <p:sldId id="330" r:id="rId11"/>
    <p:sldId id="306" r:id="rId12"/>
    <p:sldId id="331" r:id="rId13"/>
    <p:sldId id="332" r:id="rId14"/>
    <p:sldId id="307" r:id="rId15"/>
    <p:sldId id="333" r:id="rId16"/>
    <p:sldId id="334" r:id="rId17"/>
    <p:sldId id="335" r:id="rId18"/>
    <p:sldId id="336" r:id="rId19"/>
    <p:sldId id="274" r:id="rId20"/>
    <p:sldId id="324" r:id="rId2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52" autoAdjust="0"/>
    <p:restoredTop sz="94660"/>
  </p:normalViewPr>
  <p:slideViewPr>
    <p:cSldViewPr snapToGrid="0">
      <p:cViewPr varScale="1">
        <p:scale>
          <a:sx n="58" d="100"/>
          <a:sy n="58" d="100"/>
        </p:scale>
        <p:origin x="4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8" name="Imagen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722927"/>
          </a:xfrm>
          <a:prstGeom prst="rect">
            <a:avLst/>
          </a:prstGeom>
        </p:spPr>
      </p:pic>
      <p:sp>
        <p:nvSpPr>
          <p:cNvPr id="2" name="Título 1"/>
          <p:cNvSpPr>
            <a:spLocks noGrp="1"/>
          </p:cNvSpPr>
          <p:nvPr>
            <p:ph type="ctrTitle" hasCustomPrompt="1"/>
          </p:nvPr>
        </p:nvSpPr>
        <p:spPr>
          <a:xfrm>
            <a:off x="4431723" y="1526166"/>
            <a:ext cx="7443354" cy="2387600"/>
          </a:xfrm>
        </p:spPr>
        <p:txBody>
          <a:bodyPr anchor="b"/>
          <a:lstStyle>
            <a:lvl1pPr algn="ctr">
              <a:defRPr sz="6000" b="1">
                <a:solidFill>
                  <a:schemeClr val="tx1">
                    <a:lumMod val="20000"/>
                    <a:lumOff val="80000"/>
                  </a:schemeClr>
                </a:solidFill>
              </a:defRPr>
            </a:lvl1pPr>
          </a:lstStyle>
          <a:p>
            <a:r>
              <a:rPr lang="es-ES" dirty="0"/>
              <a:t>HAGA CLIC PARA MODIFICAR</a:t>
            </a:r>
            <a:endParaRPr lang="es-CO" dirty="0"/>
          </a:p>
        </p:txBody>
      </p:sp>
      <p:sp>
        <p:nvSpPr>
          <p:cNvPr id="3" name="Subtítulo 2"/>
          <p:cNvSpPr>
            <a:spLocks noGrp="1"/>
          </p:cNvSpPr>
          <p:nvPr>
            <p:ph type="subTitle" idx="1"/>
          </p:nvPr>
        </p:nvSpPr>
        <p:spPr>
          <a:xfrm>
            <a:off x="4431723" y="3913766"/>
            <a:ext cx="7760278" cy="1655762"/>
          </a:xfrm>
        </p:spPr>
        <p:txBody>
          <a:bodyPr/>
          <a:lstStyle>
            <a:lvl1pPr marL="0" indent="0" algn="ctr">
              <a:buNone/>
              <a:defRPr sz="24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CO" dirty="0"/>
          </a:p>
        </p:txBody>
      </p:sp>
      <p:sp>
        <p:nvSpPr>
          <p:cNvPr id="4" name="Marcador de fecha 3"/>
          <p:cNvSpPr>
            <a:spLocks noGrp="1"/>
          </p:cNvSpPr>
          <p:nvPr>
            <p:ph type="dt" sz="half" idx="10"/>
          </p:nvPr>
        </p:nvSpPr>
        <p:spPr/>
        <p:txBody>
          <a:bodyPr/>
          <a:lstStyle>
            <a:lvl1pPr>
              <a:defRPr>
                <a:solidFill>
                  <a:srgbClr val="FFFFFF"/>
                </a:solidFill>
              </a:defRPr>
            </a:lvl1pPr>
          </a:lstStyle>
          <a:p>
            <a:fld id="{3663BBFF-77C1-4BF1-A3B2-2505841100BA}" type="datetimeFigureOut">
              <a:rPr lang="en-US" smtClean="0"/>
              <a:t>8/13/2025</a:t>
            </a:fld>
            <a:endParaRPr lang="en-US" dirty="0"/>
          </a:p>
        </p:txBody>
      </p:sp>
      <p:sp>
        <p:nvSpPr>
          <p:cNvPr id="5" name="Marcador de pie de página 4"/>
          <p:cNvSpPr>
            <a:spLocks noGrp="1"/>
          </p:cNvSpPr>
          <p:nvPr>
            <p:ph type="ftr" sz="quarter" idx="11"/>
          </p:nvPr>
        </p:nvSpPr>
        <p:spPr/>
        <p:txBody>
          <a:bodyPr/>
          <a:lstStyle>
            <a:lvl1pPr>
              <a:defRPr>
                <a:solidFill>
                  <a:srgbClr val="FFFFFF"/>
                </a:solidFill>
              </a:defRPr>
            </a:lvl1pPr>
          </a:lstStyle>
          <a:p>
            <a:endParaRPr lang="en-US" dirty="0"/>
          </a:p>
        </p:txBody>
      </p:sp>
      <p:sp>
        <p:nvSpPr>
          <p:cNvPr id="6" name="Marcador de número de diapositiva 5"/>
          <p:cNvSpPr>
            <a:spLocks noGrp="1"/>
          </p:cNvSpPr>
          <p:nvPr>
            <p:ph type="sldNum" sz="quarter" idx="12"/>
          </p:nvPr>
        </p:nvSpPr>
        <p:spPr/>
        <p:txBody>
          <a:bodyPr/>
          <a:lstStyle>
            <a:lvl1pPr>
              <a:defRPr>
                <a:solidFill>
                  <a:srgbClr val="FFFFFF"/>
                </a:solidFill>
              </a:defRPr>
            </a:lvl1p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68023789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7"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a:xfrm>
            <a:off x="964621" y="1435389"/>
            <a:ext cx="10515600" cy="1325563"/>
          </a:xfrm>
        </p:spPr>
        <p:txBody>
          <a:bodyPr/>
          <a:lstStyle>
            <a:lvl1pPr algn="ctr">
              <a:defRPr b="1"/>
            </a:lvl1pPr>
          </a:lstStyle>
          <a:p>
            <a:r>
              <a:rPr lang="es-ES"/>
              <a:t>Haga clic para modificar el estilo de título del patrón</a:t>
            </a:r>
            <a:endParaRPr lang="es-CO" dirty="0"/>
          </a:p>
        </p:txBody>
      </p:sp>
      <p:sp>
        <p:nvSpPr>
          <p:cNvPr id="3" name="Marcador de contenido 2"/>
          <p:cNvSpPr>
            <a:spLocks noGrp="1"/>
          </p:cNvSpPr>
          <p:nvPr>
            <p:ph idx="1"/>
          </p:nvPr>
        </p:nvSpPr>
        <p:spPr>
          <a:xfrm>
            <a:off x="1091044" y="3044535"/>
            <a:ext cx="10262755" cy="313242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5FED2BB1-BB31-4EB8-A961-18800A74EAA8}" type="datetimeFigureOut">
              <a:rPr lang="en-US" smtClean="0"/>
              <a:t>8/13/2025</a:t>
            </a:fld>
            <a:endParaRPr lang="en-US" dirty="0"/>
          </a:p>
        </p:txBody>
      </p:sp>
      <p:sp>
        <p:nvSpPr>
          <p:cNvPr id="5" name="Marcador de pie de página 4"/>
          <p:cNvSpPr>
            <a:spLocks noGrp="1"/>
          </p:cNvSpPr>
          <p:nvPr>
            <p:ph type="ftr" sz="quarter" idx="11"/>
          </p:nvPr>
        </p:nvSpPr>
        <p:spPr/>
        <p:txBody>
          <a:bodyPr/>
          <a:lstStyle/>
          <a:p>
            <a:endParaRPr lang="en-US" dirty="0"/>
          </a:p>
        </p:txBody>
      </p:sp>
      <p:sp>
        <p:nvSpPr>
          <p:cNvPr id="6" name="Marcador de número de diapositiva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49891303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3B40B886-74BB-4D5E-9EA9-584482FE40E6}" type="datetimeFigureOut">
              <a:rPr lang="en-US" smtClean="0"/>
              <a:t>8/13/2025</a:t>
            </a:fld>
            <a:endParaRPr lang="en-US" dirty="0"/>
          </a:p>
        </p:txBody>
      </p:sp>
      <p:sp>
        <p:nvSpPr>
          <p:cNvPr id="5" name="Marcador de pie de página 4"/>
          <p:cNvSpPr>
            <a:spLocks noGrp="1"/>
          </p:cNvSpPr>
          <p:nvPr>
            <p:ph type="ftr" sz="quarter" idx="11"/>
          </p:nvPr>
        </p:nvSpPr>
        <p:spPr/>
        <p:txBody>
          <a:bodyPr/>
          <a:lstStyle/>
          <a:p>
            <a:endParaRPr lang="en-US" dirty="0"/>
          </a:p>
        </p:txBody>
      </p:sp>
      <p:sp>
        <p:nvSpPr>
          <p:cNvPr id="6" name="Marcador de número de diapositiva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73931149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p:txBody>
          <a:bodyPr/>
          <a:lstStyle/>
          <a:p>
            <a:fld id="{8CA4CCD1-3502-4C30-947C-75FC88992007}" type="datetimeFigureOut">
              <a:rPr lang="en-US" smtClean="0"/>
              <a:t>8/13/2025</a:t>
            </a:fld>
            <a:endParaRPr lang="en-US" dirty="0"/>
          </a:p>
        </p:txBody>
      </p:sp>
      <p:sp>
        <p:nvSpPr>
          <p:cNvPr id="6" name="Marcador de pie de página 5"/>
          <p:cNvSpPr>
            <a:spLocks noGrp="1"/>
          </p:cNvSpPr>
          <p:nvPr>
            <p:ph type="ftr" sz="quarter" idx="11"/>
          </p:nvPr>
        </p:nvSpPr>
        <p:spPr/>
        <p:txBody>
          <a:bodyPr/>
          <a:lstStyle/>
          <a:p>
            <a:endParaRPr lang="en-US" dirty="0"/>
          </a:p>
        </p:txBody>
      </p:sp>
      <p:sp>
        <p:nvSpPr>
          <p:cNvPr id="7" name="Marcador de número de diapositiva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54338175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0"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p:txBody>
          <a:bodyPr/>
          <a:lstStyle/>
          <a:p>
            <a:fld id="{950B797A-E8AF-4231-9C64-308C5BB9ED3E}" type="datetimeFigureOut">
              <a:rPr lang="en-US" smtClean="0"/>
              <a:t>8/13/2025</a:t>
            </a:fld>
            <a:endParaRPr lang="en-US" dirty="0"/>
          </a:p>
        </p:txBody>
      </p:sp>
      <p:sp>
        <p:nvSpPr>
          <p:cNvPr id="8" name="Marcador de pie de página 7"/>
          <p:cNvSpPr>
            <a:spLocks noGrp="1"/>
          </p:cNvSpPr>
          <p:nvPr>
            <p:ph type="ftr" sz="quarter" idx="11"/>
          </p:nvPr>
        </p:nvSpPr>
        <p:spPr/>
        <p:txBody>
          <a:bodyPr/>
          <a:lstStyle/>
          <a:p>
            <a:endParaRPr lang="en-US" dirty="0"/>
          </a:p>
        </p:txBody>
      </p:sp>
      <p:sp>
        <p:nvSpPr>
          <p:cNvPr id="9" name="Marcador de número de diapositiva 8"/>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33438358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p:txBody>
          <a:bodyPr/>
          <a:lstStyle/>
          <a:p>
            <a:fld id="{1EB24146-07E2-48CA-8629-5887ED47FCDB}" type="datetimeFigureOut">
              <a:rPr lang="en-US" smtClean="0"/>
              <a:t>8/13/2025</a:t>
            </a:fld>
            <a:endParaRPr lang="en-US" dirty="0"/>
          </a:p>
        </p:txBody>
      </p:sp>
      <p:sp>
        <p:nvSpPr>
          <p:cNvPr id="4" name="Marcador de pie de página 3"/>
          <p:cNvSpPr>
            <a:spLocks noGrp="1"/>
          </p:cNvSpPr>
          <p:nvPr>
            <p:ph type="ftr" sz="quarter" idx="11"/>
          </p:nvPr>
        </p:nvSpPr>
        <p:spPr/>
        <p:txBody>
          <a:bodyPr/>
          <a:lstStyle/>
          <a:p>
            <a:endParaRPr lang="en-US" dirty="0"/>
          </a:p>
        </p:txBody>
      </p:sp>
      <p:sp>
        <p:nvSpPr>
          <p:cNvPr id="5" name="Marcador de número de diapositiva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05724125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Marcador de fecha 1"/>
          <p:cNvSpPr>
            <a:spLocks noGrp="1"/>
          </p:cNvSpPr>
          <p:nvPr>
            <p:ph type="dt" sz="half" idx="10"/>
          </p:nvPr>
        </p:nvSpPr>
        <p:spPr/>
        <p:txBody>
          <a:bodyPr/>
          <a:lstStyle/>
          <a:p>
            <a:fld id="{D407E718-B4F0-433E-A285-0013249184C0}" type="datetimeFigureOut">
              <a:rPr lang="en-US" smtClean="0"/>
              <a:t>8/13/2025</a:t>
            </a:fld>
            <a:endParaRPr lang="en-US" dirty="0"/>
          </a:p>
        </p:txBody>
      </p:sp>
      <p:sp>
        <p:nvSpPr>
          <p:cNvPr id="3" name="Marcador de pie de página 2"/>
          <p:cNvSpPr>
            <a:spLocks noGrp="1"/>
          </p:cNvSpPr>
          <p:nvPr>
            <p:ph type="ftr" sz="quarter" idx="11"/>
          </p:nvPr>
        </p:nvSpPr>
        <p:spPr/>
        <p:txBody>
          <a:bodyPr/>
          <a:lstStyle/>
          <a:p>
            <a:endParaRPr lang="en-US" dirty="0"/>
          </a:p>
        </p:txBody>
      </p:sp>
      <p:sp>
        <p:nvSpPr>
          <p:cNvPr id="4" name="Marcador de número de diapositiva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85385790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2B8E44C4-3D72-4D6E-86A4-F5491DC49E6D}" type="datetimeFigureOut">
              <a:rPr lang="en-US" smtClean="0"/>
              <a:t>8/13/2025</a:t>
            </a:fld>
            <a:endParaRPr lang="en-US" dirty="0"/>
          </a:p>
        </p:txBody>
      </p:sp>
      <p:sp>
        <p:nvSpPr>
          <p:cNvPr id="6" name="Marcador de pie de página 5"/>
          <p:cNvSpPr>
            <a:spLocks noGrp="1"/>
          </p:cNvSpPr>
          <p:nvPr>
            <p:ph type="ftr" sz="quarter" idx="11"/>
          </p:nvPr>
        </p:nvSpPr>
        <p:spPr/>
        <p:txBody>
          <a:bodyPr/>
          <a:lstStyle/>
          <a:p>
            <a:endParaRPr lang="en-US" dirty="0"/>
          </a:p>
        </p:txBody>
      </p:sp>
      <p:sp>
        <p:nvSpPr>
          <p:cNvPr id="7" name="Marcador de número de diapositiva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98515117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B8EA14-E6AC-4B59-973C-7A06B0EDE3E3}" type="datetimeFigureOut">
              <a:rPr lang="en-US" smtClean="0"/>
              <a:t>8/13/2025</a:t>
            </a:fld>
            <a:endParaRPr lang="en-US" dirty="0"/>
          </a:p>
        </p:txBody>
      </p:sp>
      <p:sp>
        <p:nvSpPr>
          <p:cNvPr id="6" name="Marcador de pie de página 5"/>
          <p:cNvSpPr>
            <a:spLocks noGrp="1"/>
          </p:cNvSpPr>
          <p:nvPr>
            <p:ph type="ftr" sz="quarter" idx="11"/>
          </p:nvPr>
        </p:nvSpPr>
        <p:spPr/>
        <p:txBody>
          <a:bodyPr/>
          <a:lstStyle/>
          <a:p>
            <a:endParaRPr lang="en-US" dirty="0"/>
          </a:p>
        </p:txBody>
      </p:sp>
      <p:sp>
        <p:nvSpPr>
          <p:cNvPr id="7" name="Marcador de número de diapositiva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09416263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497D2069-43FA-49C5-9F0E-58E1EB237AEF}" type="datetimeFigureOut">
              <a:rPr lang="en-US" smtClean="0"/>
              <a:t>8/13/2025</a:t>
            </a:fld>
            <a:endParaRPr lang="en-US" dirty="0"/>
          </a:p>
        </p:txBody>
      </p:sp>
      <p:sp>
        <p:nvSpPr>
          <p:cNvPr id="5" name="Marcador de pie de página 4"/>
          <p:cNvSpPr>
            <a:spLocks noGrp="1"/>
          </p:cNvSpPr>
          <p:nvPr>
            <p:ph type="ftr" sz="quarter" idx="11"/>
          </p:nvPr>
        </p:nvSpPr>
        <p:spPr/>
        <p:txBody>
          <a:bodyPr/>
          <a:lstStyle/>
          <a:p>
            <a:endParaRPr lang="en-US" dirty="0"/>
          </a:p>
        </p:txBody>
      </p:sp>
      <p:sp>
        <p:nvSpPr>
          <p:cNvPr id="6" name="Marcador de número de diapositiva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53528602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7"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C05854CA-19F4-4771-B6A2-DA5C0742B220}" type="datetimeFigureOut">
              <a:rPr lang="en-US" smtClean="0"/>
              <a:t>8/13/2025</a:t>
            </a:fld>
            <a:endParaRPr lang="en-US" dirty="0"/>
          </a:p>
        </p:txBody>
      </p:sp>
      <p:sp>
        <p:nvSpPr>
          <p:cNvPr id="5" name="Marcador de pie de página 4"/>
          <p:cNvSpPr>
            <a:spLocks noGrp="1"/>
          </p:cNvSpPr>
          <p:nvPr>
            <p:ph type="ftr" sz="quarter" idx="11"/>
          </p:nvPr>
        </p:nvSpPr>
        <p:spPr/>
        <p:txBody>
          <a:bodyPr/>
          <a:lstStyle/>
          <a:p>
            <a:endParaRPr lang="en-US" dirty="0"/>
          </a:p>
        </p:txBody>
      </p:sp>
      <p:sp>
        <p:nvSpPr>
          <p:cNvPr id="6" name="Marcador de número de diapositiva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97837463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BB3B3F-C0CE-47CB-BCED-F49A710726FF}" type="datetimeFigureOut">
              <a:rPr lang="en-US" smtClean="0"/>
              <a:t>8/13/2025</a:t>
            </a:fld>
            <a:endParaRPr lang="en-US" dirty="0"/>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60667621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earch.ebscohost.com/login.aspx?direct=true&amp;db=nlebk&amp;AN=54565&amp;site=ehost-liv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277394" y="3581814"/>
            <a:ext cx="6284133" cy="707886"/>
          </a:xfrm>
          <a:prstGeom prst="rect">
            <a:avLst/>
          </a:prstGeom>
          <a:ln>
            <a:noFill/>
          </a:ln>
        </p:spPr>
        <p:txBody>
          <a:bodyPr wrap="square">
            <a:spAutoFit/>
          </a:bodyPr>
          <a:lstStyle/>
          <a:p>
            <a:pPr algn="ctr">
              <a:defRPr/>
            </a:pPr>
            <a:endParaRPr lang="es-ES" sz="2000" dirty="0">
              <a:ln w="10541" cmpd="sng">
                <a:noFill/>
                <a:prstDash val="solid"/>
              </a:ln>
              <a:solidFill>
                <a:prstClr val="white"/>
              </a:solidFill>
              <a:latin typeface="Arial" panose="020B0604020202020204" pitchFamily="34" charset="0"/>
              <a:cs typeface="Arial" panose="020B0604020202020204" pitchFamily="34" charset="0"/>
            </a:endParaRPr>
          </a:p>
          <a:p>
            <a:pPr algn="ctr">
              <a:defRPr/>
            </a:pPr>
            <a:endParaRPr lang="es-ES" sz="2000" dirty="0">
              <a:ln w="10541" cmpd="sng">
                <a:solidFill>
                  <a:srgbClr val="4F81BD">
                    <a:shade val="88000"/>
                    <a:satMod val="110000"/>
                  </a:srgbClr>
                </a:solidFill>
                <a:prstDash val="solid"/>
              </a:ln>
              <a:solidFill>
                <a:prstClr val="white"/>
              </a:solidFill>
              <a:latin typeface="Arial" panose="020B0604020202020204" pitchFamily="34" charset="0"/>
              <a:cs typeface="Arial" panose="020B0604020202020204" pitchFamily="34" charset="0"/>
            </a:endParaRPr>
          </a:p>
        </p:txBody>
      </p:sp>
      <p:sp>
        <p:nvSpPr>
          <p:cNvPr id="6" name="Rectángulo 5"/>
          <p:cNvSpPr/>
          <p:nvPr/>
        </p:nvSpPr>
        <p:spPr>
          <a:xfrm>
            <a:off x="5368564" y="1704571"/>
            <a:ext cx="6101791" cy="1569660"/>
          </a:xfrm>
          <a:prstGeom prst="rect">
            <a:avLst/>
          </a:prstGeom>
          <a:ln>
            <a:noFill/>
          </a:ln>
        </p:spPr>
        <p:txBody>
          <a:bodyPr wrap="square">
            <a:spAutoFit/>
          </a:bodyPr>
          <a:lstStyle/>
          <a:p>
            <a:pPr algn="ctr">
              <a:defRPr/>
            </a:pPr>
            <a:r>
              <a:rPr lang="es-ES" sz="3200" dirty="0">
                <a:ln w="10541" cmpd="sng">
                  <a:noFill/>
                  <a:prstDash val="solid"/>
                </a:ln>
                <a:solidFill>
                  <a:prstClr val="white"/>
                </a:solidFill>
                <a:latin typeface="Arial" panose="020B0604020202020204" pitchFamily="34" charset="0"/>
                <a:cs typeface="Arial" panose="020B0604020202020204" pitchFamily="34" charset="0"/>
              </a:rPr>
              <a:t>UNIDAD N°1: INTRODUCCIÓN A L AS ESTRUCTURA DE DATOS – Parte 2</a:t>
            </a:r>
          </a:p>
        </p:txBody>
      </p:sp>
    </p:spTree>
    <p:extLst>
      <p:ext uri="{BB962C8B-B14F-4D97-AF65-F5344CB8AC3E}">
        <p14:creationId xmlns:p14="http://schemas.microsoft.com/office/powerpoint/2010/main" val="281226399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8636" y="313588"/>
            <a:ext cx="7043739" cy="1077062"/>
          </a:xfrm>
        </p:spPr>
        <p:txBody>
          <a:bodyPr/>
          <a:lstStyle/>
          <a:p>
            <a:pPr algn="l"/>
            <a:r>
              <a:rPr lang="es-MX" b="1" dirty="0">
                <a:latin typeface="Times New Roman" panose="02020603050405020304" pitchFamily="18" charset="0"/>
                <a:cs typeface="Times New Roman" panose="02020603050405020304" pitchFamily="18" charset="0"/>
              </a:rPr>
              <a:t>Agenda:</a:t>
            </a:r>
            <a:endParaRPr lang="es-CO" b="1" dirty="0">
              <a:latin typeface="Times New Roman" panose="02020603050405020304" pitchFamily="18" charset="0"/>
              <a:cs typeface="Times New Roman" panose="02020603050405020304" pitchFamily="18" charset="0"/>
            </a:endParaRPr>
          </a:p>
        </p:txBody>
      </p:sp>
      <p:sp>
        <p:nvSpPr>
          <p:cNvPr id="5" name="Marcador de contenido 4"/>
          <p:cNvSpPr>
            <a:spLocks noGrp="1"/>
          </p:cNvSpPr>
          <p:nvPr>
            <p:ph idx="1"/>
          </p:nvPr>
        </p:nvSpPr>
        <p:spPr>
          <a:xfrm>
            <a:off x="652894" y="1390651"/>
            <a:ext cx="11177156" cy="4838700"/>
          </a:xfrm>
        </p:spPr>
        <p:txBody>
          <a:bodyPr>
            <a:normAutofit/>
          </a:bodyPr>
          <a:lstStyle/>
          <a:p>
            <a:pPr marL="0" indent="0">
              <a:buNone/>
            </a:pPr>
            <a:r>
              <a:rPr lang="es-MX" sz="3000" dirty="0"/>
              <a:t>1. </a:t>
            </a:r>
            <a:r>
              <a:rPr lang="es-MX" sz="3000" b="1" dirty="0"/>
              <a:t>Arreglos bidimensionales.</a:t>
            </a:r>
          </a:p>
          <a:p>
            <a:pPr marL="0" indent="0">
              <a:buNone/>
            </a:pPr>
            <a:r>
              <a:rPr lang="es-MX" sz="3000" dirty="0"/>
              <a:t>	1.1. Conceptualización.</a:t>
            </a:r>
          </a:p>
          <a:p>
            <a:pPr marL="0" indent="0">
              <a:buNone/>
            </a:pPr>
            <a:r>
              <a:rPr lang="es-MX" sz="3000" dirty="0"/>
              <a:t>	1.2. Declaración de un arreglo.</a:t>
            </a:r>
          </a:p>
          <a:p>
            <a:pPr marL="0" indent="0">
              <a:buNone/>
            </a:pPr>
            <a:r>
              <a:rPr lang="es-MX" sz="3000" dirty="0"/>
              <a:t>	1.3. Inicialización de un arreglo.</a:t>
            </a:r>
          </a:p>
          <a:p>
            <a:pPr marL="0" indent="0">
              <a:buNone/>
            </a:pPr>
            <a:r>
              <a:rPr lang="es-MX" sz="3000" dirty="0"/>
              <a:t>	1.4. Acceso de un arreglo.</a:t>
            </a:r>
          </a:p>
          <a:p>
            <a:pPr marL="0" indent="0">
              <a:buNone/>
            </a:pPr>
            <a:r>
              <a:rPr lang="es-MX" sz="3000" dirty="0"/>
              <a:t>	1.5. Ejemplo y Recorrido de un arreglo.</a:t>
            </a:r>
          </a:p>
          <a:p>
            <a:pPr marL="0" indent="0">
              <a:buNone/>
            </a:pPr>
            <a:r>
              <a:rPr lang="es-MX" sz="3000" dirty="0"/>
              <a:t>	</a:t>
            </a:r>
          </a:p>
          <a:p>
            <a:pPr marL="0" indent="0">
              <a:buNone/>
            </a:pPr>
            <a:endParaRPr lang="es-MX" dirty="0"/>
          </a:p>
          <a:p>
            <a:pPr marL="0" indent="0">
              <a:buNone/>
            </a:pPr>
            <a:endParaRPr lang="es-MX" dirty="0"/>
          </a:p>
          <a:p>
            <a:pPr marL="0" indent="0">
              <a:buNone/>
            </a:pPr>
            <a:endParaRPr lang="es-MX" dirty="0"/>
          </a:p>
          <a:p>
            <a:pPr marL="0" indent="0">
              <a:buNone/>
            </a:pPr>
            <a:endParaRPr lang="es-MX" dirty="0"/>
          </a:p>
        </p:txBody>
      </p:sp>
    </p:spTree>
    <p:extLst>
      <p:ext uri="{BB962C8B-B14F-4D97-AF65-F5344CB8AC3E}">
        <p14:creationId xmlns:p14="http://schemas.microsoft.com/office/powerpoint/2010/main" val="416085643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19150" y="1343025"/>
            <a:ext cx="5995094" cy="520065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a:buNone/>
            </a:pPr>
            <a:r>
              <a:rPr lang="es-MX" b="1" dirty="0"/>
              <a:t>Conceptualización:</a:t>
            </a:r>
          </a:p>
          <a:p>
            <a:pPr marL="0" indent="0" algn="just">
              <a:buNone/>
            </a:pPr>
            <a:r>
              <a:rPr lang="es-MX" dirty="0"/>
              <a:t>Los arrays multidimensionales son aquellos que tienen más de una dimensión y, en consecuencia, más de un </a:t>
            </a:r>
            <a:r>
              <a:rPr lang="es-MX" b="1" dirty="0"/>
              <a:t>índice</a:t>
            </a:r>
            <a:r>
              <a:rPr lang="es-MX" dirty="0"/>
              <a:t>. Los más usuales son los de dos dimensiones, conocidos también por el nombre de </a:t>
            </a:r>
            <a:r>
              <a:rPr lang="es-MX" b="1" dirty="0"/>
              <a:t>tablas</a:t>
            </a:r>
            <a:r>
              <a:rPr lang="es-MX" dirty="0"/>
              <a:t> o </a:t>
            </a:r>
            <a:r>
              <a:rPr lang="es-MX" b="1" dirty="0"/>
              <a:t>matrices</a:t>
            </a:r>
            <a:r>
              <a:rPr lang="es-MX" dirty="0"/>
              <a:t>: Sin embargo, es posible crear </a:t>
            </a:r>
            <a:r>
              <a:rPr lang="es-MX" b="1" dirty="0"/>
              <a:t>arrays</a:t>
            </a:r>
            <a:r>
              <a:rPr lang="es-MX" dirty="0"/>
              <a:t> de tantas dimensiones como requieran sus aplicaciones, ya sean tres, cuatro o más.</a:t>
            </a:r>
          </a:p>
          <a:p>
            <a:pPr marL="0" indent="0" algn="just">
              <a:buNone/>
            </a:pPr>
            <a:r>
              <a:rPr lang="es-MX" sz="2400" b="1" dirty="0"/>
              <a:t>Un array de dos dimensiones (m x n) </a:t>
            </a:r>
            <a:r>
              <a:rPr lang="es-MX" sz="2400" dirty="0"/>
              <a:t>equivale a una tabla con múltiples filas y múltiples columnas (Ver Figura 1).</a:t>
            </a:r>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pic>
        <p:nvPicPr>
          <p:cNvPr id="2" name="Imagen 1"/>
          <p:cNvPicPr>
            <a:picLocks noChangeAspect="1"/>
          </p:cNvPicPr>
          <p:nvPr/>
        </p:nvPicPr>
        <p:blipFill>
          <a:blip r:embed="rId2"/>
          <a:stretch>
            <a:fillRect/>
          </a:stretch>
        </p:blipFill>
        <p:spPr>
          <a:xfrm>
            <a:off x="6880920" y="1485899"/>
            <a:ext cx="4491930" cy="4378321"/>
          </a:xfrm>
          <a:prstGeom prst="rect">
            <a:avLst/>
          </a:prstGeom>
        </p:spPr>
      </p:pic>
      <p:sp>
        <p:nvSpPr>
          <p:cNvPr id="4" name="Rectángulo 3"/>
          <p:cNvSpPr/>
          <p:nvPr/>
        </p:nvSpPr>
        <p:spPr>
          <a:xfrm>
            <a:off x="6880920" y="5717654"/>
            <a:ext cx="4863405" cy="646331"/>
          </a:xfrm>
          <a:prstGeom prst="rect">
            <a:avLst/>
          </a:prstGeom>
        </p:spPr>
        <p:txBody>
          <a:bodyPr wrap="square">
            <a:spAutoFit/>
          </a:bodyPr>
          <a:lstStyle/>
          <a:p>
            <a:pPr algn="ctr"/>
            <a:r>
              <a:rPr lang="es-CO" dirty="0"/>
              <a:t>Figura 1.  Estructura de un array de dos dimensiones</a:t>
            </a:r>
          </a:p>
        </p:txBody>
      </p:sp>
    </p:spTree>
    <p:extLst>
      <p:ext uri="{BB962C8B-B14F-4D97-AF65-F5344CB8AC3E}">
        <p14:creationId xmlns:p14="http://schemas.microsoft.com/office/powerpoint/2010/main" val="220644032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90549" y="1276350"/>
            <a:ext cx="11058525" cy="520065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a:buNone/>
            </a:pPr>
            <a:r>
              <a:rPr lang="es-MX" b="1" dirty="0"/>
              <a:t>Conceptualización:</a:t>
            </a:r>
          </a:p>
          <a:p>
            <a:pPr marL="0" indent="0" algn="just">
              <a:buNone/>
            </a:pPr>
            <a:r>
              <a:rPr lang="es-MX" dirty="0"/>
              <a:t>En el </a:t>
            </a:r>
            <a:r>
              <a:rPr lang="es-MX" b="1" dirty="0"/>
              <a:t>array bidimensional</a:t>
            </a:r>
            <a:r>
              <a:rPr lang="es-MX" dirty="0"/>
              <a:t> de la </a:t>
            </a:r>
            <a:r>
              <a:rPr lang="es-MX" b="1" dirty="0"/>
              <a:t>Figura 1</a:t>
            </a:r>
            <a:r>
              <a:rPr lang="es-MX" dirty="0"/>
              <a:t>, si las ﬁlas se etiquetan de </a:t>
            </a:r>
            <a:r>
              <a:rPr lang="es-MX" b="1" dirty="0"/>
              <a:t>0 a m </a:t>
            </a:r>
            <a:r>
              <a:rPr lang="es-MX" dirty="0"/>
              <a:t>y las columnas de </a:t>
            </a:r>
            <a:r>
              <a:rPr lang="es-MX" b="1" dirty="0"/>
              <a:t>0 a n</a:t>
            </a:r>
            <a:r>
              <a:rPr lang="es-MX" dirty="0"/>
              <a:t>, el número de elementos que tendrá el array será el resultado del producto </a:t>
            </a:r>
            <a:r>
              <a:rPr lang="es-MX" b="1" dirty="0"/>
              <a:t>(m+1) * (n+1)</a:t>
            </a:r>
            <a:r>
              <a:rPr lang="es-MX" dirty="0"/>
              <a:t>. El sistema de localizar un elemento es por las coordenadas representadas por su número de </a:t>
            </a:r>
            <a:r>
              <a:rPr lang="es-MX" b="1" dirty="0"/>
              <a:t>fila</a:t>
            </a:r>
            <a:r>
              <a:rPr lang="es-MX" dirty="0"/>
              <a:t> y su número de </a:t>
            </a:r>
            <a:r>
              <a:rPr lang="es-MX" b="1" dirty="0"/>
              <a:t>columna</a:t>
            </a:r>
            <a:r>
              <a:rPr lang="es-MX" dirty="0"/>
              <a:t> </a:t>
            </a:r>
            <a:r>
              <a:rPr lang="es-MX" b="1" dirty="0"/>
              <a:t>(a, b)</a:t>
            </a:r>
            <a:r>
              <a:rPr lang="es-MX" dirty="0"/>
              <a:t>. La </a:t>
            </a:r>
            <a:r>
              <a:rPr lang="es-MX" b="1" dirty="0"/>
              <a:t>sintaxis</a:t>
            </a:r>
            <a:r>
              <a:rPr lang="es-MX" dirty="0"/>
              <a:t> para la declaración de un array de dos dimensiones es:</a:t>
            </a:r>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pic>
        <p:nvPicPr>
          <p:cNvPr id="5" name="Imagen 4"/>
          <p:cNvPicPr>
            <a:picLocks noChangeAspect="1"/>
          </p:cNvPicPr>
          <p:nvPr/>
        </p:nvPicPr>
        <p:blipFill>
          <a:blip r:embed="rId2"/>
          <a:stretch>
            <a:fillRect/>
          </a:stretch>
        </p:blipFill>
        <p:spPr>
          <a:xfrm>
            <a:off x="2466974" y="4271962"/>
            <a:ext cx="7200900" cy="666750"/>
          </a:xfrm>
          <a:prstGeom prst="rect">
            <a:avLst/>
          </a:prstGeom>
        </p:spPr>
      </p:pic>
      <p:pic>
        <p:nvPicPr>
          <p:cNvPr id="7" name="Imagen 6"/>
          <p:cNvPicPr>
            <a:picLocks noChangeAspect="1"/>
          </p:cNvPicPr>
          <p:nvPr/>
        </p:nvPicPr>
        <p:blipFill>
          <a:blip r:embed="rId3"/>
          <a:stretch>
            <a:fillRect/>
          </a:stretch>
        </p:blipFill>
        <p:spPr>
          <a:xfrm>
            <a:off x="2466974" y="5379244"/>
            <a:ext cx="7209837" cy="471488"/>
          </a:xfrm>
          <a:prstGeom prst="rect">
            <a:avLst/>
          </a:prstGeom>
        </p:spPr>
      </p:pic>
    </p:spTree>
    <p:extLst>
      <p:ext uri="{BB962C8B-B14F-4D97-AF65-F5344CB8AC3E}">
        <p14:creationId xmlns:p14="http://schemas.microsoft.com/office/powerpoint/2010/main" val="305217659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90549" y="1276350"/>
            <a:ext cx="11058525" cy="520065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a:buNone/>
            </a:pPr>
            <a:r>
              <a:rPr lang="es-MX" b="1" dirty="0"/>
              <a:t>Ejemplo de declaración de matrices:</a:t>
            </a:r>
          </a:p>
          <a:p>
            <a:pPr marL="0" indent="0" algn="just">
              <a:buNone/>
            </a:pPr>
            <a:endParaRPr lang="es-MX" b="1" dirty="0"/>
          </a:p>
          <a:p>
            <a:pPr marL="0" indent="0" algn="just">
              <a:buNone/>
            </a:pPr>
            <a:endParaRPr lang="es-MX" b="1" dirty="0"/>
          </a:p>
          <a:p>
            <a:pPr marL="0" indent="0" algn="just">
              <a:buNone/>
            </a:pPr>
            <a:endParaRPr lang="es-MX" b="1" dirty="0"/>
          </a:p>
          <a:p>
            <a:pPr marL="0" indent="0" algn="just">
              <a:buNone/>
            </a:pPr>
            <a:r>
              <a:rPr lang="es-MX" dirty="0"/>
              <a:t>Estas declaraciones no reservan memoria para los elementos de la matriz, realmente son referencias Para reservar memoria y especificar el número de filas y de columnas se utiliza el operador </a:t>
            </a:r>
            <a:r>
              <a:rPr lang="es-MX" b="1" dirty="0"/>
              <a:t>new</a:t>
            </a:r>
            <a:r>
              <a:rPr lang="es-MX" dirty="0"/>
              <a:t> Así, a partir de las declaraciones anteriores:</a:t>
            </a:r>
          </a:p>
          <a:p>
            <a:pPr marL="0" indent="0" algn="just">
              <a:buNone/>
            </a:pPr>
            <a:endParaRPr lang="es-MX" dirty="0"/>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p>
          <a:p>
            <a:endParaRPr lang="es-CO" dirty="0">
              <a:latin typeface="Times New Roman" panose="02020603050405020304" pitchFamily="18" charset="0"/>
              <a:cs typeface="Times New Roman" panose="02020603050405020304" pitchFamily="18" charset="0"/>
            </a:endParaRPr>
          </a:p>
        </p:txBody>
      </p:sp>
      <p:pic>
        <p:nvPicPr>
          <p:cNvPr id="4" name="Imagen 3"/>
          <p:cNvPicPr>
            <a:picLocks noChangeAspect="1"/>
          </p:cNvPicPr>
          <p:nvPr/>
        </p:nvPicPr>
        <p:blipFill>
          <a:blip r:embed="rId2"/>
          <a:stretch>
            <a:fillRect/>
          </a:stretch>
        </p:blipFill>
        <p:spPr>
          <a:xfrm>
            <a:off x="719137" y="1824038"/>
            <a:ext cx="4386263" cy="1331762"/>
          </a:xfrm>
          <a:prstGeom prst="rect">
            <a:avLst/>
          </a:prstGeom>
        </p:spPr>
      </p:pic>
      <p:pic>
        <p:nvPicPr>
          <p:cNvPr id="8" name="Imagen 7"/>
          <p:cNvPicPr>
            <a:picLocks noChangeAspect="1"/>
          </p:cNvPicPr>
          <p:nvPr/>
        </p:nvPicPr>
        <p:blipFill>
          <a:blip r:embed="rId3"/>
          <a:stretch>
            <a:fillRect/>
          </a:stretch>
        </p:blipFill>
        <p:spPr>
          <a:xfrm>
            <a:off x="761998" y="5062537"/>
            <a:ext cx="10715625" cy="1247775"/>
          </a:xfrm>
          <a:prstGeom prst="rect">
            <a:avLst/>
          </a:prstGeom>
        </p:spPr>
      </p:pic>
    </p:spTree>
    <p:extLst>
      <p:ext uri="{BB962C8B-B14F-4D97-AF65-F5344CB8AC3E}">
        <p14:creationId xmlns:p14="http://schemas.microsoft.com/office/powerpoint/2010/main" val="428808600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90549" y="1276350"/>
            <a:ext cx="11058525" cy="520065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a:buNone/>
            </a:pPr>
            <a:r>
              <a:rPr lang="es-MX" b="1" dirty="0"/>
              <a:t>Operador NEW:</a:t>
            </a:r>
          </a:p>
          <a:p>
            <a:pPr marL="0" indent="0" algn="just">
              <a:buNone/>
            </a:pPr>
            <a:r>
              <a:rPr lang="es-MX" dirty="0"/>
              <a:t>El operador </a:t>
            </a:r>
            <a:r>
              <a:rPr lang="es-MX" b="1" dirty="0"/>
              <a:t>new</a:t>
            </a:r>
            <a:r>
              <a:rPr lang="es-MX" dirty="0"/>
              <a:t> se puede aplicar a la vez que se hace la declaración. La sintaxis para definir una matriz es</a:t>
            </a:r>
            <a:r>
              <a:rPr lang="es-MX" b="1" dirty="0"/>
              <a:t>:</a:t>
            </a:r>
          </a:p>
          <a:p>
            <a:pPr marL="0" indent="0" algn="just">
              <a:buNone/>
            </a:pPr>
            <a:endParaRPr lang="es-MX" b="1" dirty="0"/>
          </a:p>
          <a:p>
            <a:pPr marL="0" indent="0" algn="just">
              <a:buNone/>
            </a:pPr>
            <a:endParaRPr lang="es-MX" b="1" dirty="0"/>
          </a:p>
          <a:p>
            <a:pPr marL="0" indent="0" algn="just">
              <a:buNone/>
            </a:pPr>
            <a:endParaRPr lang="es-MX" dirty="0"/>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p>
          <a:p>
            <a:endParaRPr lang="es-CO" dirty="0">
              <a:latin typeface="Times New Roman" panose="02020603050405020304" pitchFamily="18" charset="0"/>
              <a:cs typeface="Times New Roman" panose="02020603050405020304" pitchFamily="18" charset="0"/>
            </a:endParaRPr>
          </a:p>
        </p:txBody>
      </p:sp>
      <p:pic>
        <p:nvPicPr>
          <p:cNvPr id="5" name="Imagen 4"/>
          <p:cNvPicPr>
            <a:picLocks noChangeAspect="1"/>
          </p:cNvPicPr>
          <p:nvPr/>
        </p:nvPicPr>
        <p:blipFill>
          <a:blip r:embed="rId2"/>
          <a:stretch>
            <a:fillRect/>
          </a:stretch>
        </p:blipFill>
        <p:spPr>
          <a:xfrm>
            <a:off x="1071560" y="2860783"/>
            <a:ext cx="10096501" cy="2458135"/>
          </a:xfrm>
          <a:prstGeom prst="rect">
            <a:avLst/>
          </a:prstGeom>
        </p:spPr>
      </p:pic>
    </p:spTree>
    <p:extLst>
      <p:ext uri="{BB962C8B-B14F-4D97-AF65-F5344CB8AC3E}">
        <p14:creationId xmlns:p14="http://schemas.microsoft.com/office/powerpoint/2010/main" val="291289026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90549" y="1276350"/>
            <a:ext cx="11058525" cy="520065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a:buNone/>
            </a:pPr>
            <a:r>
              <a:rPr lang="es-MX" dirty="0"/>
              <a:t>Un array de </a:t>
            </a:r>
            <a:r>
              <a:rPr lang="es-MX" b="1" dirty="0"/>
              <a:t>dos dimensiones </a:t>
            </a:r>
            <a:r>
              <a:rPr lang="es-MX" dirty="0"/>
              <a:t>es en realidad un </a:t>
            </a:r>
            <a:r>
              <a:rPr lang="es-MX" b="1" dirty="0"/>
              <a:t>array de arrays</a:t>
            </a:r>
            <a:r>
              <a:rPr lang="es-MX" dirty="0"/>
              <a:t>, es decir, un </a:t>
            </a:r>
            <a:r>
              <a:rPr lang="es-MX" b="1" dirty="0"/>
              <a:t>array</a:t>
            </a:r>
            <a:r>
              <a:rPr lang="es-MX" dirty="0"/>
              <a:t> </a:t>
            </a:r>
            <a:r>
              <a:rPr lang="es-MX" b="1" dirty="0"/>
              <a:t>unidimensional</a:t>
            </a:r>
            <a:r>
              <a:rPr lang="es-MX" dirty="0"/>
              <a:t>, y cada elemento no es un valor entero, de coma flotante o carácter, sino que cada elemento es otro array, Los elementos de los arrays se almacenan en la memoria de modo que el subíndice más próximo al nombre del array es la fila y el otro subíndice, la columna.</a:t>
            </a:r>
          </a:p>
          <a:p>
            <a:pPr marL="0" indent="0" algn="just">
              <a:buNone/>
            </a:pPr>
            <a:r>
              <a:rPr lang="es-MX" b="1" dirty="0"/>
              <a:t>La Tabla 1.</a:t>
            </a:r>
            <a:r>
              <a:rPr lang="es-MX" dirty="0"/>
              <a:t> presenta todos los elementos y sus posiciones relativas en la memoria del array, </a:t>
            </a:r>
            <a:r>
              <a:rPr lang="es-MX" b="1" dirty="0"/>
              <a:t>int [] []tabla = new int[4] [2].</a:t>
            </a:r>
          </a:p>
          <a:p>
            <a:pPr marL="0" indent="0" algn="ctr">
              <a:buNone/>
            </a:pPr>
            <a:r>
              <a:rPr lang="es-MX" sz="2400" b="1" dirty="0"/>
              <a:t>Tabla 1. </a:t>
            </a:r>
            <a:r>
              <a:rPr lang="es-MX" sz="2400" dirty="0"/>
              <a:t>Array Bidimension</a:t>
            </a:r>
            <a:r>
              <a:rPr lang="es-MX" dirty="0"/>
              <a:t>al</a:t>
            </a:r>
          </a:p>
          <a:p>
            <a:pPr marL="0" indent="0" algn="just">
              <a:buNone/>
            </a:pPr>
            <a:endParaRPr lang="es-MX" b="1" dirty="0"/>
          </a:p>
          <a:p>
            <a:pPr marL="0" indent="0" algn="just">
              <a:buNone/>
            </a:pPr>
            <a:endParaRPr lang="es-MX" dirty="0"/>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p>
          <a:p>
            <a:endParaRPr lang="es-CO" dirty="0">
              <a:latin typeface="Times New Roman" panose="02020603050405020304" pitchFamily="18" charset="0"/>
              <a:cs typeface="Times New Roman" panose="02020603050405020304" pitchFamily="18" charset="0"/>
            </a:endParaRPr>
          </a:p>
        </p:txBody>
      </p:sp>
      <p:pic>
        <p:nvPicPr>
          <p:cNvPr id="2" name="Imagen 1"/>
          <p:cNvPicPr>
            <a:picLocks noChangeAspect="1"/>
          </p:cNvPicPr>
          <p:nvPr/>
        </p:nvPicPr>
        <p:blipFill>
          <a:blip r:embed="rId2"/>
          <a:stretch>
            <a:fillRect/>
          </a:stretch>
        </p:blipFill>
        <p:spPr>
          <a:xfrm>
            <a:off x="2257425" y="4678241"/>
            <a:ext cx="7505697" cy="1732084"/>
          </a:xfrm>
          <a:prstGeom prst="rect">
            <a:avLst/>
          </a:prstGeom>
        </p:spPr>
      </p:pic>
    </p:spTree>
    <p:extLst>
      <p:ext uri="{BB962C8B-B14F-4D97-AF65-F5344CB8AC3E}">
        <p14:creationId xmlns:p14="http://schemas.microsoft.com/office/powerpoint/2010/main" val="5043793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90549" y="1276350"/>
            <a:ext cx="11058525" cy="520065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a:buNone/>
            </a:pPr>
            <a:r>
              <a:rPr lang="es-MX" sz="2400" b="1" dirty="0"/>
              <a:t>Tabla 1. </a:t>
            </a:r>
            <a:r>
              <a:rPr lang="es-MX" sz="2400" dirty="0"/>
              <a:t>Array Bidimension</a:t>
            </a:r>
            <a:r>
              <a:rPr lang="es-MX" dirty="0"/>
              <a:t>al</a:t>
            </a:r>
          </a:p>
          <a:p>
            <a:pPr marL="0" indent="0" algn="ctr">
              <a:buNone/>
            </a:pPr>
            <a:endParaRPr lang="es-MX" dirty="0"/>
          </a:p>
          <a:p>
            <a:pPr marL="0" indent="0" algn="just">
              <a:buNone/>
            </a:pPr>
            <a:endParaRPr lang="es-MX" b="1" dirty="0"/>
          </a:p>
          <a:p>
            <a:pPr marL="0" indent="0" algn="just">
              <a:buNone/>
            </a:pPr>
            <a:endParaRPr lang="es-MX" dirty="0"/>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p>
          <a:p>
            <a:endParaRPr lang="es-CO" dirty="0">
              <a:latin typeface="Times New Roman" panose="02020603050405020304" pitchFamily="18" charset="0"/>
              <a:cs typeface="Times New Roman" panose="02020603050405020304" pitchFamily="18" charset="0"/>
            </a:endParaRPr>
          </a:p>
        </p:txBody>
      </p:sp>
      <p:pic>
        <p:nvPicPr>
          <p:cNvPr id="4" name="Imagen 3"/>
          <p:cNvPicPr>
            <a:picLocks noChangeAspect="1"/>
          </p:cNvPicPr>
          <p:nvPr/>
        </p:nvPicPr>
        <p:blipFill>
          <a:blip r:embed="rId2"/>
          <a:stretch>
            <a:fillRect/>
          </a:stretch>
        </p:blipFill>
        <p:spPr>
          <a:xfrm>
            <a:off x="1162048" y="1819275"/>
            <a:ext cx="9915525" cy="4114800"/>
          </a:xfrm>
          <a:prstGeom prst="rect">
            <a:avLst/>
          </a:prstGeom>
        </p:spPr>
      </p:pic>
    </p:spTree>
    <p:extLst>
      <p:ext uri="{BB962C8B-B14F-4D97-AF65-F5344CB8AC3E}">
        <p14:creationId xmlns:p14="http://schemas.microsoft.com/office/powerpoint/2010/main" val="194973213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19569" y="1306510"/>
            <a:ext cx="10834256" cy="4972049"/>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s-MX" b="1" dirty="0"/>
              <a:t>Inicialización:</a:t>
            </a:r>
          </a:p>
          <a:p>
            <a:pPr algn="just"/>
            <a:r>
              <a:rPr lang="es-MX" dirty="0"/>
              <a:t>La inicialización se hace encerrando entre llaves la lista de constantes, separadas por comas, que forma cada fila, como en los ejemplos siguientes:</a:t>
            </a:r>
          </a:p>
          <a:p>
            <a:pPr algn="just"/>
            <a:endParaRPr lang="es-MX" dirty="0"/>
          </a:p>
          <a:p>
            <a:pPr algn="just"/>
            <a:endParaRPr lang="es-CO" b="1" dirty="0">
              <a:latin typeface="Times New Roman" panose="02020603050405020304" pitchFamily="18" charset="0"/>
              <a:cs typeface="Times New Roman" panose="02020603050405020304" pitchFamily="18" charset="0"/>
            </a:endParaRPr>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pic>
        <p:nvPicPr>
          <p:cNvPr id="2" name="Imagen 1"/>
          <p:cNvPicPr>
            <a:picLocks noChangeAspect="1"/>
          </p:cNvPicPr>
          <p:nvPr/>
        </p:nvPicPr>
        <p:blipFill>
          <a:blip r:embed="rId2"/>
          <a:stretch>
            <a:fillRect/>
          </a:stretch>
        </p:blipFill>
        <p:spPr>
          <a:xfrm>
            <a:off x="2893001" y="2762250"/>
            <a:ext cx="7244195" cy="3430584"/>
          </a:xfrm>
          <a:prstGeom prst="rect">
            <a:avLst/>
          </a:prstGeom>
        </p:spPr>
      </p:pic>
    </p:spTree>
    <p:extLst>
      <p:ext uri="{BB962C8B-B14F-4D97-AF65-F5344CB8AC3E}">
        <p14:creationId xmlns:p14="http://schemas.microsoft.com/office/powerpoint/2010/main" val="132152168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19569" y="1306510"/>
            <a:ext cx="10834256" cy="4972049"/>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s-MX" b="1" dirty="0"/>
              <a:t>Inicialización (Representación de datos en memoria):</a:t>
            </a:r>
          </a:p>
          <a:p>
            <a:pPr algn="just"/>
            <a:endParaRPr lang="es-MX" dirty="0"/>
          </a:p>
          <a:p>
            <a:pPr algn="just"/>
            <a:endParaRPr lang="es-CO" b="1" dirty="0">
              <a:latin typeface="Times New Roman" panose="02020603050405020304" pitchFamily="18" charset="0"/>
              <a:cs typeface="Times New Roman" panose="02020603050405020304" pitchFamily="18" charset="0"/>
            </a:endParaRPr>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pic>
        <p:nvPicPr>
          <p:cNvPr id="4" name="Imagen 3"/>
          <p:cNvPicPr>
            <a:picLocks noChangeAspect="1"/>
          </p:cNvPicPr>
          <p:nvPr/>
        </p:nvPicPr>
        <p:blipFill>
          <a:blip r:embed="rId2"/>
          <a:stretch>
            <a:fillRect/>
          </a:stretch>
        </p:blipFill>
        <p:spPr>
          <a:xfrm>
            <a:off x="1947864" y="1762431"/>
            <a:ext cx="7929562" cy="4457234"/>
          </a:xfrm>
          <a:prstGeom prst="rect">
            <a:avLst/>
          </a:prstGeom>
        </p:spPr>
      </p:pic>
    </p:spTree>
    <p:extLst>
      <p:ext uri="{BB962C8B-B14F-4D97-AF65-F5344CB8AC3E}">
        <p14:creationId xmlns:p14="http://schemas.microsoft.com/office/powerpoint/2010/main" val="236718201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19569" y="1306510"/>
            <a:ext cx="10834256" cy="497204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a:buNone/>
            </a:pPr>
            <a:r>
              <a:rPr lang="es-419" b="1" i="1" dirty="0"/>
              <a:t>Acceso:</a:t>
            </a:r>
            <a:endParaRPr lang="es-MX" dirty="0"/>
          </a:p>
          <a:p>
            <a:pPr marL="0" indent="0" algn="just">
              <a:buNone/>
            </a:pPr>
            <a:r>
              <a:rPr lang="es-MX" dirty="0">
                <a:latin typeface="Times New Roman" panose="02020603050405020304" pitchFamily="18" charset="0"/>
                <a:cs typeface="Times New Roman" panose="02020603050405020304" pitchFamily="18" charset="0"/>
              </a:rPr>
              <a:t>El acceso a los elementos de arrays bidimensionales sigue el mismo formato que el acceso a los elementos de un array unidimensional, En este caso, con las matrices deben </a:t>
            </a:r>
            <a:r>
              <a:rPr lang="es-MX" b="1" dirty="0">
                <a:latin typeface="Times New Roman" panose="02020603050405020304" pitchFamily="18" charset="0"/>
                <a:cs typeface="Times New Roman" panose="02020603050405020304" pitchFamily="18" charset="0"/>
              </a:rPr>
              <a:t>especificarse</a:t>
            </a:r>
            <a:r>
              <a:rPr lang="es-MX" dirty="0">
                <a:latin typeface="Times New Roman" panose="02020603050405020304" pitchFamily="18" charset="0"/>
                <a:cs typeface="Times New Roman" panose="02020603050405020304" pitchFamily="18" charset="0"/>
              </a:rPr>
              <a:t> los </a:t>
            </a:r>
            <a:r>
              <a:rPr lang="es-MX" b="1" dirty="0">
                <a:latin typeface="Times New Roman" panose="02020603050405020304" pitchFamily="18" charset="0"/>
                <a:cs typeface="Times New Roman" panose="02020603050405020304" pitchFamily="18" charset="0"/>
              </a:rPr>
              <a:t>índices</a:t>
            </a:r>
            <a:r>
              <a:rPr lang="es-MX" dirty="0">
                <a:latin typeface="Times New Roman" panose="02020603050405020304" pitchFamily="18" charset="0"/>
                <a:cs typeface="Times New Roman" panose="02020603050405020304" pitchFamily="18" charset="0"/>
              </a:rPr>
              <a:t> de la </a:t>
            </a:r>
            <a:r>
              <a:rPr lang="es-MX" b="1" dirty="0">
                <a:latin typeface="Times New Roman" panose="02020603050405020304" pitchFamily="18" charset="0"/>
                <a:cs typeface="Times New Roman" panose="02020603050405020304" pitchFamily="18" charset="0"/>
              </a:rPr>
              <a:t>fila</a:t>
            </a:r>
            <a:r>
              <a:rPr lang="es-MX" dirty="0">
                <a:latin typeface="Times New Roman" panose="02020603050405020304" pitchFamily="18" charset="0"/>
                <a:cs typeface="Times New Roman" panose="02020603050405020304" pitchFamily="18" charset="0"/>
              </a:rPr>
              <a:t> y la </a:t>
            </a:r>
            <a:r>
              <a:rPr lang="es-MX" b="1" dirty="0">
                <a:latin typeface="Times New Roman" panose="02020603050405020304" pitchFamily="18" charset="0"/>
                <a:cs typeface="Times New Roman" panose="02020603050405020304" pitchFamily="18" charset="0"/>
              </a:rPr>
              <a:t>columna</a:t>
            </a:r>
            <a:r>
              <a:rPr lang="es-MX" dirty="0">
                <a:latin typeface="Times New Roman" panose="02020603050405020304" pitchFamily="18" charset="0"/>
                <a:cs typeface="Times New Roman" panose="02020603050405020304" pitchFamily="18" charset="0"/>
              </a:rPr>
              <a:t>.</a:t>
            </a:r>
          </a:p>
          <a:p>
            <a:pPr marL="0" indent="0" algn="just">
              <a:buNone/>
            </a:pPr>
            <a:r>
              <a:rPr lang="es-MX" dirty="0">
                <a:latin typeface="Times New Roman" panose="02020603050405020304" pitchFamily="18" charset="0"/>
                <a:cs typeface="Times New Roman" panose="02020603050405020304" pitchFamily="18" charset="0"/>
              </a:rPr>
              <a:t>Formato general para la asignación directa de valores a los elementos es:</a:t>
            </a:r>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pic>
        <p:nvPicPr>
          <p:cNvPr id="4" name="Imagen 3"/>
          <p:cNvPicPr>
            <a:picLocks noChangeAspect="1"/>
          </p:cNvPicPr>
          <p:nvPr/>
        </p:nvPicPr>
        <p:blipFill>
          <a:blip r:embed="rId2"/>
          <a:stretch>
            <a:fillRect/>
          </a:stretch>
        </p:blipFill>
        <p:spPr>
          <a:xfrm>
            <a:off x="1126547" y="4129087"/>
            <a:ext cx="10020300" cy="1628775"/>
          </a:xfrm>
          <a:prstGeom prst="rect">
            <a:avLst/>
          </a:prstGeom>
        </p:spPr>
      </p:pic>
    </p:spTree>
    <p:extLst>
      <p:ext uri="{BB962C8B-B14F-4D97-AF65-F5344CB8AC3E}">
        <p14:creationId xmlns:p14="http://schemas.microsoft.com/office/powerpoint/2010/main" val="367025886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19569" y="1306510"/>
            <a:ext cx="10834256" cy="497204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a:buNone/>
            </a:pPr>
            <a:r>
              <a:rPr lang="es-419" b="1" i="1" dirty="0"/>
              <a:t>Acceso:</a:t>
            </a:r>
            <a:endParaRPr lang="es-MX" dirty="0"/>
          </a:p>
          <a:p>
            <a:pPr marL="0" indent="0" algn="just">
              <a:buNone/>
            </a:pPr>
            <a:r>
              <a:rPr lang="es-MX" dirty="0">
                <a:latin typeface="Times New Roman" panose="02020603050405020304" pitchFamily="18" charset="0"/>
                <a:cs typeface="Times New Roman" panose="02020603050405020304" pitchFamily="18" charset="0"/>
              </a:rPr>
              <a:t>Con dos bucles anidados se accede a todos los elementos de una matriz, Su sintaxis es:</a:t>
            </a:r>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pic>
        <p:nvPicPr>
          <p:cNvPr id="5" name="Imagen 4"/>
          <p:cNvPicPr>
            <a:picLocks noChangeAspect="1"/>
          </p:cNvPicPr>
          <p:nvPr/>
        </p:nvPicPr>
        <p:blipFill>
          <a:blip r:embed="rId2"/>
          <a:stretch>
            <a:fillRect/>
          </a:stretch>
        </p:blipFill>
        <p:spPr>
          <a:xfrm>
            <a:off x="2505075" y="2824162"/>
            <a:ext cx="6762750" cy="1419225"/>
          </a:xfrm>
          <a:prstGeom prst="rect">
            <a:avLst/>
          </a:prstGeom>
        </p:spPr>
      </p:pic>
    </p:spTree>
    <p:extLst>
      <p:ext uri="{BB962C8B-B14F-4D97-AF65-F5344CB8AC3E}">
        <p14:creationId xmlns:p14="http://schemas.microsoft.com/office/powerpoint/2010/main" val="211153224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19569" y="1306510"/>
            <a:ext cx="10834256" cy="497204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a:buNone/>
            </a:pPr>
            <a:r>
              <a:rPr lang="es-419" b="1" i="1" dirty="0"/>
              <a:t>Acceso:</a:t>
            </a:r>
            <a:endParaRPr lang="es-MX" dirty="0"/>
          </a:p>
          <a:p>
            <a:pPr marL="0" indent="0" algn="just">
              <a:buNone/>
            </a:pPr>
            <a:r>
              <a:rPr lang="es-MX" dirty="0">
                <a:latin typeface="Times New Roman" panose="02020603050405020304" pitchFamily="18" charset="0"/>
                <a:cs typeface="Times New Roman" panose="02020603050405020304" pitchFamily="18" charset="0"/>
              </a:rPr>
              <a:t>El número de filas y de columnas se puede obtener con el atributo </a:t>
            </a:r>
            <a:r>
              <a:rPr lang="es-MX" b="1" dirty="0">
                <a:latin typeface="Times New Roman" panose="02020603050405020304" pitchFamily="18" charset="0"/>
                <a:cs typeface="Times New Roman" panose="02020603050405020304" pitchFamily="18" charset="0"/>
              </a:rPr>
              <a:t>lengtht</a:t>
            </a:r>
            <a:r>
              <a:rPr lang="es-MX" dirty="0">
                <a:latin typeface="Times New Roman" panose="02020603050405020304" pitchFamily="18" charset="0"/>
                <a:cs typeface="Times New Roman" panose="02020603050405020304" pitchFamily="18" charset="0"/>
              </a:rPr>
              <a:t> Con este atributo, la sintaxis para acceder a los elementos es:</a:t>
            </a:r>
          </a:p>
          <a:p>
            <a:pPr marL="0" indent="0" algn="just">
              <a:buNone/>
            </a:pPr>
            <a:endParaRPr lang="es-MX" dirty="0">
              <a:latin typeface="Times New Roman" panose="02020603050405020304" pitchFamily="18" charset="0"/>
              <a:cs typeface="Times New Roman" panose="02020603050405020304" pitchFamily="18" charset="0"/>
            </a:endParaRPr>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pic>
        <p:nvPicPr>
          <p:cNvPr id="2" name="Imagen 1"/>
          <p:cNvPicPr>
            <a:picLocks noChangeAspect="1"/>
          </p:cNvPicPr>
          <p:nvPr/>
        </p:nvPicPr>
        <p:blipFill>
          <a:blip r:embed="rId2"/>
          <a:stretch>
            <a:fillRect/>
          </a:stretch>
        </p:blipFill>
        <p:spPr>
          <a:xfrm>
            <a:off x="1817109" y="2824162"/>
            <a:ext cx="8639175" cy="1685925"/>
          </a:xfrm>
          <a:prstGeom prst="rect">
            <a:avLst/>
          </a:prstGeom>
        </p:spPr>
      </p:pic>
    </p:spTree>
    <p:extLst>
      <p:ext uri="{BB962C8B-B14F-4D97-AF65-F5344CB8AC3E}">
        <p14:creationId xmlns:p14="http://schemas.microsoft.com/office/powerpoint/2010/main" val="62300590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23875" y="1173160"/>
            <a:ext cx="11163300" cy="5303840"/>
          </a:xfrm>
        </p:spPr>
        <p:style>
          <a:lnRef idx="1">
            <a:schemeClr val="accent3"/>
          </a:lnRef>
          <a:fillRef idx="2">
            <a:schemeClr val="accent3"/>
          </a:fillRef>
          <a:effectRef idx="1">
            <a:schemeClr val="accent3"/>
          </a:effectRef>
          <a:fontRef idx="minor">
            <a:schemeClr val="dk1"/>
          </a:fontRef>
        </p:style>
        <p:txBody>
          <a:bodyPr>
            <a:noAutofit/>
          </a:bodyPr>
          <a:lstStyle/>
          <a:p>
            <a:pPr algn="just"/>
            <a:r>
              <a:rPr lang="es-MX" b="1" dirty="0"/>
              <a:t>Ejercicio: </a:t>
            </a:r>
            <a:r>
              <a:rPr lang="es-MX" dirty="0"/>
              <a:t>Codificar un programa para dar entrada y posterior visualización de un array de dos dimensiones. El método </a:t>
            </a:r>
            <a:r>
              <a:rPr lang="es-MX" b="1" dirty="0"/>
              <a:t>leer()</a:t>
            </a:r>
            <a:r>
              <a:rPr lang="es-MX" dirty="0"/>
              <a:t> da entrada a los elementos de la matriz que se pasan como argumento, y el método </a:t>
            </a:r>
            <a:r>
              <a:rPr lang="es-MX" b="1" dirty="0"/>
              <a:t>visualizar()</a:t>
            </a:r>
            <a:r>
              <a:rPr lang="es-MX" dirty="0"/>
              <a:t> muestra la tabla en la pantalla.</a:t>
            </a:r>
          </a:p>
          <a:p>
            <a:pPr algn="just"/>
            <a:endParaRPr lang="es-MX" dirty="0"/>
          </a:p>
          <a:p>
            <a:pPr algn="just"/>
            <a:endParaRPr lang="es-CO" b="1" dirty="0">
              <a:latin typeface="Times New Roman" panose="02020603050405020304" pitchFamily="18" charset="0"/>
              <a:cs typeface="Times New Roman" panose="02020603050405020304" pitchFamily="18" charset="0"/>
            </a:endParaRPr>
          </a:p>
        </p:txBody>
      </p:sp>
      <p:sp>
        <p:nvSpPr>
          <p:cNvPr id="6" name="Título 1"/>
          <p:cNvSpPr txBox="1">
            <a:spLocks/>
          </p:cNvSpPr>
          <p:nvPr/>
        </p:nvSpPr>
        <p:spPr>
          <a:xfrm>
            <a:off x="1376361" y="287335"/>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endParaRPr lang="es-CO" dirty="0">
              <a:latin typeface="Times New Roman" panose="02020603050405020304" pitchFamily="18" charset="0"/>
              <a:cs typeface="Times New Roman" panose="02020603050405020304" pitchFamily="18" charset="0"/>
            </a:endParaRPr>
          </a:p>
        </p:txBody>
      </p:sp>
      <p:pic>
        <p:nvPicPr>
          <p:cNvPr id="2" name="Imagen 1"/>
          <p:cNvPicPr>
            <a:picLocks noChangeAspect="1"/>
          </p:cNvPicPr>
          <p:nvPr/>
        </p:nvPicPr>
        <p:blipFill>
          <a:blip r:embed="rId2"/>
          <a:stretch>
            <a:fillRect/>
          </a:stretch>
        </p:blipFill>
        <p:spPr>
          <a:xfrm>
            <a:off x="1595437" y="3014662"/>
            <a:ext cx="9020175" cy="2847975"/>
          </a:xfrm>
          <a:prstGeom prst="rect">
            <a:avLst/>
          </a:prstGeom>
        </p:spPr>
      </p:pic>
    </p:spTree>
    <p:extLst>
      <p:ext uri="{BB962C8B-B14F-4D97-AF65-F5344CB8AC3E}">
        <p14:creationId xmlns:p14="http://schemas.microsoft.com/office/powerpoint/2010/main" val="418931584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23875" y="1173160"/>
            <a:ext cx="11163300" cy="5303840"/>
          </a:xfrm>
        </p:spPr>
        <p:style>
          <a:lnRef idx="1">
            <a:schemeClr val="accent3"/>
          </a:lnRef>
          <a:fillRef idx="2">
            <a:schemeClr val="accent3"/>
          </a:fillRef>
          <a:effectRef idx="1">
            <a:schemeClr val="accent3"/>
          </a:effectRef>
          <a:fontRef idx="minor">
            <a:schemeClr val="dk1"/>
          </a:fontRef>
        </p:style>
        <p:txBody>
          <a:bodyPr>
            <a:noAutofit/>
          </a:bodyPr>
          <a:lstStyle/>
          <a:p>
            <a:pPr algn="just"/>
            <a:endParaRPr lang="es-MX" dirty="0"/>
          </a:p>
          <a:p>
            <a:pPr algn="just"/>
            <a:endParaRPr lang="es-CO" b="1" dirty="0">
              <a:latin typeface="Times New Roman" panose="02020603050405020304" pitchFamily="18" charset="0"/>
              <a:cs typeface="Times New Roman" panose="02020603050405020304" pitchFamily="18" charset="0"/>
            </a:endParaRPr>
          </a:p>
        </p:txBody>
      </p:sp>
      <p:sp>
        <p:nvSpPr>
          <p:cNvPr id="6" name="Título 1"/>
          <p:cNvSpPr txBox="1">
            <a:spLocks/>
          </p:cNvSpPr>
          <p:nvPr/>
        </p:nvSpPr>
        <p:spPr>
          <a:xfrm>
            <a:off x="1376361" y="287335"/>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endParaRPr lang="es-CO" dirty="0">
              <a:latin typeface="Times New Roman" panose="02020603050405020304" pitchFamily="18" charset="0"/>
              <a:cs typeface="Times New Roman" panose="02020603050405020304" pitchFamily="18" charset="0"/>
            </a:endParaRPr>
          </a:p>
        </p:txBody>
      </p:sp>
      <p:pic>
        <p:nvPicPr>
          <p:cNvPr id="4" name="Imagen 3"/>
          <p:cNvPicPr>
            <a:picLocks noChangeAspect="1"/>
          </p:cNvPicPr>
          <p:nvPr/>
        </p:nvPicPr>
        <p:blipFill>
          <a:blip r:embed="rId2"/>
          <a:stretch>
            <a:fillRect/>
          </a:stretch>
        </p:blipFill>
        <p:spPr>
          <a:xfrm>
            <a:off x="1562100" y="1772442"/>
            <a:ext cx="9525000" cy="4105275"/>
          </a:xfrm>
          <a:prstGeom prst="rect">
            <a:avLst/>
          </a:prstGeom>
        </p:spPr>
      </p:pic>
    </p:spTree>
    <p:extLst>
      <p:ext uri="{BB962C8B-B14F-4D97-AF65-F5344CB8AC3E}">
        <p14:creationId xmlns:p14="http://schemas.microsoft.com/office/powerpoint/2010/main" val="292055308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23875" y="1173160"/>
            <a:ext cx="11163300" cy="5303840"/>
          </a:xfrm>
        </p:spPr>
        <p:style>
          <a:lnRef idx="1">
            <a:schemeClr val="accent3"/>
          </a:lnRef>
          <a:fillRef idx="2">
            <a:schemeClr val="accent3"/>
          </a:fillRef>
          <a:effectRef idx="1">
            <a:schemeClr val="accent3"/>
          </a:effectRef>
          <a:fontRef idx="minor">
            <a:schemeClr val="dk1"/>
          </a:fontRef>
        </p:style>
        <p:txBody>
          <a:bodyPr>
            <a:noAutofit/>
          </a:bodyPr>
          <a:lstStyle/>
          <a:p>
            <a:pPr algn="just"/>
            <a:endParaRPr lang="es-MX" dirty="0"/>
          </a:p>
          <a:p>
            <a:pPr algn="just"/>
            <a:endParaRPr lang="es-CO" b="1" dirty="0">
              <a:latin typeface="Times New Roman" panose="02020603050405020304" pitchFamily="18" charset="0"/>
              <a:cs typeface="Times New Roman" panose="02020603050405020304" pitchFamily="18" charset="0"/>
            </a:endParaRPr>
          </a:p>
        </p:txBody>
      </p:sp>
      <p:sp>
        <p:nvSpPr>
          <p:cNvPr id="6" name="Título 1"/>
          <p:cNvSpPr txBox="1">
            <a:spLocks/>
          </p:cNvSpPr>
          <p:nvPr/>
        </p:nvSpPr>
        <p:spPr>
          <a:xfrm>
            <a:off x="1376361" y="287335"/>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endParaRPr lang="es-CO" dirty="0">
              <a:latin typeface="Times New Roman" panose="02020603050405020304" pitchFamily="18" charset="0"/>
              <a:cs typeface="Times New Roman" panose="02020603050405020304" pitchFamily="18" charset="0"/>
            </a:endParaRPr>
          </a:p>
        </p:txBody>
      </p:sp>
      <p:pic>
        <p:nvPicPr>
          <p:cNvPr id="2" name="Imagen 1"/>
          <p:cNvPicPr>
            <a:picLocks noChangeAspect="1"/>
          </p:cNvPicPr>
          <p:nvPr/>
        </p:nvPicPr>
        <p:blipFill>
          <a:blip r:embed="rId2"/>
          <a:stretch>
            <a:fillRect/>
          </a:stretch>
        </p:blipFill>
        <p:spPr>
          <a:xfrm>
            <a:off x="1376361" y="1657350"/>
            <a:ext cx="9224350" cy="4343400"/>
          </a:xfrm>
          <a:prstGeom prst="rect">
            <a:avLst/>
          </a:prstGeom>
        </p:spPr>
      </p:pic>
    </p:spTree>
    <p:extLst>
      <p:ext uri="{BB962C8B-B14F-4D97-AF65-F5344CB8AC3E}">
        <p14:creationId xmlns:p14="http://schemas.microsoft.com/office/powerpoint/2010/main" val="119843082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23875" y="1173160"/>
            <a:ext cx="11163300" cy="5303840"/>
          </a:xfrm>
        </p:spPr>
        <p:style>
          <a:lnRef idx="1">
            <a:schemeClr val="accent3"/>
          </a:lnRef>
          <a:fillRef idx="2">
            <a:schemeClr val="accent3"/>
          </a:fillRef>
          <a:effectRef idx="1">
            <a:schemeClr val="accent3"/>
          </a:effectRef>
          <a:fontRef idx="minor">
            <a:schemeClr val="dk1"/>
          </a:fontRef>
        </p:style>
        <p:txBody>
          <a:bodyPr>
            <a:noAutofit/>
          </a:bodyPr>
          <a:lstStyle/>
          <a:p>
            <a:pPr algn="just"/>
            <a:r>
              <a:rPr lang="es-MX" b="1" dirty="0"/>
              <a:t>Ejercicios propuestos:</a:t>
            </a:r>
          </a:p>
          <a:p>
            <a:pPr marL="514350" indent="-514350" algn="just">
              <a:buAutoNum type="arabicPeriod"/>
            </a:pPr>
            <a:r>
              <a:rPr lang="es-MX" b="1" dirty="0"/>
              <a:t>Escribir un programa que lea el array:</a:t>
            </a:r>
          </a:p>
          <a:p>
            <a:pPr marL="514350" indent="-514350" algn="just">
              <a:buAutoNum type="arabicPeriod"/>
            </a:pPr>
            <a:endParaRPr lang="es-MX" b="1" dirty="0"/>
          </a:p>
          <a:p>
            <a:pPr marL="514350" indent="-514350" algn="just">
              <a:buAutoNum type="arabicPeriod"/>
            </a:pPr>
            <a:endParaRPr lang="es-MX" b="1" dirty="0"/>
          </a:p>
          <a:p>
            <a:pPr marL="514350" indent="-514350" algn="just">
              <a:buAutoNum type="arabicPeriod"/>
            </a:pPr>
            <a:endParaRPr lang="es-MX" b="1" dirty="0"/>
          </a:p>
          <a:p>
            <a:pPr marL="0" indent="0" algn="just">
              <a:buNone/>
            </a:pPr>
            <a:r>
              <a:rPr lang="es-MX" b="1" dirty="0"/>
              <a:t>Y lo escriba como: </a:t>
            </a:r>
          </a:p>
          <a:p>
            <a:pPr marL="0" indent="0" algn="just">
              <a:buNone/>
            </a:pPr>
            <a:endParaRPr lang="es-MX" b="1" dirty="0"/>
          </a:p>
          <a:p>
            <a:pPr marL="0" indent="0" algn="just">
              <a:buNone/>
            </a:pPr>
            <a:r>
              <a:rPr lang="es-MX" b="1" dirty="0"/>
              <a:t>	</a:t>
            </a:r>
            <a:endParaRPr lang="es-MX" dirty="0"/>
          </a:p>
          <a:p>
            <a:pPr algn="just"/>
            <a:endParaRPr lang="es-MX" dirty="0"/>
          </a:p>
          <a:p>
            <a:pPr algn="just"/>
            <a:endParaRPr lang="es-CO" b="1" dirty="0">
              <a:latin typeface="Times New Roman" panose="02020603050405020304" pitchFamily="18" charset="0"/>
              <a:cs typeface="Times New Roman" panose="02020603050405020304" pitchFamily="18" charset="0"/>
            </a:endParaRPr>
          </a:p>
        </p:txBody>
      </p:sp>
      <p:sp>
        <p:nvSpPr>
          <p:cNvPr id="6" name="Título 1"/>
          <p:cNvSpPr txBox="1">
            <a:spLocks/>
          </p:cNvSpPr>
          <p:nvPr/>
        </p:nvSpPr>
        <p:spPr>
          <a:xfrm>
            <a:off x="1376361" y="287335"/>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endParaRPr lang="es-CO" dirty="0">
              <a:latin typeface="Times New Roman" panose="02020603050405020304" pitchFamily="18" charset="0"/>
              <a:cs typeface="Times New Roman" panose="02020603050405020304" pitchFamily="18" charset="0"/>
            </a:endParaRPr>
          </a:p>
        </p:txBody>
      </p:sp>
      <p:pic>
        <p:nvPicPr>
          <p:cNvPr id="4" name="Imagen 3"/>
          <p:cNvPicPr>
            <a:picLocks noChangeAspect="1"/>
          </p:cNvPicPr>
          <p:nvPr/>
        </p:nvPicPr>
        <p:blipFill>
          <a:blip r:embed="rId2"/>
          <a:stretch>
            <a:fillRect/>
          </a:stretch>
        </p:blipFill>
        <p:spPr>
          <a:xfrm>
            <a:off x="1147762" y="2233612"/>
            <a:ext cx="5845949" cy="1471613"/>
          </a:xfrm>
          <a:prstGeom prst="rect">
            <a:avLst/>
          </a:prstGeom>
        </p:spPr>
      </p:pic>
      <p:pic>
        <p:nvPicPr>
          <p:cNvPr id="7" name="Imagen 6"/>
          <p:cNvPicPr>
            <a:picLocks noChangeAspect="1"/>
          </p:cNvPicPr>
          <p:nvPr/>
        </p:nvPicPr>
        <p:blipFill>
          <a:blip r:embed="rId3"/>
          <a:stretch>
            <a:fillRect/>
          </a:stretch>
        </p:blipFill>
        <p:spPr>
          <a:xfrm>
            <a:off x="1147761" y="4233861"/>
            <a:ext cx="3071231" cy="2176463"/>
          </a:xfrm>
          <a:prstGeom prst="rect">
            <a:avLst/>
          </a:prstGeom>
        </p:spPr>
      </p:pic>
    </p:spTree>
    <p:extLst>
      <p:ext uri="{BB962C8B-B14F-4D97-AF65-F5344CB8AC3E}">
        <p14:creationId xmlns:p14="http://schemas.microsoft.com/office/powerpoint/2010/main" val="290466902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23875" y="1173160"/>
            <a:ext cx="11163300" cy="5303840"/>
          </a:xfrm>
        </p:spPr>
        <p:style>
          <a:lnRef idx="1">
            <a:schemeClr val="accent3"/>
          </a:lnRef>
          <a:fillRef idx="2">
            <a:schemeClr val="accent3"/>
          </a:fillRef>
          <a:effectRef idx="1">
            <a:schemeClr val="accent3"/>
          </a:effectRef>
          <a:fontRef idx="minor">
            <a:schemeClr val="dk1"/>
          </a:fontRef>
        </p:style>
        <p:txBody>
          <a:bodyPr>
            <a:noAutofit/>
          </a:bodyPr>
          <a:lstStyle/>
          <a:p>
            <a:pPr algn="just"/>
            <a:r>
              <a:rPr lang="es-MX" b="1" dirty="0"/>
              <a:t>Ejercicios propuestos:</a:t>
            </a:r>
          </a:p>
          <a:p>
            <a:pPr marL="0" indent="0" algn="just">
              <a:buNone/>
            </a:pPr>
            <a:r>
              <a:rPr lang="es-MX" b="1" dirty="0"/>
              <a:t>2. Dado el array:</a:t>
            </a:r>
          </a:p>
          <a:p>
            <a:pPr marL="514350" indent="-514350" algn="just">
              <a:buAutoNum type="arabicPeriod"/>
            </a:pPr>
            <a:endParaRPr lang="es-MX" b="1" dirty="0"/>
          </a:p>
          <a:p>
            <a:pPr marL="514350" indent="-514350" algn="just">
              <a:buAutoNum type="arabicPeriod"/>
            </a:pPr>
            <a:endParaRPr lang="es-MX" b="1" dirty="0"/>
          </a:p>
          <a:p>
            <a:pPr marL="514350" indent="-514350" algn="just">
              <a:buAutoNum type="arabicPeriod"/>
            </a:pPr>
            <a:endParaRPr lang="es-MX" b="1" dirty="0"/>
          </a:p>
          <a:p>
            <a:pPr marL="0" indent="0" algn="just">
              <a:buNone/>
            </a:pPr>
            <a:r>
              <a:rPr lang="es-MX" b="1" dirty="0"/>
              <a:t>Escribir un programa que encuentre la suma de todos los elementos que no pertenecen a la diagonal principal. </a:t>
            </a:r>
          </a:p>
          <a:p>
            <a:pPr marL="0" indent="0" algn="just">
              <a:buNone/>
            </a:pPr>
            <a:endParaRPr lang="es-MX" b="1" dirty="0"/>
          </a:p>
          <a:p>
            <a:pPr marL="0" indent="0" algn="just">
              <a:buNone/>
            </a:pPr>
            <a:r>
              <a:rPr lang="es-MX" b="1" dirty="0"/>
              <a:t>	</a:t>
            </a:r>
            <a:endParaRPr lang="es-MX" dirty="0"/>
          </a:p>
          <a:p>
            <a:pPr algn="just"/>
            <a:endParaRPr lang="es-MX" dirty="0"/>
          </a:p>
          <a:p>
            <a:pPr algn="just"/>
            <a:endParaRPr lang="es-CO" b="1" dirty="0">
              <a:latin typeface="Times New Roman" panose="02020603050405020304" pitchFamily="18" charset="0"/>
              <a:cs typeface="Times New Roman" panose="02020603050405020304" pitchFamily="18" charset="0"/>
            </a:endParaRPr>
          </a:p>
        </p:txBody>
      </p:sp>
      <p:sp>
        <p:nvSpPr>
          <p:cNvPr id="6" name="Título 1"/>
          <p:cNvSpPr txBox="1">
            <a:spLocks/>
          </p:cNvSpPr>
          <p:nvPr/>
        </p:nvSpPr>
        <p:spPr>
          <a:xfrm>
            <a:off x="1376361" y="287335"/>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Bidimensionales</a:t>
            </a:r>
            <a:endParaRPr lang="es-CO" dirty="0">
              <a:latin typeface="Times New Roman" panose="02020603050405020304" pitchFamily="18" charset="0"/>
              <a:cs typeface="Times New Roman" panose="02020603050405020304" pitchFamily="18" charset="0"/>
            </a:endParaRPr>
          </a:p>
        </p:txBody>
      </p:sp>
      <p:pic>
        <p:nvPicPr>
          <p:cNvPr id="2" name="Imagen 1"/>
          <p:cNvPicPr>
            <a:picLocks noChangeAspect="1"/>
          </p:cNvPicPr>
          <p:nvPr/>
        </p:nvPicPr>
        <p:blipFill>
          <a:blip r:embed="rId2"/>
          <a:stretch>
            <a:fillRect/>
          </a:stretch>
        </p:blipFill>
        <p:spPr>
          <a:xfrm>
            <a:off x="1147762" y="2166937"/>
            <a:ext cx="4114800" cy="1438275"/>
          </a:xfrm>
          <a:prstGeom prst="rect">
            <a:avLst/>
          </a:prstGeom>
        </p:spPr>
      </p:pic>
    </p:spTree>
    <p:extLst>
      <p:ext uri="{BB962C8B-B14F-4D97-AF65-F5344CB8AC3E}">
        <p14:creationId xmlns:p14="http://schemas.microsoft.com/office/powerpoint/2010/main" val="11711901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2891978" y="2283719"/>
            <a:ext cx="6207617" cy="1569660"/>
          </a:xfrm>
          <a:prstGeom prst="rect">
            <a:avLst/>
          </a:prstGeom>
          <a:noFill/>
        </p:spPr>
        <p:txBody>
          <a:bodyPr wrap="square" rtlCol="0">
            <a:spAutoFit/>
          </a:bodyPr>
          <a:lstStyle/>
          <a:p>
            <a:r>
              <a:rPr lang="es-ES" sz="9600" dirty="0"/>
              <a:t>GRACIAS!!</a:t>
            </a:r>
            <a:r>
              <a:rPr lang="es-ES" dirty="0"/>
              <a:t> </a:t>
            </a:r>
          </a:p>
        </p:txBody>
      </p:sp>
    </p:spTree>
    <p:extLst>
      <p:ext uri="{BB962C8B-B14F-4D97-AF65-F5344CB8AC3E}">
        <p14:creationId xmlns:p14="http://schemas.microsoft.com/office/powerpoint/2010/main" val="379174148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23875" y="1295400"/>
            <a:ext cx="11163300" cy="5181600"/>
          </a:xfrm>
        </p:spPr>
        <p:style>
          <a:lnRef idx="1">
            <a:schemeClr val="accent3"/>
          </a:lnRef>
          <a:fillRef idx="2">
            <a:schemeClr val="accent3"/>
          </a:fillRef>
          <a:effectRef idx="1">
            <a:schemeClr val="accent3"/>
          </a:effectRef>
          <a:fontRef idx="minor">
            <a:schemeClr val="dk1"/>
          </a:fontRef>
        </p:style>
        <p:txBody>
          <a:bodyPr>
            <a:noAutofit/>
          </a:bodyPr>
          <a:lstStyle/>
          <a:p>
            <a:pPr fontAlgn="ctr"/>
            <a:r>
              <a:rPr lang="es-CO" sz="2400" dirty="0"/>
              <a:t>ZOHONERO MARTÍNEZ, I. ; JOYANES AGUILAR, L. </a:t>
            </a:r>
            <a:r>
              <a:rPr lang="es-CO" sz="2400" b="1" dirty="0"/>
              <a:t>Estructuras de datos en Java</a:t>
            </a:r>
            <a:r>
              <a:rPr lang="es-CO" sz="2400" dirty="0"/>
              <a:t>. ed. Madrid etc: McGraw-Hill España, 2008. 562 p. Disponible en: https://elibro.net/es/ereader/corposucre/50117?page=188. Consultado en: 18 </a:t>
            </a:r>
            <a:r>
              <a:rPr lang="es-CO" sz="2400" dirty="0" err="1"/>
              <a:t>Aug</a:t>
            </a:r>
            <a:r>
              <a:rPr lang="es-CO" sz="2400" dirty="0"/>
              <a:t> 2022</a:t>
            </a:r>
          </a:p>
          <a:p>
            <a:pPr fontAlgn="ctr"/>
            <a:r>
              <a:rPr lang="es-MX" sz="2400" dirty="0" err="1"/>
              <a:t>Guardati</a:t>
            </a:r>
            <a:r>
              <a:rPr lang="es-MX" sz="2400" dirty="0"/>
              <a:t> </a:t>
            </a:r>
            <a:r>
              <a:rPr lang="es-MX" sz="2400" dirty="0" err="1"/>
              <a:t>Buemo</a:t>
            </a:r>
            <a:r>
              <a:rPr lang="es-MX" sz="2400" dirty="0"/>
              <a:t>, Silvia. Estructuras de datos básicas: programación orientada a objetos con java • Ruiz Rodríguez, R. (2009). Fundamentos de la programación orientada a objetos: una aplicación a las estructuras de datos en Java. El Cid Editor. https://elibro.net/es/lc/corposucre/titulos/34869 </a:t>
            </a:r>
          </a:p>
          <a:p>
            <a:pPr fontAlgn="ctr"/>
            <a:r>
              <a:rPr lang="es-MX" sz="2400" dirty="0"/>
              <a:t>Wiener, R., &amp; </a:t>
            </a:r>
            <a:r>
              <a:rPr lang="es-MX" sz="2400" dirty="0" err="1"/>
              <a:t>Pinson</a:t>
            </a:r>
            <a:r>
              <a:rPr lang="es-MX" sz="2400" dirty="0"/>
              <a:t>, L. J. (2000). Fundamentals of OOP and Data </a:t>
            </a:r>
            <a:r>
              <a:rPr lang="es-MX" sz="2400" dirty="0" err="1"/>
              <a:t>Structures</a:t>
            </a:r>
            <a:r>
              <a:rPr lang="es-MX" sz="2400" dirty="0"/>
              <a:t> in Java. Cambridge </a:t>
            </a:r>
            <a:r>
              <a:rPr lang="es-MX" sz="2400" dirty="0" err="1"/>
              <a:t>University</a:t>
            </a:r>
            <a:r>
              <a:rPr lang="es-MX" sz="2400" dirty="0"/>
              <a:t> </a:t>
            </a:r>
            <a:r>
              <a:rPr lang="es-MX" sz="2400" dirty="0" err="1"/>
              <a:t>Press</a:t>
            </a:r>
            <a:r>
              <a:rPr lang="es-MX" sz="2400" dirty="0"/>
              <a:t>. </a:t>
            </a:r>
            <a:r>
              <a:rPr lang="es-MX" sz="2400" dirty="0">
                <a:hlinkClick r:id="rId2"/>
              </a:rPr>
              <a:t>http://search.ebscohost.com/login.aspx?direct=true&amp;db=nlebk&amp;AN=54565&amp;site=ehost-live</a:t>
            </a:r>
            <a:endParaRPr lang="es-MX" sz="2400" dirty="0"/>
          </a:p>
          <a:p>
            <a:pPr fontAlgn="ctr"/>
            <a:r>
              <a:rPr lang="es-CO" sz="2400" dirty="0" err="1"/>
              <a:t>Joyanes</a:t>
            </a:r>
            <a:r>
              <a:rPr lang="es-CO" sz="2400" dirty="0"/>
              <a:t> Aguilar, Luis. Fundamentos de programación: Algoritmos, estructura de datos y objetos. 4a. Edición. </a:t>
            </a:r>
            <a:r>
              <a:rPr lang="es-CO" sz="2400" dirty="0" err="1"/>
              <a:t>Mexico</a:t>
            </a:r>
            <a:r>
              <a:rPr lang="es-CO" sz="2400" dirty="0"/>
              <a:t>: Mc Graw Hill,2008</a:t>
            </a:r>
          </a:p>
          <a:p>
            <a:pPr fontAlgn="ctr"/>
            <a:endParaRPr lang="es-CO" sz="2400" dirty="0"/>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419" dirty="0"/>
              <a:t>BIBLIOGRAFÍA</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092753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theme/theme1.xml><?xml version="1.0" encoding="utf-8"?>
<a:theme xmlns:a="http://schemas.openxmlformats.org/drawingml/2006/main" name="PLANTILLA INSTITUCIONAL">
  <a:themeElements>
    <a:clrScheme name="AJS">
      <a:dk1>
        <a:srgbClr val="31521B"/>
      </a:dk1>
      <a:lt1>
        <a:srgbClr val="0D291B"/>
      </a:lt1>
      <a:dk2>
        <a:srgbClr val="739A28"/>
      </a:dk2>
      <a:lt2>
        <a:srgbClr val="D6EAAF"/>
      </a:lt2>
      <a:accent1>
        <a:srgbClr val="99CB38"/>
      </a:accent1>
      <a:accent2>
        <a:srgbClr val="63A537"/>
      </a:accent2>
      <a:accent3>
        <a:srgbClr val="37A76F"/>
      </a:accent3>
      <a:accent4>
        <a:srgbClr val="1B5337"/>
      </a:accent4>
      <a:accent5>
        <a:srgbClr val="1B5337"/>
      </a:accent5>
      <a:accent6>
        <a:srgbClr val="773D03"/>
      </a:accent6>
      <a:hlink>
        <a:srgbClr val="FF0000"/>
      </a:hlink>
      <a:folHlink>
        <a:srgbClr val="C00000"/>
      </a:folHlink>
    </a:clrScheme>
    <a:fontScheme name="Personalizado 1">
      <a:majorFont>
        <a:latin typeface="Bell MT"/>
        <a:ea typeface=""/>
        <a:cs typeface=""/>
      </a:majorFont>
      <a:minorFont>
        <a:latin typeface="Bell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1" id="{1D01C22F-B745-48F6-831E-5770BD765581}" vid="{5C7DF1D1-C3DE-44BC-8760-47F7FAFB5C9A}"/>
    </a:ext>
  </a:extLst>
</a:theme>
</file>

<file path=docProps/app.xml><?xml version="1.0" encoding="utf-8"?>
<Properties xmlns="http://schemas.openxmlformats.org/officeDocument/2006/extended-properties" xmlns:vt="http://schemas.openxmlformats.org/officeDocument/2006/docPropsVTypes">
  <Template>PLANTILLA INSTITUCIONAL</Template>
  <TotalTime>1535</TotalTime>
  <Words>914</Words>
  <Application>Microsoft Office PowerPoint</Application>
  <PresentationFormat>Panorámica</PresentationFormat>
  <Paragraphs>79</Paragraphs>
  <Slides>20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Bell MT</vt:lpstr>
      <vt:lpstr>Times New Roman</vt:lpstr>
      <vt:lpstr>PLANTILLA INSTITUCIONAL</vt:lpstr>
      <vt:lpstr>Presentación de PowerPoint</vt:lpstr>
      <vt:lpstr>Agenda: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ÁRBOLES</dc:title>
  <dc:creator>fanylucastrotorres@gmail.com</dc:creator>
  <cp:lastModifiedBy>Jaider Reyes</cp:lastModifiedBy>
  <cp:revision>107</cp:revision>
  <dcterms:created xsi:type="dcterms:W3CDTF">2019-10-27T02:47:36Z</dcterms:created>
  <dcterms:modified xsi:type="dcterms:W3CDTF">2025-08-13T14:44:29Z</dcterms:modified>
</cp:coreProperties>
</file>
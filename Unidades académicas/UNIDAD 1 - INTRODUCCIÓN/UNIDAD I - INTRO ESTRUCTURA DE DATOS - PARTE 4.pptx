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sldIdLst>
    <p:sldId id="276" r:id="rId2"/>
    <p:sldId id="257" r:id="rId3"/>
    <p:sldId id="303" r:id="rId4"/>
    <p:sldId id="337" r:id="rId5"/>
    <p:sldId id="338" r:id="rId6"/>
    <p:sldId id="325" r:id="rId7"/>
    <p:sldId id="339" r:id="rId8"/>
    <p:sldId id="340" r:id="rId9"/>
    <p:sldId id="341" r:id="rId10"/>
    <p:sldId id="342" r:id="rId11"/>
    <p:sldId id="343" r:id="rId12"/>
    <p:sldId id="344" r:id="rId13"/>
    <p:sldId id="324" r:id="rId14"/>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22" autoAdjust="0"/>
    <p:restoredTop sz="94660"/>
  </p:normalViewPr>
  <p:slideViewPr>
    <p:cSldViewPr snapToGrid="0">
      <p:cViewPr>
        <p:scale>
          <a:sx n="83" d="100"/>
          <a:sy n="83" d="100"/>
        </p:scale>
        <p:origin x="-32"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8" name="Imagen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722927"/>
          </a:xfrm>
          <a:prstGeom prst="rect">
            <a:avLst/>
          </a:prstGeom>
        </p:spPr>
      </p:pic>
      <p:sp>
        <p:nvSpPr>
          <p:cNvPr id="2" name="Título 1"/>
          <p:cNvSpPr>
            <a:spLocks noGrp="1"/>
          </p:cNvSpPr>
          <p:nvPr>
            <p:ph type="ctrTitle" hasCustomPrompt="1"/>
          </p:nvPr>
        </p:nvSpPr>
        <p:spPr>
          <a:xfrm>
            <a:off x="4431723" y="1526166"/>
            <a:ext cx="7443354" cy="2387600"/>
          </a:xfrm>
        </p:spPr>
        <p:txBody>
          <a:bodyPr anchor="b"/>
          <a:lstStyle>
            <a:lvl1pPr algn="ctr">
              <a:defRPr sz="6000" b="1">
                <a:solidFill>
                  <a:schemeClr val="tx1">
                    <a:lumMod val="20000"/>
                    <a:lumOff val="80000"/>
                  </a:schemeClr>
                </a:solidFill>
              </a:defRPr>
            </a:lvl1pPr>
          </a:lstStyle>
          <a:p>
            <a:r>
              <a:rPr lang="es-ES" dirty="0"/>
              <a:t>HAGA CLIC PARA MODIFICAR</a:t>
            </a:r>
            <a:endParaRPr lang="es-CO" dirty="0"/>
          </a:p>
        </p:txBody>
      </p:sp>
      <p:sp>
        <p:nvSpPr>
          <p:cNvPr id="3" name="Subtítulo 2"/>
          <p:cNvSpPr>
            <a:spLocks noGrp="1"/>
          </p:cNvSpPr>
          <p:nvPr>
            <p:ph type="subTitle" idx="1"/>
          </p:nvPr>
        </p:nvSpPr>
        <p:spPr>
          <a:xfrm>
            <a:off x="4431723" y="3913766"/>
            <a:ext cx="7760278" cy="1655762"/>
          </a:xfrm>
        </p:spPr>
        <p:txBody>
          <a:bodyPr/>
          <a:lstStyle>
            <a:lvl1pPr marL="0" indent="0" algn="ctr">
              <a:buNone/>
              <a:defRPr sz="24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CO" dirty="0"/>
          </a:p>
        </p:txBody>
      </p:sp>
      <p:sp>
        <p:nvSpPr>
          <p:cNvPr id="4" name="Marcador de fecha 3"/>
          <p:cNvSpPr>
            <a:spLocks noGrp="1"/>
          </p:cNvSpPr>
          <p:nvPr>
            <p:ph type="dt" sz="half" idx="10"/>
          </p:nvPr>
        </p:nvSpPr>
        <p:spPr/>
        <p:txBody>
          <a:bodyPr/>
          <a:lstStyle>
            <a:lvl1pPr>
              <a:defRPr>
                <a:solidFill>
                  <a:srgbClr val="FFFFFF"/>
                </a:solidFill>
              </a:defRPr>
            </a:lvl1pPr>
          </a:lstStyle>
          <a:p>
            <a:fld id="{3663BBFF-77C1-4BF1-A3B2-2505841100BA}" type="datetimeFigureOut">
              <a:rPr lang="en-US" smtClean="0"/>
              <a:t>9/3/25</a:t>
            </a:fld>
            <a:endParaRPr lang="en-US" dirty="0"/>
          </a:p>
        </p:txBody>
      </p:sp>
      <p:sp>
        <p:nvSpPr>
          <p:cNvPr id="5" name="Marcador de pie de página 4"/>
          <p:cNvSpPr>
            <a:spLocks noGrp="1"/>
          </p:cNvSpPr>
          <p:nvPr>
            <p:ph type="ftr" sz="quarter" idx="11"/>
          </p:nvPr>
        </p:nvSpPr>
        <p:spPr/>
        <p:txBody>
          <a:bodyPr/>
          <a:lstStyle>
            <a:lvl1pPr>
              <a:defRPr>
                <a:solidFill>
                  <a:srgbClr val="FFFFFF"/>
                </a:solidFill>
              </a:defRPr>
            </a:lvl1pPr>
          </a:lstStyle>
          <a:p>
            <a:endParaRPr lang="en-US" dirty="0"/>
          </a:p>
        </p:txBody>
      </p:sp>
      <p:sp>
        <p:nvSpPr>
          <p:cNvPr id="6" name="Marcador de número de diapositiva 5"/>
          <p:cNvSpPr>
            <a:spLocks noGrp="1"/>
          </p:cNvSpPr>
          <p:nvPr>
            <p:ph type="sldNum" sz="quarter" idx="12"/>
          </p:nvPr>
        </p:nvSpPr>
        <p:spPr/>
        <p:txBody>
          <a:bodyPr/>
          <a:lstStyle>
            <a:lvl1pPr>
              <a:defRPr>
                <a:solidFill>
                  <a:srgbClr val="FFFFFF"/>
                </a:solidFill>
              </a:defRPr>
            </a:lvl1p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680237891"/>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7" name="Marcador de contenido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2217758" cy="6858001"/>
          </a:xfrm>
          <a:prstGeom prst="rect">
            <a:avLst/>
          </a:prstGeom>
        </p:spPr>
      </p:pic>
      <p:sp>
        <p:nvSpPr>
          <p:cNvPr id="2" name="Título 1"/>
          <p:cNvSpPr>
            <a:spLocks noGrp="1"/>
          </p:cNvSpPr>
          <p:nvPr>
            <p:ph type="title"/>
          </p:nvPr>
        </p:nvSpPr>
        <p:spPr>
          <a:xfrm>
            <a:off x="964621" y="1435389"/>
            <a:ext cx="10515600" cy="1325563"/>
          </a:xfrm>
        </p:spPr>
        <p:txBody>
          <a:bodyPr/>
          <a:lstStyle>
            <a:lvl1pPr algn="ctr">
              <a:defRPr b="1"/>
            </a:lvl1pPr>
          </a:lstStyle>
          <a:p>
            <a:r>
              <a:rPr lang="es-ES"/>
              <a:t>Haga clic para modificar el estilo de título del patrón</a:t>
            </a:r>
            <a:endParaRPr lang="es-CO" dirty="0"/>
          </a:p>
        </p:txBody>
      </p:sp>
      <p:sp>
        <p:nvSpPr>
          <p:cNvPr id="3" name="Marcador de contenido 2"/>
          <p:cNvSpPr>
            <a:spLocks noGrp="1"/>
          </p:cNvSpPr>
          <p:nvPr>
            <p:ph idx="1"/>
          </p:nvPr>
        </p:nvSpPr>
        <p:spPr>
          <a:xfrm>
            <a:off x="1091044" y="3044535"/>
            <a:ext cx="10262755" cy="3132427"/>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5FED2BB1-BB31-4EB8-A961-18800A74EAA8}" type="datetimeFigureOut">
              <a:rPr lang="en-US" smtClean="0"/>
              <a:t>9/3/25</a:t>
            </a:fld>
            <a:endParaRPr lang="en-US" dirty="0"/>
          </a:p>
        </p:txBody>
      </p:sp>
      <p:sp>
        <p:nvSpPr>
          <p:cNvPr id="5" name="Marcador de pie de página 4"/>
          <p:cNvSpPr>
            <a:spLocks noGrp="1"/>
          </p:cNvSpPr>
          <p:nvPr>
            <p:ph type="ftr" sz="quarter" idx="11"/>
          </p:nvPr>
        </p:nvSpPr>
        <p:spPr/>
        <p:txBody>
          <a:bodyPr/>
          <a:lstStyle/>
          <a:p>
            <a:endParaRPr lang="en-US" dirty="0"/>
          </a:p>
        </p:txBody>
      </p:sp>
      <p:sp>
        <p:nvSpPr>
          <p:cNvPr id="6" name="Marcador de número de diapositiva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49891303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7" name="Marcador de contenido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2217758" cy="6858001"/>
          </a:xfrm>
          <a:prstGeom prst="rect">
            <a:avLst/>
          </a:prstGeom>
        </p:spPr>
      </p:pic>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3B40B886-74BB-4D5E-9EA9-584482FE40E6}" type="datetimeFigureOut">
              <a:rPr lang="en-US" smtClean="0"/>
              <a:t>9/3/25</a:t>
            </a:fld>
            <a:endParaRPr lang="en-US" dirty="0"/>
          </a:p>
        </p:txBody>
      </p:sp>
      <p:sp>
        <p:nvSpPr>
          <p:cNvPr id="5" name="Marcador de pie de página 4"/>
          <p:cNvSpPr>
            <a:spLocks noGrp="1"/>
          </p:cNvSpPr>
          <p:nvPr>
            <p:ph type="ftr" sz="quarter" idx="11"/>
          </p:nvPr>
        </p:nvSpPr>
        <p:spPr/>
        <p:txBody>
          <a:bodyPr/>
          <a:lstStyle/>
          <a:p>
            <a:endParaRPr lang="en-US" dirty="0"/>
          </a:p>
        </p:txBody>
      </p:sp>
      <p:sp>
        <p:nvSpPr>
          <p:cNvPr id="6" name="Marcador de número de diapositiva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73931149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8" name="Marcador de contenido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2217758" cy="6858001"/>
          </a:xfrm>
          <a:prstGeom prst="rect">
            <a:avLst/>
          </a:prstGeom>
        </p:spPr>
      </p:pic>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p:cNvSpPr>
            <a:spLocks noGrp="1"/>
          </p:cNvSpPr>
          <p:nvPr>
            <p:ph type="dt" sz="half" idx="10"/>
          </p:nvPr>
        </p:nvSpPr>
        <p:spPr/>
        <p:txBody>
          <a:bodyPr/>
          <a:lstStyle/>
          <a:p>
            <a:fld id="{8CA4CCD1-3502-4C30-947C-75FC88992007}" type="datetimeFigureOut">
              <a:rPr lang="en-US" smtClean="0"/>
              <a:t>9/3/25</a:t>
            </a:fld>
            <a:endParaRPr lang="en-US" dirty="0"/>
          </a:p>
        </p:txBody>
      </p:sp>
      <p:sp>
        <p:nvSpPr>
          <p:cNvPr id="6" name="Marcador de pie de página 5"/>
          <p:cNvSpPr>
            <a:spLocks noGrp="1"/>
          </p:cNvSpPr>
          <p:nvPr>
            <p:ph type="ftr" sz="quarter" idx="11"/>
          </p:nvPr>
        </p:nvSpPr>
        <p:spPr/>
        <p:txBody>
          <a:bodyPr/>
          <a:lstStyle/>
          <a:p>
            <a:endParaRPr lang="en-US" dirty="0"/>
          </a:p>
        </p:txBody>
      </p:sp>
      <p:sp>
        <p:nvSpPr>
          <p:cNvPr id="7" name="Marcador de número de diapositiva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54338175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0" name="Marcador de contenido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2217758" cy="6858001"/>
          </a:xfrm>
          <a:prstGeom prst="rect">
            <a:avLst/>
          </a:prstGeom>
        </p:spPr>
      </p:pic>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p:cNvSpPr>
            <a:spLocks noGrp="1"/>
          </p:cNvSpPr>
          <p:nvPr>
            <p:ph type="dt" sz="half" idx="10"/>
          </p:nvPr>
        </p:nvSpPr>
        <p:spPr/>
        <p:txBody>
          <a:bodyPr/>
          <a:lstStyle/>
          <a:p>
            <a:fld id="{950B797A-E8AF-4231-9C64-308C5BB9ED3E}" type="datetimeFigureOut">
              <a:rPr lang="en-US" smtClean="0"/>
              <a:t>9/3/25</a:t>
            </a:fld>
            <a:endParaRPr lang="en-US" dirty="0"/>
          </a:p>
        </p:txBody>
      </p:sp>
      <p:sp>
        <p:nvSpPr>
          <p:cNvPr id="8" name="Marcador de pie de página 7"/>
          <p:cNvSpPr>
            <a:spLocks noGrp="1"/>
          </p:cNvSpPr>
          <p:nvPr>
            <p:ph type="ftr" sz="quarter" idx="11"/>
          </p:nvPr>
        </p:nvSpPr>
        <p:spPr/>
        <p:txBody>
          <a:bodyPr/>
          <a:lstStyle/>
          <a:p>
            <a:endParaRPr lang="en-US" dirty="0"/>
          </a:p>
        </p:txBody>
      </p:sp>
      <p:sp>
        <p:nvSpPr>
          <p:cNvPr id="9" name="Marcador de número de diapositiva 8"/>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33438358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6" name="Marcador de contenido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2217758" cy="6858001"/>
          </a:xfrm>
          <a:prstGeom prst="rect">
            <a:avLst/>
          </a:prstGeom>
        </p:spPr>
      </p:pic>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fecha 2"/>
          <p:cNvSpPr>
            <a:spLocks noGrp="1"/>
          </p:cNvSpPr>
          <p:nvPr>
            <p:ph type="dt" sz="half" idx="10"/>
          </p:nvPr>
        </p:nvSpPr>
        <p:spPr/>
        <p:txBody>
          <a:bodyPr/>
          <a:lstStyle/>
          <a:p>
            <a:fld id="{1EB24146-07E2-48CA-8629-5887ED47FCDB}" type="datetimeFigureOut">
              <a:rPr lang="en-US" smtClean="0"/>
              <a:t>9/3/25</a:t>
            </a:fld>
            <a:endParaRPr lang="en-US" dirty="0"/>
          </a:p>
        </p:txBody>
      </p:sp>
      <p:sp>
        <p:nvSpPr>
          <p:cNvPr id="4" name="Marcador de pie de página 3"/>
          <p:cNvSpPr>
            <a:spLocks noGrp="1"/>
          </p:cNvSpPr>
          <p:nvPr>
            <p:ph type="ftr" sz="quarter" idx="11"/>
          </p:nvPr>
        </p:nvSpPr>
        <p:spPr/>
        <p:txBody>
          <a:bodyPr/>
          <a:lstStyle/>
          <a:p>
            <a:endParaRPr lang="en-US" dirty="0"/>
          </a:p>
        </p:txBody>
      </p:sp>
      <p:sp>
        <p:nvSpPr>
          <p:cNvPr id="5" name="Marcador de número de diapositiva 4"/>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05724125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5" name="Marcador de contenido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2217758" cy="6858001"/>
          </a:xfrm>
          <a:prstGeom prst="rect">
            <a:avLst/>
          </a:prstGeom>
        </p:spPr>
      </p:pic>
      <p:sp>
        <p:nvSpPr>
          <p:cNvPr id="2" name="Marcador de fecha 1"/>
          <p:cNvSpPr>
            <a:spLocks noGrp="1"/>
          </p:cNvSpPr>
          <p:nvPr>
            <p:ph type="dt" sz="half" idx="10"/>
          </p:nvPr>
        </p:nvSpPr>
        <p:spPr/>
        <p:txBody>
          <a:bodyPr/>
          <a:lstStyle/>
          <a:p>
            <a:fld id="{D407E718-B4F0-433E-A285-0013249184C0}" type="datetimeFigureOut">
              <a:rPr lang="en-US" smtClean="0"/>
              <a:t>9/3/25</a:t>
            </a:fld>
            <a:endParaRPr lang="en-US" dirty="0"/>
          </a:p>
        </p:txBody>
      </p:sp>
      <p:sp>
        <p:nvSpPr>
          <p:cNvPr id="3" name="Marcador de pie de página 2"/>
          <p:cNvSpPr>
            <a:spLocks noGrp="1"/>
          </p:cNvSpPr>
          <p:nvPr>
            <p:ph type="ftr" sz="quarter" idx="11"/>
          </p:nvPr>
        </p:nvSpPr>
        <p:spPr/>
        <p:txBody>
          <a:bodyPr/>
          <a:lstStyle/>
          <a:p>
            <a:endParaRPr lang="en-US" dirty="0"/>
          </a:p>
        </p:txBody>
      </p:sp>
      <p:sp>
        <p:nvSpPr>
          <p:cNvPr id="4" name="Marcador de número de diapositiva 3"/>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853857906"/>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8" name="Marcador de contenido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2217758" cy="6858001"/>
          </a:xfrm>
          <a:prstGeom prst="rect">
            <a:avLst/>
          </a:prstGeom>
        </p:spPr>
      </p:pic>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2B8E44C4-3D72-4D6E-86A4-F5491DC49E6D}" type="datetimeFigureOut">
              <a:rPr lang="en-US" smtClean="0"/>
              <a:t>9/3/25</a:t>
            </a:fld>
            <a:endParaRPr lang="en-US" dirty="0"/>
          </a:p>
        </p:txBody>
      </p:sp>
      <p:sp>
        <p:nvSpPr>
          <p:cNvPr id="6" name="Marcador de pie de página 5"/>
          <p:cNvSpPr>
            <a:spLocks noGrp="1"/>
          </p:cNvSpPr>
          <p:nvPr>
            <p:ph type="ftr" sz="quarter" idx="11"/>
          </p:nvPr>
        </p:nvSpPr>
        <p:spPr/>
        <p:txBody>
          <a:bodyPr/>
          <a:lstStyle/>
          <a:p>
            <a:endParaRPr lang="en-US" dirty="0"/>
          </a:p>
        </p:txBody>
      </p:sp>
      <p:sp>
        <p:nvSpPr>
          <p:cNvPr id="7" name="Marcador de número de diapositiva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98515117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8" name="Marcador de contenido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2217758" cy="6858001"/>
          </a:xfrm>
          <a:prstGeom prst="rect">
            <a:avLst/>
          </a:prstGeom>
        </p:spPr>
      </p:pic>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06B8EA14-E6AC-4B59-973C-7A06B0EDE3E3}" type="datetimeFigureOut">
              <a:rPr lang="en-US" smtClean="0"/>
              <a:t>9/3/25</a:t>
            </a:fld>
            <a:endParaRPr lang="en-US" dirty="0"/>
          </a:p>
        </p:txBody>
      </p:sp>
      <p:sp>
        <p:nvSpPr>
          <p:cNvPr id="6" name="Marcador de pie de página 5"/>
          <p:cNvSpPr>
            <a:spLocks noGrp="1"/>
          </p:cNvSpPr>
          <p:nvPr>
            <p:ph type="ftr" sz="quarter" idx="11"/>
          </p:nvPr>
        </p:nvSpPr>
        <p:spPr/>
        <p:txBody>
          <a:bodyPr/>
          <a:lstStyle/>
          <a:p>
            <a:endParaRPr lang="en-US" dirty="0"/>
          </a:p>
        </p:txBody>
      </p:sp>
      <p:sp>
        <p:nvSpPr>
          <p:cNvPr id="7" name="Marcador de número de diapositiva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09416263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7" name="Marcador de contenido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2217758" cy="6858001"/>
          </a:xfrm>
          <a:prstGeom prst="rect">
            <a:avLst/>
          </a:prstGeom>
        </p:spPr>
      </p:pic>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497D2069-43FA-49C5-9F0E-58E1EB237AEF}" type="datetimeFigureOut">
              <a:rPr lang="en-US" smtClean="0"/>
              <a:t>9/3/25</a:t>
            </a:fld>
            <a:endParaRPr lang="en-US" dirty="0"/>
          </a:p>
        </p:txBody>
      </p:sp>
      <p:sp>
        <p:nvSpPr>
          <p:cNvPr id="5" name="Marcador de pie de página 4"/>
          <p:cNvSpPr>
            <a:spLocks noGrp="1"/>
          </p:cNvSpPr>
          <p:nvPr>
            <p:ph type="ftr" sz="quarter" idx="11"/>
          </p:nvPr>
        </p:nvSpPr>
        <p:spPr/>
        <p:txBody>
          <a:bodyPr/>
          <a:lstStyle/>
          <a:p>
            <a:endParaRPr lang="en-US" dirty="0"/>
          </a:p>
        </p:txBody>
      </p:sp>
      <p:sp>
        <p:nvSpPr>
          <p:cNvPr id="6" name="Marcador de número de diapositiva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53528602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7" name="Marcador de contenido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2217758" cy="6858001"/>
          </a:xfrm>
          <a:prstGeom prst="rect">
            <a:avLst/>
          </a:prstGeom>
        </p:spPr>
      </p:pic>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C05854CA-19F4-4771-B6A2-DA5C0742B220}" type="datetimeFigureOut">
              <a:rPr lang="en-US" smtClean="0"/>
              <a:t>9/3/25</a:t>
            </a:fld>
            <a:endParaRPr lang="en-US" dirty="0"/>
          </a:p>
        </p:txBody>
      </p:sp>
      <p:sp>
        <p:nvSpPr>
          <p:cNvPr id="5" name="Marcador de pie de página 4"/>
          <p:cNvSpPr>
            <a:spLocks noGrp="1"/>
          </p:cNvSpPr>
          <p:nvPr>
            <p:ph type="ftr" sz="quarter" idx="11"/>
          </p:nvPr>
        </p:nvSpPr>
        <p:spPr/>
        <p:txBody>
          <a:bodyPr/>
          <a:lstStyle/>
          <a:p>
            <a:endParaRPr lang="en-US" dirty="0"/>
          </a:p>
        </p:txBody>
      </p:sp>
      <p:sp>
        <p:nvSpPr>
          <p:cNvPr id="6" name="Marcador de número de diapositiva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97837463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BB3B3F-C0CE-47CB-BCED-F49A710726FF}" type="datetimeFigureOut">
              <a:rPr lang="en-US" smtClean="0"/>
              <a:t>9/3/25</a:t>
            </a:fld>
            <a:endParaRPr lang="en-US" dirty="0"/>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606676215"/>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hyperlink" Target="http://search.ebscohost.com/login.aspx?direct=true&amp;db=nlebk&amp;AN=54565&amp;site=ehost-liv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277394" y="3581814"/>
            <a:ext cx="6284133" cy="1015663"/>
          </a:xfrm>
          <a:prstGeom prst="rect">
            <a:avLst/>
          </a:prstGeom>
          <a:ln>
            <a:noFill/>
          </a:ln>
        </p:spPr>
        <p:txBody>
          <a:bodyPr wrap="square">
            <a:spAutoFit/>
          </a:bodyPr>
          <a:lstStyle/>
          <a:p>
            <a:pPr algn="ctr">
              <a:defRPr/>
            </a:pPr>
            <a:endParaRPr lang="es-ES" sz="2000" dirty="0">
              <a:ln w="10541" cmpd="sng">
                <a:noFill/>
                <a:prstDash val="solid"/>
              </a:ln>
              <a:solidFill>
                <a:prstClr val="white"/>
              </a:solidFill>
              <a:latin typeface="Arial" panose="020B0604020202020204" pitchFamily="34" charset="0"/>
              <a:cs typeface="Arial" panose="020B0604020202020204" pitchFamily="34" charset="0"/>
            </a:endParaRPr>
          </a:p>
          <a:p>
            <a:pPr algn="ctr">
              <a:defRPr/>
            </a:pPr>
            <a:r>
              <a:rPr lang="es-ES" sz="2000" dirty="0">
                <a:ln w="10541" cmpd="sng">
                  <a:noFill/>
                  <a:prstDash val="solid"/>
                </a:ln>
                <a:solidFill>
                  <a:prstClr val="white"/>
                </a:solidFill>
                <a:latin typeface="Arial" panose="020B0604020202020204" pitchFamily="34" charset="0"/>
                <a:cs typeface="Arial" panose="020B0604020202020204" pitchFamily="34" charset="0"/>
              </a:rPr>
              <a:t>Ing. Jaider Reyes Herazo</a:t>
            </a:r>
          </a:p>
          <a:p>
            <a:pPr algn="ctr">
              <a:defRPr/>
            </a:pPr>
            <a:endParaRPr lang="es-ES" sz="2000" dirty="0">
              <a:ln w="10541" cmpd="sng">
                <a:solidFill>
                  <a:srgbClr val="4F81BD">
                    <a:shade val="88000"/>
                    <a:satMod val="110000"/>
                  </a:srgbClr>
                </a:solidFill>
                <a:prstDash val="solid"/>
              </a:ln>
              <a:solidFill>
                <a:prstClr val="white"/>
              </a:solidFill>
              <a:latin typeface="Arial" panose="020B0604020202020204" pitchFamily="34" charset="0"/>
              <a:cs typeface="Arial" panose="020B0604020202020204" pitchFamily="34" charset="0"/>
            </a:endParaRPr>
          </a:p>
        </p:txBody>
      </p:sp>
      <p:sp>
        <p:nvSpPr>
          <p:cNvPr id="6" name="Rectángulo 5"/>
          <p:cNvSpPr/>
          <p:nvPr/>
        </p:nvSpPr>
        <p:spPr>
          <a:xfrm>
            <a:off x="5368564" y="1704571"/>
            <a:ext cx="6101791" cy="1569660"/>
          </a:xfrm>
          <a:prstGeom prst="rect">
            <a:avLst/>
          </a:prstGeom>
          <a:ln>
            <a:noFill/>
          </a:ln>
        </p:spPr>
        <p:txBody>
          <a:bodyPr wrap="square">
            <a:spAutoFit/>
          </a:bodyPr>
          <a:lstStyle/>
          <a:p>
            <a:pPr algn="ctr">
              <a:defRPr/>
            </a:pPr>
            <a:r>
              <a:rPr lang="es-ES" sz="3200" dirty="0">
                <a:ln w="10541" cmpd="sng">
                  <a:noFill/>
                  <a:prstDash val="solid"/>
                </a:ln>
                <a:solidFill>
                  <a:prstClr val="white"/>
                </a:solidFill>
                <a:latin typeface="Arial" panose="020B0604020202020204" pitchFamily="34" charset="0"/>
                <a:cs typeface="Arial" panose="020B0604020202020204" pitchFamily="34" charset="0"/>
              </a:rPr>
              <a:t>UNIDAD N°1: INTRODUCCIÓN A L AS ESTRUCTURA DE DATOS </a:t>
            </a:r>
          </a:p>
        </p:txBody>
      </p:sp>
    </p:spTree>
    <p:extLst>
      <p:ext uri="{BB962C8B-B14F-4D97-AF65-F5344CB8AC3E}">
        <p14:creationId xmlns:p14="http://schemas.microsoft.com/office/powerpoint/2010/main" val="281226399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8636" y="313588"/>
            <a:ext cx="7043739" cy="1077062"/>
          </a:xfrm>
        </p:spPr>
        <p:txBody>
          <a:bodyPr/>
          <a:lstStyle/>
          <a:p>
            <a:pPr algn="l"/>
            <a:r>
              <a:rPr lang="es-MX" b="1" dirty="0">
                <a:latin typeface="Times New Roman" panose="02020603050405020304" pitchFamily="18" charset="0"/>
                <a:cs typeface="Times New Roman" panose="02020603050405020304" pitchFamily="18" charset="0"/>
              </a:rPr>
              <a:t>Agenda:</a:t>
            </a:r>
            <a:endParaRPr lang="es-CO" b="1" dirty="0">
              <a:latin typeface="Times New Roman" panose="02020603050405020304" pitchFamily="18" charset="0"/>
              <a:cs typeface="Times New Roman" panose="02020603050405020304" pitchFamily="18" charset="0"/>
            </a:endParaRPr>
          </a:p>
        </p:txBody>
      </p:sp>
      <p:sp>
        <p:nvSpPr>
          <p:cNvPr id="5" name="Marcador de contenido 4"/>
          <p:cNvSpPr>
            <a:spLocks noGrp="1"/>
          </p:cNvSpPr>
          <p:nvPr>
            <p:ph idx="1"/>
          </p:nvPr>
        </p:nvSpPr>
        <p:spPr>
          <a:xfrm>
            <a:off x="652894" y="1390651"/>
            <a:ext cx="11177156" cy="4838700"/>
          </a:xfrm>
        </p:spPr>
        <p:txBody>
          <a:bodyPr>
            <a:normAutofit/>
          </a:bodyPr>
          <a:lstStyle/>
          <a:p>
            <a:pPr marL="0" indent="0">
              <a:buNone/>
            </a:pPr>
            <a:r>
              <a:rPr lang="es-MX" sz="3000" dirty="0"/>
              <a:t>1. </a:t>
            </a:r>
            <a:r>
              <a:rPr lang="es-MX" sz="3000" b="1" dirty="0"/>
              <a:t>Arreglo de Objetos.</a:t>
            </a:r>
          </a:p>
          <a:p>
            <a:pPr lvl="1"/>
            <a:r>
              <a:rPr lang="es-CO" dirty="0"/>
              <a:t>Conceptualización.</a:t>
            </a:r>
          </a:p>
          <a:p>
            <a:pPr lvl="1"/>
            <a:r>
              <a:rPr lang="es-MX" dirty="0"/>
              <a:t>¿Cómo crear un arreglo de objetos?</a:t>
            </a:r>
            <a:r>
              <a:rPr lang="es-CO" dirty="0"/>
              <a:t> </a:t>
            </a:r>
          </a:p>
          <a:p>
            <a:pPr lvl="1"/>
            <a:r>
              <a:rPr lang="es-MX" dirty="0"/>
              <a:t>¿Cómo desplegar un arreglo de objetos?</a:t>
            </a:r>
            <a:r>
              <a:rPr lang="es-CO" dirty="0"/>
              <a:t>. </a:t>
            </a:r>
          </a:p>
          <a:p>
            <a:pPr lvl="1"/>
            <a:r>
              <a:rPr lang="es-MX" dirty="0"/>
              <a:t>Búsqueda en un Arreglo de Objetos</a:t>
            </a:r>
            <a:r>
              <a:rPr lang="es-CO" dirty="0"/>
              <a:t>. </a:t>
            </a:r>
          </a:p>
          <a:p>
            <a:pPr marL="0" indent="0">
              <a:buNone/>
            </a:pPr>
            <a:r>
              <a:rPr lang="es-MX" sz="3000" dirty="0"/>
              <a:t>	</a:t>
            </a:r>
          </a:p>
          <a:p>
            <a:pPr marL="0" indent="0">
              <a:buNone/>
            </a:pPr>
            <a:endParaRPr lang="es-MX" dirty="0"/>
          </a:p>
          <a:p>
            <a:pPr marL="0" indent="0">
              <a:buNone/>
            </a:pPr>
            <a:endParaRPr lang="es-MX" dirty="0"/>
          </a:p>
          <a:p>
            <a:pPr marL="0" indent="0">
              <a:buNone/>
            </a:pPr>
            <a:endParaRPr lang="es-MX" dirty="0"/>
          </a:p>
          <a:p>
            <a:pPr marL="0" indent="0">
              <a:buNone/>
            </a:pPr>
            <a:endParaRPr lang="es-MX" dirty="0"/>
          </a:p>
        </p:txBody>
      </p:sp>
      <p:pic>
        <p:nvPicPr>
          <p:cNvPr id="3" name="Imagen 2" descr="Iniciación a la programación (TIC 2015): Qué es un algoritm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4516" y="1905000"/>
            <a:ext cx="4072092" cy="301466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16085643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33400" y="1304925"/>
            <a:ext cx="11163300" cy="50292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a:buNone/>
            </a:pPr>
            <a:r>
              <a:rPr lang="es-MX" b="1" dirty="0"/>
              <a:t>Problema:</a:t>
            </a:r>
          </a:p>
          <a:p>
            <a:pPr algn="just"/>
            <a:r>
              <a:rPr lang="es-CO" sz="2000" dirty="0"/>
              <a:t>La entidad bancaria XYZ ha solicitado al departamento de sistemas crear una aplicación por consola, para llevar a cabo la administración de la información de los clientes, los empleados y las transacciones que se realizan en esta organización. El jefe de desarrollo ha solicitado a sus programadores diseñar y desarrollar la aplicación basados en el paradigma de la programación orientada a objetos y utilizando JAVA como lenguaje de programación. El producto debe generar:</a:t>
            </a:r>
          </a:p>
          <a:p>
            <a:pPr marL="514350" indent="-514350" algn="just">
              <a:buAutoNum type="arabicPeriod"/>
            </a:pPr>
            <a:r>
              <a:rPr lang="es-CO" sz="2000" dirty="0"/>
              <a:t>Listado general de clientes.</a:t>
            </a:r>
          </a:p>
          <a:p>
            <a:pPr marL="514350" indent="-514350" algn="just">
              <a:buAutoNum type="arabicPeriod"/>
            </a:pPr>
            <a:r>
              <a:rPr lang="es-CO" sz="2000" dirty="0"/>
              <a:t>Listado de clientes con cuenta de ahorro.</a:t>
            </a:r>
          </a:p>
          <a:p>
            <a:pPr marL="514350" indent="-514350" algn="just">
              <a:buAutoNum type="arabicPeriod"/>
            </a:pPr>
            <a:r>
              <a:rPr lang="es-CO" sz="2000" dirty="0"/>
              <a:t>Listado de clientes con cuenta corriente.</a:t>
            </a:r>
          </a:p>
          <a:p>
            <a:pPr marL="514350" indent="-514350" algn="just">
              <a:buAutoNum type="arabicPeriod"/>
            </a:pPr>
            <a:r>
              <a:rPr lang="es-CO" sz="2000" dirty="0"/>
              <a:t>Transacciones de los clientes (Depósitos, retiros, consultas de saldos)</a:t>
            </a:r>
          </a:p>
          <a:p>
            <a:pPr marL="514350" indent="-514350" algn="just">
              <a:buAutoNum type="arabicPeriod"/>
            </a:pPr>
            <a:r>
              <a:rPr lang="es-CO" sz="2000" dirty="0"/>
              <a:t>Nomina de empleados. </a:t>
            </a:r>
          </a:p>
          <a:p>
            <a:pPr marL="514350" indent="-514350" algn="just">
              <a:buAutoNum type="arabicPeriod"/>
            </a:pPr>
            <a:r>
              <a:rPr lang="es-CO" sz="2000" dirty="0"/>
              <a:t>Administrar la información de los clientes y empleados (búsqueda, actualización y eliminación).</a:t>
            </a:r>
          </a:p>
          <a:p>
            <a:pPr marL="0" indent="0" algn="just">
              <a:buNone/>
            </a:pPr>
            <a:r>
              <a:rPr lang="es-MX" sz="2000" b="1" dirty="0"/>
              <a:t> </a:t>
            </a:r>
            <a:endParaRPr lang="es-MX" sz="1800" dirty="0"/>
          </a:p>
        </p:txBody>
      </p:sp>
      <p:sp>
        <p:nvSpPr>
          <p:cNvPr id="6" name="Título 1"/>
          <p:cNvSpPr txBox="1">
            <a:spLocks/>
          </p:cNvSpPr>
          <p:nvPr/>
        </p:nvSpPr>
        <p:spPr>
          <a:xfrm>
            <a:off x="1385886" y="323849"/>
            <a:ext cx="7043739" cy="88582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MX" dirty="0"/>
              <a:t>Arreglos de Objetos</a:t>
            </a:r>
            <a:endParaRPr lang="es-CO"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6440321"/>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19150" y="1343025"/>
            <a:ext cx="5995094" cy="4991100"/>
          </a:xfrm>
        </p:spPr>
        <p:style>
          <a:lnRef idx="1">
            <a:schemeClr val="accent3"/>
          </a:lnRef>
          <a:fillRef idx="2">
            <a:schemeClr val="accent3"/>
          </a:fillRef>
          <a:effectRef idx="1">
            <a:schemeClr val="accent3"/>
          </a:effectRef>
          <a:fontRef idx="minor">
            <a:schemeClr val="dk1"/>
          </a:fontRef>
        </p:style>
        <p:txBody>
          <a:bodyPr>
            <a:noAutofit/>
          </a:bodyPr>
          <a:lstStyle/>
          <a:p>
            <a:r>
              <a:rPr lang="es-CO" b="1" dirty="0"/>
              <a:t>Objetivo:</a:t>
            </a:r>
            <a:r>
              <a:rPr lang="es-CO" dirty="0"/>
              <a:t> Entender y comprender el fundamento teórico – practico de los arreglos de objetos y sus operaciones básicas, para aplicar este concepto al desarrollo de aplicaciones que requieran de su implementación.</a:t>
            </a:r>
            <a:endParaRPr lang="en-US" dirty="0"/>
          </a:p>
        </p:txBody>
      </p:sp>
      <p:sp>
        <p:nvSpPr>
          <p:cNvPr id="6" name="Título 1"/>
          <p:cNvSpPr txBox="1">
            <a:spLocks/>
          </p:cNvSpPr>
          <p:nvPr/>
        </p:nvSpPr>
        <p:spPr>
          <a:xfrm>
            <a:off x="1376361" y="600074"/>
            <a:ext cx="7043739" cy="88582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MX" dirty="0"/>
              <a:t>Arreglos de Objetos</a:t>
            </a:r>
            <a:endParaRPr lang="es-CO" dirty="0">
              <a:latin typeface="Times New Roman" panose="02020603050405020304" pitchFamily="18" charset="0"/>
              <a:cs typeface="Times New Roman" panose="02020603050405020304" pitchFamily="18" charset="0"/>
            </a:endParaRPr>
          </a:p>
          <a:p>
            <a:endParaRPr lang="es-CO" dirty="0">
              <a:latin typeface="Times New Roman" panose="02020603050405020304" pitchFamily="18" charset="0"/>
              <a:cs typeface="Times New Roman" panose="02020603050405020304" pitchFamily="18" charset="0"/>
            </a:endParaRPr>
          </a:p>
        </p:txBody>
      </p:sp>
      <p:pic>
        <p:nvPicPr>
          <p:cNvPr id="5" name="Imagen 4" descr="Fotos gratis : número, patrón, juguete, fuente, pieza, rompecabezas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62800" y="1995487"/>
            <a:ext cx="4286250" cy="3214688"/>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spTree>
    <p:extLst>
      <p:ext uri="{BB962C8B-B14F-4D97-AF65-F5344CB8AC3E}">
        <p14:creationId xmlns:p14="http://schemas.microsoft.com/office/powerpoint/2010/main" val="3591377186"/>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61975" y="1343025"/>
            <a:ext cx="11068049" cy="4991100"/>
          </a:xfrm>
        </p:spPr>
        <p:style>
          <a:lnRef idx="1">
            <a:schemeClr val="accent3"/>
          </a:lnRef>
          <a:fillRef idx="2">
            <a:schemeClr val="accent3"/>
          </a:fillRef>
          <a:effectRef idx="1">
            <a:schemeClr val="accent3"/>
          </a:effectRef>
          <a:fontRef idx="minor">
            <a:schemeClr val="dk1"/>
          </a:fontRef>
        </p:style>
        <p:txBody>
          <a:bodyPr>
            <a:noAutofit/>
          </a:bodyPr>
          <a:lstStyle/>
          <a:p>
            <a:pPr marL="0" indent="0">
              <a:buNone/>
            </a:pPr>
            <a:r>
              <a:rPr lang="es-CO" sz="2400" b="1" dirty="0"/>
              <a:t>FUNDAMENTO TEORICO – PRACTICO</a:t>
            </a:r>
            <a:r>
              <a:rPr lang="es-CO" sz="2400" dirty="0"/>
              <a:t>.</a:t>
            </a:r>
          </a:p>
          <a:p>
            <a:pPr marL="0" indent="0" algn="just">
              <a:buNone/>
            </a:pPr>
            <a:r>
              <a:rPr lang="es-MX" sz="2400" dirty="0"/>
              <a:t>Los objetos también pueden ser utilizados como elementos de un arreglo o de una matriz, pero su uso tiene que ser más cuidadoso que el de un dato primitivo (</a:t>
            </a:r>
            <a:r>
              <a:rPr lang="es-MX" sz="2400" b="1" dirty="0"/>
              <a:t>int, double, char, etc</a:t>
            </a:r>
            <a:r>
              <a:rPr lang="es-MX" sz="2400" dirty="0"/>
              <a:t>), pues un objeto contiene valores y métodos que toma de la clase que lo representa.</a:t>
            </a:r>
            <a:endParaRPr lang="es-CO" sz="2400" dirty="0"/>
          </a:p>
          <a:p>
            <a:r>
              <a:rPr lang="es-MX" sz="2400" dirty="0"/>
              <a:t>Un arreglo de una dimensión de objetos se define como:</a:t>
            </a:r>
            <a:endParaRPr lang="es-CO" sz="2400" dirty="0"/>
          </a:p>
          <a:p>
            <a:pPr marL="0" indent="0">
              <a:buNone/>
            </a:pPr>
            <a:r>
              <a:rPr lang="es-MX" sz="2400" dirty="0"/>
              <a:t>	</a:t>
            </a:r>
            <a:r>
              <a:rPr lang="es-MX" sz="2400" i="1" dirty="0"/>
              <a:t>Clase nombre_arreglo [] = new Clase[</a:t>
            </a:r>
            <a:r>
              <a:rPr lang="es-MX" sz="2400" b="1" i="1" dirty="0"/>
              <a:t>tamaño</a:t>
            </a:r>
            <a:r>
              <a:rPr lang="es-MX" sz="2400" i="1" dirty="0"/>
              <a:t>];</a:t>
            </a:r>
            <a:endParaRPr lang="es-CO" sz="2400" i="1" dirty="0"/>
          </a:p>
          <a:p>
            <a:r>
              <a:rPr lang="es-MX" sz="2400" dirty="0"/>
              <a:t>Un arreglo de dos dimensiones de objetos se define como:</a:t>
            </a:r>
            <a:endParaRPr lang="es-CO" sz="2400" dirty="0"/>
          </a:p>
          <a:p>
            <a:pPr marL="0" indent="0">
              <a:buNone/>
            </a:pPr>
            <a:r>
              <a:rPr lang="es-MX" sz="2400" dirty="0"/>
              <a:t>	</a:t>
            </a:r>
            <a:r>
              <a:rPr lang="es-MX" sz="2400" i="1" dirty="0"/>
              <a:t>Clase nombre_arreglo [][] = new Clase[</a:t>
            </a:r>
            <a:r>
              <a:rPr lang="es-MX" sz="2400" b="1" i="1" dirty="0"/>
              <a:t>tamaño-renglones</a:t>
            </a:r>
            <a:r>
              <a:rPr lang="es-MX" sz="2400" i="1" dirty="0"/>
              <a:t>][</a:t>
            </a:r>
            <a:r>
              <a:rPr lang="es-MX" sz="2400" b="1" i="1" dirty="0"/>
              <a:t>tamaño-columnas</a:t>
            </a:r>
            <a:r>
              <a:rPr lang="es-MX" sz="2400" i="1" dirty="0"/>
              <a:t>];</a:t>
            </a:r>
            <a:endParaRPr lang="es-CO" sz="2400" i="1" dirty="0"/>
          </a:p>
        </p:txBody>
      </p:sp>
      <p:sp>
        <p:nvSpPr>
          <p:cNvPr id="6" name="Título 1"/>
          <p:cNvSpPr txBox="1">
            <a:spLocks/>
          </p:cNvSpPr>
          <p:nvPr/>
        </p:nvSpPr>
        <p:spPr>
          <a:xfrm>
            <a:off x="1376361" y="600074"/>
            <a:ext cx="7043739" cy="88582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MX" dirty="0"/>
              <a:t>Arreglos de Objetos</a:t>
            </a:r>
            <a:endParaRPr lang="es-CO" dirty="0">
              <a:latin typeface="Times New Roman" panose="02020603050405020304" pitchFamily="18" charset="0"/>
              <a:cs typeface="Times New Roman" panose="02020603050405020304" pitchFamily="18" charset="0"/>
            </a:endParaRPr>
          </a:p>
          <a:p>
            <a:endParaRPr lang="es-CO"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861381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61975" y="1343025"/>
            <a:ext cx="11068049" cy="4991100"/>
          </a:xfrm>
        </p:spPr>
        <p:style>
          <a:lnRef idx="1">
            <a:schemeClr val="accent3"/>
          </a:lnRef>
          <a:fillRef idx="2">
            <a:schemeClr val="accent3"/>
          </a:fillRef>
          <a:effectRef idx="1">
            <a:schemeClr val="accent3"/>
          </a:effectRef>
          <a:fontRef idx="minor">
            <a:schemeClr val="dk1"/>
          </a:fontRef>
        </p:style>
        <p:txBody>
          <a:bodyPr>
            <a:noAutofit/>
          </a:bodyPr>
          <a:lstStyle/>
          <a:p>
            <a:pPr marL="0" indent="0">
              <a:buNone/>
            </a:pPr>
            <a:r>
              <a:rPr lang="es-CO" sz="2000" b="1" dirty="0"/>
              <a:t>FUNDAMENTO TEORICO – PRACTICO</a:t>
            </a:r>
            <a:r>
              <a:rPr lang="es-CO" sz="2000" dirty="0"/>
              <a:t>.</a:t>
            </a:r>
          </a:p>
          <a:p>
            <a:r>
              <a:rPr lang="es-MX" sz="2400" dirty="0"/>
              <a:t>Algunos </a:t>
            </a:r>
            <a:r>
              <a:rPr lang="es-MX" sz="2400" b="1" dirty="0"/>
              <a:t>ejemplos</a:t>
            </a:r>
            <a:r>
              <a:rPr lang="es-MX" sz="2400" dirty="0"/>
              <a:t> pueden ser:</a:t>
            </a:r>
            <a:endParaRPr lang="es-CO" sz="2400" dirty="0"/>
          </a:p>
          <a:p>
            <a:pPr marL="0" indent="0">
              <a:buNone/>
            </a:pPr>
            <a:r>
              <a:rPr lang="es-MX" sz="2400" dirty="0">
                <a:solidFill>
                  <a:srgbClr val="FF0000"/>
                </a:solidFill>
              </a:rPr>
              <a:t>    //define un arreglo de 10 objetos de la clase Cuenta</a:t>
            </a:r>
            <a:endParaRPr lang="es-CO" sz="2400" dirty="0">
              <a:solidFill>
                <a:srgbClr val="FF0000"/>
              </a:solidFill>
            </a:endParaRPr>
          </a:p>
          <a:p>
            <a:pPr marL="0" indent="0">
              <a:buNone/>
            </a:pPr>
            <a:r>
              <a:rPr lang="es-MX" sz="2400" dirty="0"/>
              <a:t>	Cuenta arreglo[] = new Cuenta[10];</a:t>
            </a:r>
            <a:endParaRPr lang="es-CO" sz="2400" dirty="0"/>
          </a:p>
          <a:p>
            <a:r>
              <a:rPr lang="es-MX" sz="2400" dirty="0">
                <a:solidFill>
                  <a:srgbClr val="FF0000"/>
                </a:solidFill>
              </a:rPr>
              <a:t>//define un arreglo de 3 renglones y 4 columnas de la clase Persona</a:t>
            </a:r>
            <a:endParaRPr lang="es-CO" sz="2400" dirty="0">
              <a:solidFill>
                <a:srgbClr val="FF0000"/>
              </a:solidFill>
            </a:endParaRPr>
          </a:p>
          <a:p>
            <a:pPr marL="0" indent="0">
              <a:buNone/>
            </a:pPr>
            <a:r>
              <a:rPr lang="es-MX" sz="2400" dirty="0"/>
              <a:t>	Persona arreglo[][] = new Persona[3][4];</a:t>
            </a:r>
          </a:p>
          <a:p>
            <a:r>
              <a:rPr lang="es-MX" sz="2400" dirty="0">
                <a:solidFill>
                  <a:srgbClr val="FF0000"/>
                </a:solidFill>
              </a:rPr>
              <a:t>define un arreglo para posteriormente hacer la asignación del tamaño.</a:t>
            </a:r>
          </a:p>
          <a:p>
            <a:pPr marL="0" indent="0">
              <a:buNone/>
            </a:pPr>
            <a:r>
              <a:rPr lang="es-MX" sz="2400" dirty="0">
                <a:solidFill>
                  <a:srgbClr val="FF0000"/>
                </a:solidFill>
              </a:rPr>
              <a:t>	</a:t>
            </a:r>
            <a:r>
              <a:rPr lang="es-MX" sz="2400" dirty="0"/>
              <a:t> Cuenta arreglo[] ;</a:t>
            </a:r>
            <a:endParaRPr lang="es-CO" sz="2400" dirty="0"/>
          </a:p>
        </p:txBody>
      </p:sp>
      <p:sp>
        <p:nvSpPr>
          <p:cNvPr id="6" name="Título 1"/>
          <p:cNvSpPr txBox="1">
            <a:spLocks/>
          </p:cNvSpPr>
          <p:nvPr/>
        </p:nvSpPr>
        <p:spPr>
          <a:xfrm>
            <a:off x="1376361" y="600074"/>
            <a:ext cx="7043739" cy="88582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MX" dirty="0"/>
              <a:t>Arreglos de Objetos</a:t>
            </a:r>
            <a:endParaRPr lang="es-CO" dirty="0">
              <a:latin typeface="Times New Roman" panose="02020603050405020304" pitchFamily="18" charset="0"/>
              <a:cs typeface="Times New Roman" panose="02020603050405020304" pitchFamily="18" charset="0"/>
            </a:endParaRPr>
          </a:p>
          <a:p>
            <a:endParaRPr lang="es-CO"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873693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61975" y="1343025"/>
            <a:ext cx="11068049" cy="4991100"/>
          </a:xfrm>
        </p:spPr>
        <p:style>
          <a:lnRef idx="1">
            <a:schemeClr val="accent3"/>
          </a:lnRef>
          <a:fillRef idx="2">
            <a:schemeClr val="accent3"/>
          </a:fillRef>
          <a:effectRef idx="1">
            <a:schemeClr val="accent3"/>
          </a:effectRef>
          <a:fontRef idx="minor">
            <a:schemeClr val="dk1"/>
          </a:fontRef>
        </p:style>
        <p:txBody>
          <a:bodyPr>
            <a:noAutofit/>
          </a:bodyPr>
          <a:lstStyle/>
          <a:p>
            <a:pPr marL="0" indent="0">
              <a:buNone/>
            </a:pPr>
            <a:r>
              <a:rPr lang="es-CO" sz="2000" b="1" dirty="0"/>
              <a:t>FUNDAMENTO TEORICO – PRACTICO</a:t>
            </a:r>
            <a:r>
              <a:rPr lang="es-CO" sz="2000" dirty="0"/>
              <a:t>.</a:t>
            </a:r>
          </a:p>
          <a:p>
            <a:pPr marL="0" indent="0">
              <a:buNone/>
            </a:pPr>
            <a:r>
              <a:rPr lang="es-MX" sz="2400" dirty="0">
                <a:solidFill>
                  <a:srgbClr val="FF0000"/>
                </a:solidFill>
              </a:rPr>
              <a:t>	//define un arreglo con el valor de los atributos contantes.</a:t>
            </a:r>
          </a:p>
          <a:p>
            <a:pPr marL="0" lvl="0" indent="0" eaLnBrk="0" fontAlgn="base" hangingPunct="0">
              <a:spcBef>
                <a:spcPct val="0"/>
              </a:spcBef>
              <a:spcAft>
                <a:spcPct val="0"/>
              </a:spcAft>
              <a:buNone/>
            </a:pPr>
            <a:r>
              <a:rPr lang="es-MX" altLang="es-CO" sz="2400" dirty="0">
                <a:solidFill>
                  <a:srgbClr val="FF0000"/>
                </a:solidFill>
              </a:rPr>
              <a:t>	</a:t>
            </a:r>
            <a:r>
              <a:rPr lang="es-CO" altLang="es-CO" sz="2400" dirty="0">
                <a:solidFill>
                  <a:srgbClr val="000000"/>
                </a:solidFill>
                <a:latin typeface="Monaco"/>
              </a:rPr>
              <a:t>arrayObjetos[</a:t>
            </a:r>
            <a:r>
              <a:rPr lang="es-CO" altLang="es-CO" sz="2400" dirty="0">
                <a:solidFill>
                  <a:srgbClr val="009900"/>
                </a:solidFill>
                <a:latin typeface="Monaco"/>
              </a:rPr>
              <a:t>0</a:t>
            </a:r>
            <a:r>
              <a:rPr lang="es-CO" altLang="es-CO" sz="2400" dirty="0">
                <a:solidFill>
                  <a:srgbClr val="000000"/>
                </a:solidFill>
                <a:latin typeface="Monaco"/>
              </a:rPr>
              <a:t>]=</a:t>
            </a:r>
            <a:r>
              <a:rPr lang="es-CO" altLang="es-CO" sz="2400" b="1" dirty="0">
                <a:solidFill>
                  <a:srgbClr val="7F0055"/>
                </a:solidFill>
                <a:latin typeface="Monaco"/>
              </a:rPr>
              <a:t>new</a:t>
            </a:r>
            <a:r>
              <a:rPr lang="es-CO" altLang="es-CO" sz="2400" dirty="0">
                <a:solidFill>
                  <a:srgbClr val="767676"/>
                </a:solidFill>
                <a:latin typeface="Monaco"/>
              </a:rPr>
              <a:t> </a:t>
            </a:r>
            <a:r>
              <a:rPr lang="es-CO" altLang="es-CO" sz="2400" dirty="0">
                <a:solidFill>
                  <a:srgbClr val="000000"/>
                </a:solidFill>
                <a:latin typeface="Monaco"/>
              </a:rPr>
              <a:t>Empleado(</a:t>
            </a:r>
            <a:r>
              <a:rPr lang="es-CO" altLang="es-CO" sz="2400" dirty="0">
                <a:solidFill>
                  <a:srgbClr val="2A00FF"/>
                </a:solidFill>
                <a:latin typeface="Monaco"/>
              </a:rPr>
              <a:t>"Fernando"</a:t>
            </a:r>
            <a:r>
              <a:rPr lang="es-CO" altLang="es-CO" sz="2400" dirty="0">
                <a:solidFill>
                  <a:srgbClr val="000000"/>
                </a:solidFill>
                <a:latin typeface="Monaco"/>
              </a:rPr>
              <a:t>, </a:t>
            </a:r>
            <a:r>
              <a:rPr lang="es-CO" altLang="es-CO" sz="2400" dirty="0">
                <a:solidFill>
                  <a:srgbClr val="2A00FF"/>
                </a:solidFill>
                <a:latin typeface="Monaco"/>
              </a:rPr>
              <a:t>"Ureña"</a:t>
            </a:r>
            <a:r>
              <a:rPr lang="es-CO" altLang="es-CO" sz="2400" dirty="0">
                <a:solidFill>
                  <a:srgbClr val="000000"/>
                </a:solidFill>
                <a:latin typeface="Monaco"/>
              </a:rPr>
              <a:t>, </a:t>
            </a:r>
            <a:r>
              <a:rPr lang="es-CO" altLang="es-CO" sz="2400" dirty="0">
                <a:solidFill>
                  <a:srgbClr val="009900"/>
                </a:solidFill>
                <a:latin typeface="Monaco"/>
              </a:rPr>
              <a:t>23</a:t>
            </a:r>
            <a:r>
              <a:rPr lang="es-CO" altLang="es-CO" sz="2400" dirty="0">
                <a:solidFill>
                  <a:srgbClr val="000000"/>
                </a:solidFill>
                <a:latin typeface="Monaco"/>
              </a:rPr>
              <a:t>, </a:t>
            </a:r>
            <a:r>
              <a:rPr lang="es-CO" altLang="es-CO" sz="2400" dirty="0">
                <a:solidFill>
                  <a:srgbClr val="009900"/>
                </a:solidFill>
                <a:latin typeface="Monaco"/>
              </a:rPr>
              <a:t>1000</a:t>
            </a:r>
            <a:r>
              <a:rPr lang="es-CO" altLang="es-CO" sz="2400" dirty="0">
                <a:solidFill>
                  <a:srgbClr val="000000"/>
                </a:solidFill>
                <a:latin typeface="Monaco"/>
              </a:rPr>
              <a:t>);</a:t>
            </a:r>
            <a:r>
              <a:rPr lang="es-CO" altLang="es-CO" sz="2000" dirty="0"/>
              <a:t> </a:t>
            </a:r>
          </a:p>
          <a:p>
            <a:pPr eaLnBrk="0" fontAlgn="base" hangingPunct="0">
              <a:spcBef>
                <a:spcPct val="0"/>
              </a:spcBef>
              <a:spcAft>
                <a:spcPct val="0"/>
              </a:spcAft>
            </a:pPr>
            <a:endParaRPr lang="es-CO" dirty="0">
              <a:solidFill>
                <a:srgbClr val="FF0000"/>
              </a:solidFill>
            </a:endParaRPr>
          </a:p>
          <a:p>
            <a:pPr eaLnBrk="0" fontAlgn="base" hangingPunct="0">
              <a:spcBef>
                <a:spcPct val="0"/>
              </a:spcBef>
              <a:spcAft>
                <a:spcPct val="0"/>
              </a:spcAft>
            </a:pPr>
            <a:r>
              <a:rPr lang="es-CO" dirty="0">
                <a:solidFill>
                  <a:srgbClr val="FF0000"/>
                </a:solidFill>
              </a:rPr>
              <a:t>Gestión eficiente de la memoria.</a:t>
            </a:r>
            <a:endParaRPr lang="es-CO" altLang="es-CO" sz="4000" dirty="0">
              <a:latin typeface="Arial" panose="020B0604020202020204" pitchFamily="34" charset="0"/>
            </a:endParaRPr>
          </a:p>
          <a:p>
            <a:pPr lvl="0" eaLnBrk="0" fontAlgn="base" hangingPunct="0">
              <a:spcBef>
                <a:spcPct val="0"/>
              </a:spcBef>
              <a:spcAft>
                <a:spcPct val="0"/>
              </a:spcAft>
            </a:pPr>
            <a:endParaRPr lang="es-CO" altLang="es-CO" sz="3600" dirty="0">
              <a:latin typeface="Arial" panose="020B0604020202020204" pitchFamily="34" charset="0"/>
            </a:endParaRPr>
          </a:p>
        </p:txBody>
      </p:sp>
      <p:sp>
        <p:nvSpPr>
          <p:cNvPr id="6" name="Título 1"/>
          <p:cNvSpPr txBox="1">
            <a:spLocks/>
          </p:cNvSpPr>
          <p:nvPr/>
        </p:nvSpPr>
        <p:spPr>
          <a:xfrm>
            <a:off x="1376361" y="600074"/>
            <a:ext cx="7043739" cy="88582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MX" dirty="0"/>
              <a:t>Arreglos </a:t>
            </a:r>
            <a:r>
              <a:rPr lang="es-419" dirty="0"/>
              <a:t>de Objetos</a:t>
            </a:r>
            <a:endParaRPr lang="es-CO" dirty="0">
              <a:latin typeface="Times New Roman" panose="02020603050405020304" pitchFamily="18" charset="0"/>
              <a:cs typeface="Times New Roman" panose="02020603050405020304" pitchFamily="18" charset="0"/>
            </a:endParaRPr>
          </a:p>
          <a:p>
            <a:endParaRPr lang="es-CO" dirty="0">
              <a:latin typeface="Times New Roman" panose="02020603050405020304" pitchFamily="18" charset="0"/>
              <a:cs typeface="Times New Roman" panose="02020603050405020304" pitchFamily="18" charset="0"/>
            </a:endParaRPr>
          </a:p>
        </p:txBody>
      </p:sp>
      <p:pic>
        <p:nvPicPr>
          <p:cNvPr id="4" name="Picture 2" descr="https://jagonzalez.org/wp-content/uploads/2013/04/Diferencia-Arreglo-de-Objetos-y-Arreglo-de-datos-Primitivo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4552" y="3586794"/>
            <a:ext cx="8322893" cy="2671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5665622"/>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61975" y="1343025"/>
            <a:ext cx="11068049" cy="4991100"/>
          </a:xfrm>
        </p:spPr>
        <p:style>
          <a:lnRef idx="1">
            <a:schemeClr val="accent3"/>
          </a:lnRef>
          <a:fillRef idx="2">
            <a:schemeClr val="accent3"/>
          </a:fillRef>
          <a:effectRef idx="1">
            <a:schemeClr val="accent3"/>
          </a:effectRef>
          <a:fontRef idx="minor">
            <a:schemeClr val="dk1"/>
          </a:fontRef>
        </p:style>
        <p:txBody>
          <a:bodyPr>
            <a:noAutofit/>
          </a:bodyPr>
          <a:lstStyle/>
          <a:p>
            <a:pPr marL="0" indent="0">
              <a:buNone/>
            </a:pPr>
            <a:r>
              <a:rPr lang="es-CO" b="1" dirty="0"/>
              <a:t>¿Cómo crear un arreglo de objetos?</a:t>
            </a:r>
          </a:p>
          <a:p>
            <a:pPr marL="0" indent="0">
              <a:buNone/>
            </a:pPr>
            <a:r>
              <a:rPr lang="es-CO" sz="2600" dirty="0"/>
              <a:t>// pedimos cada valor para crear un objeto cuenta </a:t>
            </a:r>
          </a:p>
          <a:p>
            <a:pPr marL="0" indent="0">
              <a:buNone/>
            </a:pPr>
            <a:r>
              <a:rPr lang="es-CO" sz="2600" dirty="0" err="1"/>
              <a:t>for</a:t>
            </a:r>
            <a:r>
              <a:rPr lang="es-CO" sz="2600" dirty="0"/>
              <a:t> (int i=0; i&lt;n; i++) </a:t>
            </a:r>
            <a:r>
              <a:rPr lang="es-CO" sz="2600" dirty="0">
                <a:solidFill>
                  <a:srgbClr val="FF0000"/>
                </a:solidFill>
              </a:rPr>
              <a:t>{</a:t>
            </a:r>
          </a:p>
          <a:p>
            <a:pPr marL="914400" lvl="2" indent="0">
              <a:buNone/>
            </a:pPr>
            <a:r>
              <a:rPr lang="es-CO" dirty="0" err="1">
                <a:solidFill>
                  <a:schemeClr val="accent6">
                    <a:lumMod val="75000"/>
                  </a:schemeClr>
                </a:solidFill>
              </a:rPr>
              <a:t>System.out.print</a:t>
            </a:r>
            <a:r>
              <a:rPr lang="es-CO" dirty="0"/>
              <a:t>(</a:t>
            </a:r>
            <a:r>
              <a:rPr lang="es-CO" dirty="0">
                <a:solidFill>
                  <a:srgbClr val="FF0000"/>
                </a:solidFill>
              </a:rPr>
              <a:t>“Ingresa el numero de la cuenta “</a:t>
            </a:r>
            <a:r>
              <a:rPr lang="es-CO" dirty="0"/>
              <a:t> + (i+1)+ </a:t>
            </a:r>
            <a:r>
              <a:rPr lang="es-CO" dirty="0">
                <a:solidFill>
                  <a:srgbClr val="FF0000"/>
                </a:solidFill>
              </a:rPr>
              <a:t>“ : “</a:t>
            </a:r>
            <a:r>
              <a:rPr lang="es-CO" dirty="0"/>
              <a:t>);</a:t>
            </a:r>
          </a:p>
          <a:p>
            <a:pPr marL="914400" lvl="2" indent="0">
              <a:buNone/>
            </a:pPr>
            <a:r>
              <a:rPr lang="es-CO" dirty="0"/>
              <a:t>numero = </a:t>
            </a:r>
            <a:r>
              <a:rPr lang="es-CO" dirty="0" err="1">
                <a:solidFill>
                  <a:schemeClr val="accent1">
                    <a:lumMod val="75000"/>
                  </a:schemeClr>
                </a:solidFill>
              </a:rPr>
              <a:t>Integer.parseInt</a:t>
            </a:r>
            <a:r>
              <a:rPr lang="es-CO" dirty="0"/>
              <a:t>(</a:t>
            </a:r>
            <a:r>
              <a:rPr lang="es-CO" dirty="0" err="1"/>
              <a:t>in.readLine</a:t>
            </a:r>
            <a:r>
              <a:rPr lang="es-CO" dirty="0"/>
              <a:t>());</a:t>
            </a:r>
          </a:p>
          <a:p>
            <a:pPr marL="914400" lvl="2" indent="0">
              <a:buNone/>
            </a:pPr>
            <a:r>
              <a:rPr lang="es-CO" dirty="0" err="1">
                <a:solidFill>
                  <a:schemeClr val="accent6">
                    <a:lumMod val="75000"/>
                  </a:schemeClr>
                </a:solidFill>
              </a:rPr>
              <a:t>System.out.print</a:t>
            </a:r>
            <a:r>
              <a:rPr lang="es-CO" dirty="0"/>
              <a:t>(</a:t>
            </a:r>
            <a:r>
              <a:rPr lang="es-CO" dirty="0">
                <a:solidFill>
                  <a:srgbClr val="FF0000"/>
                </a:solidFill>
              </a:rPr>
              <a:t>“Ingresa el nombre del titular de la cuenta “</a:t>
            </a:r>
            <a:r>
              <a:rPr lang="es-CO" dirty="0"/>
              <a:t> + (i+1)+ </a:t>
            </a:r>
            <a:r>
              <a:rPr lang="es-CO" dirty="0">
                <a:solidFill>
                  <a:srgbClr val="FF0000"/>
                </a:solidFill>
              </a:rPr>
              <a:t>“ : “</a:t>
            </a:r>
            <a:r>
              <a:rPr lang="es-CO" dirty="0"/>
              <a:t>);</a:t>
            </a:r>
          </a:p>
          <a:p>
            <a:pPr marL="914400" lvl="2" indent="0">
              <a:buNone/>
            </a:pPr>
            <a:r>
              <a:rPr lang="es-CO" dirty="0"/>
              <a:t>nombre = </a:t>
            </a:r>
            <a:r>
              <a:rPr lang="es-CO" dirty="0" err="1"/>
              <a:t>in.readLine</a:t>
            </a:r>
            <a:r>
              <a:rPr lang="es-CO" dirty="0"/>
              <a:t>();</a:t>
            </a:r>
          </a:p>
          <a:p>
            <a:pPr marL="914400" lvl="2" indent="0">
              <a:buNone/>
            </a:pPr>
            <a:r>
              <a:rPr lang="es-CO" dirty="0" err="1">
                <a:solidFill>
                  <a:schemeClr val="accent6">
                    <a:lumMod val="75000"/>
                  </a:schemeClr>
                </a:solidFill>
              </a:rPr>
              <a:t>System.out.print</a:t>
            </a:r>
            <a:r>
              <a:rPr lang="es-CO" dirty="0"/>
              <a:t>(</a:t>
            </a:r>
            <a:r>
              <a:rPr lang="es-CO" dirty="0">
                <a:solidFill>
                  <a:srgbClr val="FF0000"/>
                </a:solidFill>
              </a:rPr>
              <a:t>“Ingresa el saldo de la cuenta “ </a:t>
            </a:r>
            <a:r>
              <a:rPr lang="es-CO" dirty="0"/>
              <a:t>+ (i+1)+ </a:t>
            </a:r>
            <a:r>
              <a:rPr lang="es-CO" dirty="0">
                <a:solidFill>
                  <a:srgbClr val="FF0000"/>
                </a:solidFill>
              </a:rPr>
              <a:t>“ : “</a:t>
            </a:r>
            <a:r>
              <a:rPr lang="es-CO" dirty="0"/>
              <a:t>);</a:t>
            </a:r>
          </a:p>
          <a:p>
            <a:pPr marL="914400" lvl="2" indent="0">
              <a:buNone/>
            </a:pPr>
            <a:r>
              <a:rPr lang="es-CO" dirty="0"/>
              <a:t>saldo = </a:t>
            </a:r>
            <a:r>
              <a:rPr lang="es-CO" dirty="0" err="1">
                <a:solidFill>
                  <a:schemeClr val="accent1">
                    <a:lumMod val="75000"/>
                  </a:schemeClr>
                </a:solidFill>
              </a:rPr>
              <a:t>Double.parseDouble</a:t>
            </a:r>
            <a:r>
              <a:rPr lang="es-CO" dirty="0"/>
              <a:t>(</a:t>
            </a:r>
            <a:r>
              <a:rPr lang="es-CO" dirty="0" err="1"/>
              <a:t>in.readLine</a:t>
            </a:r>
            <a:r>
              <a:rPr lang="es-CO" dirty="0"/>
              <a:t>());</a:t>
            </a:r>
          </a:p>
          <a:p>
            <a:pPr marL="914400" lvl="2" indent="0">
              <a:buNone/>
            </a:pPr>
            <a:r>
              <a:rPr lang="es-CO" dirty="0"/>
              <a:t>// se crea el objeto de la clase Cuenta como elemento del arreglo</a:t>
            </a:r>
          </a:p>
          <a:p>
            <a:pPr marL="914400" lvl="2" indent="0">
              <a:buNone/>
            </a:pPr>
            <a:r>
              <a:rPr lang="es-CO" dirty="0"/>
              <a:t>arreglo [i] = </a:t>
            </a:r>
            <a:r>
              <a:rPr lang="es-CO" dirty="0">
                <a:solidFill>
                  <a:srgbClr val="FF0000"/>
                </a:solidFill>
              </a:rPr>
              <a:t>new</a:t>
            </a:r>
            <a:r>
              <a:rPr lang="es-CO" dirty="0"/>
              <a:t> Cuenta(numero, nombre, saldo);</a:t>
            </a:r>
          </a:p>
          <a:p>
            <a:pPr marL="0" indent="0">
              <a:buNone/>
            </a:pPr>
            <a:r>
              <a:rPr lang="es-CO" sz="2600" dirty="0"/>
              <a:t>       </a:t>
            </a:r>
            <a:r>
              <a:rPr lang="es-CO" sz="2600" dirty="0">
                <a:solidFill>
                  <a:srgbClr val="FF0000"/>
                </a:solidFill>
              </a:rPr>
              <a:t> }</a:t>
            </a:r>
            <a:endParaRPr lang="es-CO" altLang="es-CO" sz="3600" dirty="0">
              <a:latin typeface="Arial" panose="020B0604020202020204" pitchFamily="34" charset="0"/>
            </a:endParaRPr>
          </a:p>
        </p:txBody>
      </p:sp>
      <p:sp>
        <p:nvSpPr>
          <p:cNvPr id="6" name="Título 1"/>
          <p:cNvSpPr txBox="1">
            <a:spLocks/>
          </p:cNvSpPr>
          <p:nvPr/>
        </p:nvSpPr>
        <p:spPr>
          <a:xfrm>
            <a:off x="1376361" y="600074"/>
            <a:ext cx="7043739" cy="88582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MX" dirty="0"/>
              <a:t>Arreglos </a:t>
            </a:r>
            <a:r>
              <a:rPr lang="es-419" dirty="0"/>
              <a:t>de Objetos</a:t>
            </a:r>
            <a:endParaRPr lang="es-CO" dirty="0">
              <a:latin typeface="Times New Roman" panose="02020603050405020304" pitchFamily="18" charset="0"/>
              <a:cs typeface="Times New Roman" panose="02020603050405020304" pitchFamily="18" charset="0"/>
            </a:endParaRPr>
          </a:p>
          <a:p>
            <a:endParaRPr lang="es-CO"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6337871"/>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61975" y="1343025"/>
            <a:ext cx="11068049" cy="4991100"/>
          </a:xfrm>
        </p:spPr>
        <p:style>
          <a:lnRef idx="1">
            <a:schemeClr val="accent3"/>
          </a:lnRef>
          <a:fillRef idx="2">
            <a:schemeClr val="accent3"/>
          </a:fillRef>
          <a:effectRef idx="1">
            <a:schemeClr val="accent3"/>
          </a:effectRef>
          <a:fontRef idx="minor">
            <a:schemeClr val="dk1"/>
          </a:fontRef>
        </p:style>
        <p:txBody>
          <a:bodyPr>
            <a:noAutofit/>
          </a:bodyPr>
          <a:lstStyle/>
          <a:p>
            <a:pPr marL="0" indent="0">
              <a:buNone/>
            </a:pPr>
            <a:r>
              <a:rPr lang="es-CO" b="1" dirty="0"/>
              <a:t>¿Cómo desplegar un arreglo de objetos?</a:t>
            </a:r>
          </a:p>
          <a:p>
            <a:pPr marL="0" indent="0">
              <a:buNone/>
            </a:pPr>
            <a:r>
              <a:rPr lang="es-MX" sz="2400" dirty="0"/>
              <a:t>// para desplegar los datos del arreglo de cuentas</a:t>
            </a:r>
            <a:endParaRPr lang="es-CO" sz="2400" dirty="0"/>
          </a:p>
          <a:p>
            <a:pPr marL="0" indent="0">
              <a:buNone/>
            </a:pPr>
            <a:r>
              <a:rPr lang="es-CO" sz="2600" dirty="0" err="1">
                <a:solidFill>
                  <a:schemeClr val="accent6"/>
                </a:solidFill>
              </a:rPr>
              <a:t>System.out.println</a:t>
            </a:r>
            <a:r>
              <a:rPr lang="es-CO" sz="2600" dirty="0">
                <a:solidFill>
                  <a:srgbClr val="FF0000"/>
                </a:solidFill>
              </a:rPr>
              <a:t>(“Numero     	Nombre         	  Saldo”);</a:t>
            </a:r>
          </a:p>
          <a:p>
            <a:pPr marL="457200" lvl="1" indent="0">
              <a:buNone/>
            </a:pPr>
            <a:r>
              <a:rPr lang="es-CO" sz="2800" dirty="0" err="1"/>
              <a:t>for</a:t>
            </a:r>
            <a:r>
              <a:rPr lang="es-CO" sz="2800" dirty="0"/>
              <a:t> (Cuenta objeto: arreglo) {</a:t>
            </a:r>
          </a:p>
          <a:p>
            <a:pPr marL="914400" lvl="2" indent="0">
              <a:buNone/>
            </a:pPr>
            <a:r>
              <a:rPr lang="es-CO" sz="2400" dirty="0" err="1">
                <a:solidFill>
                  <a:schemeClr val="accent1">
                    <a:lumMod val="75000"/>
                  </a:schemeClr>
                </a:solidFill>
              </a:rPr>
              <a:t>System.out.println</a:t>
            </a:r>
            <a:r>
              <a:rPr lang="es-CO" sz="2400" dirty="0"/>
              <a:t>(“ “ + </a:t>
            </a:r>
            <a:r>
              <a:rPr lang="es-CO" sz="2400" dirty="0" err="1"/>
              <a:t>objeto.getNumero</a:t>
            </a:r>
            <a:r>
              <a:rPr lang="es-CO" sz="2400" dirty="0"/>
              <a:t>() + “ “ +</a:t>
            </a:r>
          </a:p>
          <a:p>
            <a:pPr marL="914400" lvl="2" indent="0">
              <a:buNone/>
            </a:pPr>
            <a:r>
              <a:rPr lang="es-CO" sz="2400" dirty="0" err="1"/>
              <a:t>objeto.getNombre</a:t>
            </a:r>
            <a:r>
              <a:rPr lang="es-CO" sz="2400" dirty="0"/>
              <a:t>() + “ “ + </a:t>
            </a:r>
            <a:r>
              <a:rPr lang="es-CO" sz="2400" dirty="0" err="1"/>
              <a:t>objeto.getSaldo</a:t>
            </a:r>
            <a:r>
              <a:rPr lang="es-CO" sz="2400" dirty="0"/>
              <a:t>());</a:t>
            </a:r>
          </a:p>
          <a:p>
            <a:pPr marL="457200" lvl="1" indent="0">
              <a:buNone/>
            </a:pPr>
            <a:r>
              <a:rPr lang="es-CO" sz="2800" dirty="0"/>
              <a:t>        }</a:t>
            </a:r>
          </a:p>
          <a:p>
            <a:pPr marL="457200" lvl="1" indent="0">
              <a:buNone/>
            </a:pPr>
            <a:r>
              <a:rPr lang="es-CO" sz="2800" dirty="0"/>
              <a:t>}</a:t>
            </a:r>
          </a:p>
          <a:p>
            <a:pPr marL="457200" lvl="1" indent="0">
              <a:buNone/>
            </a:pPr>
            <a:endParaRPr lang="es-419" sz="2800" dirty="0"/>
          </a:p>
          <a:p>
            <a:pPr marL="457200" lvl="1" indent="0">
              <a:buNone/>
            </a:pPr>
            <a:r>
              <a:rPr lang="es-419" sz="2800" b="1" dirty="0"/>
              <a:t>Sálida:</a:t>
            </a:r>
            <a:r>
              <a:rPr lang="es-419" sz="2800" dirty="0"/>
              <a:t> </a:t>
            </a:r>
            <a:endParaRPr lang="es-CO" sz="2800" dirty="0"/>
          </a:p>
        </p:txBody>
      </p:sp>
      <p:sp>
        <p:nvSpPr>
          <p:cNvPr id="6" name="Título 1"/>
          <p:cNvSpPr txBox="1">
            <a:spLocks/>
          </p:cNvSpPr>
          <p:nvPr/>
        </p:nvSpPr>
        <p:spPr>
          <a:xfrm>
            <a:off x="1376361" y="600074"/>
            <a:ext cx="7043739" cy="88582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MX" dirty="0"/>
              <a:t>Arreglos </a:t>
            </a:r>
            <a:r>
              <a:rPr lang="es-419" dirty="0"/>
              <a:t>de Objetos</a:t>
            </a:r>
            <a:endParaRPr lang="es-CO" dirty="0">
              <a:latin typeface="Times New Roman" panose="02020603050405020304" pitchFamily="18" charset="0"/>
              <a:cs typeface="Times New Roman" panose="02020603050405020304" pitchFamily="18" charset="0"/>
            </a:endParaRPr>
          </a:p>
          <a:p>
            <a:endParaRPr lang="es-CO" dirty="0">
              <a:latin typeface="Times New Roman" panose="02020603050405020304" pitchFamily="18" charset="0"/>
              <a:cs typeface="Times New Roman" panose="02020603050405020304" pitchFamily="18" charset="0"/>
            </a:endParaRPr>
          </a:p>
        </p:txBody>
      </p:sp>
      <p:graphicFrame>
        <p:nvGraphicFramePr>
          <p:cNvPr id="4" name="Tabla 3"/>
          <p:cNvGraphicFramePr>
            <a:graphicFrameLocks noGrp="1"/>
          </p:cNvGraphicFramePr>
          <p:nvPr>
            <p:extLst>
              <p:ext uri="{D42A27DB-BD31-4B8C-83A1-F6EECF244321}">
                <p14:modId xmlns:p14="http://schemas.microsoft.com/office/powerpoint/2010/main" val="3496722558"/>
              </p:ext>
            </p:extLst>
          </p:nvPr>
        </p:nvGraphicFramePr>
        <p:xfrm>
          <a:off x="2222499" y="4997768"/>
          <a:ext cx="8127999" cy="11125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gridCol w="2709333">
                  <a:extLst>
                    <a:ext uri="{9D8B030D-6E8A-4147-A177-3AD203B41FA5}">
                      <a16:colId xmlns:a16="http://schemas.microsoft.com/office/drawing/2014/main" val="20002"/>
                    </a:ext>
                  </a:extLst>
                </a:gridCol>
              </a:tblGrid>
              <a:tr h="370840">
                <a:tc>
                  <a:txBody>
                    <a:bodyPr/>
                    <a:lstStyle/>
                    <a:p>
                      <a:pPr algn="ctr"/>
                      <a:r>
                        <a:rPr lang="es-CO" dirty="0"/>
                        <a:t>Numero</a:t>
                      </a:r>
                    </a:p>
                  </a:txBody>
                  <a:tcPr/>
                </a:tc>
                <a:tc>
                  <a:txBody>
                    <a:bodyPr/>
                    <a:lstStyle/>
                    <a:p>
                      <a:pPr algn="ctr"/>
                      <a:r>
                        <a:rPr lang="es-CO" dirty="0"/>
                        <a:t>Nombre</a:t>
                      </a:r>
                    </a:p>
                  </a:txBody>
                  <a:tcPr/>
                </a:tc>
                <a:tc>
                  <a:txBody>
                    <a:bodyPr/>
                    <a:lstStyle/>
                    <a:p>
                      <a:pPr algn="ctr"/>
                      <a:r>
                        <a:rPr lang="es-CO" dirty="0"/>
                        <a:t>Saldo</a:t>
                      </a:r>
                    </a:p>
                  </a:txBody>
                  <a:tcPr/>
                </a:tc>
                <a:extLst>
                  <a:ext uri="{0D108BD9-81ED-4DB2-BD59-A6C34878D82A}">
                    <a16:rowId xmlns:a16="http://schemas.microsoft.com/office/drawing/2014/main" val="10000"/>
                  </a:ext>
                </a:extLst>
              </a:tr>
              <a:tr h="370840">
                <a:tc>
                  <a:txBody>
                    <a:bodyPr/>
                    <a:lstStyle/>
                    <a:p>
                      <a:pPr algn="ctr"/>
                      <a:r>
                        <a:rPr lang="es-CO" dirty="0"/>
                        <a:t>0101</a:t>
                      </a:r>
                    </a:p>
                  </a:txBody>
                  <a:tcPr/>
                </a:tc>
                <a:tc>
                  <a:txBody>
                    <a:bodyPr/>
                    <a:lstStyle/>
                    <a:p>
                      <a:pPr algn="ctr"/>
                      <a:r>
                        <a:rPr lang="es-CO" dirty="0"/>
                        <a:t>JUAN PERTUZ</a:t>
                      </a:r>
                    </a:p>
                  </a:txBody>
                  <a:tcPr/>
                </a:tc>
                <a:tc>
                  <a:txBody>
                    <a:bodyPr/>
                    <a:lstStyle/>
                    <a:p>
                      <a:pPr algn="ctr"/>
                      <a:r>
                        <a:rPr lang="es-CO" dirty="0"/>
                        <a:t>50,000</a:t>
                      </a:r>
                    </a:p>
                  </a:txBody>
                  <a:tcPr/>
                </a:tc>
                <a:extLst>
                  <a:ext uri="{0D108BD9-81ED-4DB2-BD59-A6C34878D82A}">
                    <a16:rowId xmlns:a16="http://schemas.microsoft.com/office/drawing/2014/main" val="10001"/>
                  </a:ext>
                </a:extLst>
              </a:tr>
              <a:tr h="370840">
                <a:tc>
                  <a:txBody>
                    <a:bodyPr/>
                    <a:lstStyle/>
                    <a:p>
                      <a:pPr algn="ctr"/>
                      <a:r>
                        <a:rPr lang="es-CO" dirty="0"/>
                        <a:t>0102</a:t>
                      </a:r>
                    </a:p>
                  </a:txBody>
                  <a:tcPr/>
                </a:tc>
                <a:tc>
                  <a:txBody>
                    <a:bodyPr/>
                    <a:lstStyle/>
                    <a:p>
                      <a:pPr algn="ctr"/>
                      <a:r>
                        <a:rPr lang="es-CO" dirty="0"/>
                        <a:t>MARIA RODRIGUEZ</a:t>
                      </a:r>
                    </a:p>
                  </a:txBody>
                  <a:tcPr/>
                </a:tc>
                <a:tc>
                  <a:txBody>
                    <a:bodyPr/>
                    <a:lstStyle/>
                    <a:p>
                      <a:pPr algn="ctr"/>
                      <a:r>
                        <a:rPr lang="es-CO" dirty="0"/>
                        <a:t>100,000</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517857472"/>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61975" y="1343025"/>
            <a:ext cx="11068049" cy="4991100"/>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a:buNone/>
            </a:pPr>
            <a:r>
              <a:rPr lang="es-MX" b="1" dirty="0"/>
              <a:t>Búsqueda en un Arreglo de Objetos</a:t>
            </a:r>
          </a:p>
          <a:p>
            <a:pPr marL="0" indent="0" algn="just">
              <a:buNone/>
            </a:pPr>
            <a:r>
              <a:rPr lang="es-MX" sz="2400" dirty="0"/>
              <a:t>La búsqueda de algún elemento en un arreglo de objetos es muy utilizada, debemos tener cuidado cuando utilizamos un arreglo de objetos, ya que al tomar uno de los elementos del arreglo, estamos tomando realmente un objeto y entonces debemos utilizar los métodos de la clase para poder acceder a las variables de instancia del objeto que queremos encontrar. Por </a:t>
            </a:r>
            <a:r>
              <a:rPr lang="es-MX" sz="2400" b="1" dirty="0"/>
              <a:t>ejemplo: </a:t>
            </a:r>
          </a:p>
          <a:p>
            <a:pPr marL="457200" lvl="1" indent="0">
              <a:buNone/>
            </a:pPr>
            <a:endParaRPr lang="es-419" sz="2800" dirty="0"/>
          </a:p>
        </p:txBody>
      </p:sp>
      <p:sp>
        <p:nvSpPr>
          <p:cNvPr id="6" name="Título 1"/>
          <p:cNvSpPr txBox="1">
            <a:spLocks/>
          </p:cNvSpPr>
          <p:nvPr/>
        </p:nvSpPr>
        <p:spPr>
          <a:xfrm>
            <a:off x="1376361" y="600074"/>
            <a:ext cx="7043739" cy="88582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MX" dirty="0"/>
              <a:t>Arreglos </a:t>
            </a:r>
            <a:r>
              <a:rPr lang="es-419" dirty="0"/>
              <a:t>de Objetos</a:t>
            </a:r>
            <a:endParaRPr lang="es-CO" dirty="0">
              <a:latin typeface="Times New Roman" panose="02020603050405020304" pitchFamily="18" charset="0"/>
              <a:cs typeface="Times New Roman" panose="02020603050405020304" pitchFamily="18" charset="0"/>
            </a:endParaRPr>
          </a:p>
          <a:p>
            <a:endParaRPr lang="es-CO" dirty="0">
              <a:latin typeface="Times New Roman" panose="02020603050405020304" pitchFamily="18" charset="0"/>
              <a:cs typeface="Times New Roman" panose="02020603050405020304" pitchFamily="18" charset="0"/>
            </a:endParaRPr>
          </a:p>
        </p:txBody>
      </p:sp>
      <p:graphicFrame>
        <p:nvGraphicFramePr>
          <p:cNvPr id="5" name="Tabla 4"/>
          <p:cNvGraphicFramePr>
            <a:graphicFrameLocks noGrp="1"/>
          </p:cNvGraphicFramePr>
          <p:nvPr>
            <p:extLst>
              <p:ext uri="{D42A27DB-BD31-4B8C-83A1-F6EECF244321}">
                <p14:modId xmlns:p14="http://schemas.microsoft.com/office/powerpoint/2010/main" val="529931901"/>
              </p:ext>
            </p:extLst>
          </p:nvPr>
        </p:nvGraphicFramePr>
        <p:xfrm>
          <a:off x="2535617" y="4014511"/>
          <a:ext cx="8128002" cy="111252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20000"/>
                    </a:ext>
                  </a:extLst>
                </a:gridCol>
                <a:gridCol w="1354667">
                  <a:extLst>
                    <a:ext uri="{9D8B030D-6E8A-4147-A177-3AD203B41FA5}">
                      <a16:colId xmlns:a16="http://schemas.microsoft.com/office/drawing/2014/main" val="20001"/>
                    </a:ext>
                  </a:extLst>
                </a:gridCol>
                <a:gridCol w="1354667">
                  <a:extLst>
                    <a:ext uri="{9D8B030D-6E8A-4147-A177-3AD203B41FA5}">
                      <a16:colId xmlns:a16="http://schemas.microsoft.com/office/drawing/2014/main" val="20002"/>
                    </a:ext>
                  </a:extLst>
                </a:gridCol>
                <a:gridCol w="1354667">
                  <a:extLst>
                    <a:ext uri="{9D8B030D-6E8A-4147-A177-3AD203B41FA5}">
                      <a16:colId xmlns:a16="http://schemas.microsoft.com/office/drawing/2014/main" val="20003"/>
                    </a:ext>
                  </a:extLst>
                </a:gridCol>
                <a:gridCol w="1354667">
                  <a:extLst>
                    <a:ext uri="{9D8B030D-6E8A-4147-A177-3AD203B41FA5}">
                      <a16:colId xmlns:a16="http://schemas.microsoft.com/office/drawing/2014/main" val="20004"/>
                    </a:ext>
                  </a:extLst>
                </a:gridCol>
                <a:gridCol w="1354667">
                  <a:extLst>
                    <a:ext uri="{9D8B030D-6E8A-4147-A177-3AD203B41FA5}">
                      <a16:colId xmlns:a16="http://schemas.microsoft.com/office/drawing/2014/main" val="20005"/>
                    </a:ext>
                  </a:extLst>
                </a:gridCol>
              </a:tblGrid>
              <a:tr h="370840">
                <a:tc>
                  <a:txBody>
                    <a:bodyPr/>
                    <a:lstStyle/>
                    <a:p>
                      <a:r>
                        <a:rPr lang="es-CO" dirty="0"/>
                        <a:t>JUAN</a:t>
                      </a:r>
                    </a:p>
                  </a:txBody>
                  <a:tcPr/>
                </a:tc>
                <a:tc>
                  <a:txBody>
                    <a:bodyPr/>
                    <a:lstStyle/>
                    <a:p>
                      <a:r>
                        <a:rPr lang="es-CO" dirty="0"/>
                        <a:t>PEDRO</a:t>
                      </a:r>
                    </a:p>
                  </a:txBody>
                  <a:tcPr/>
                </a:tc>
                <a:tc>
                  <a:txBody>
                    <a:bodyPr/>
                    <a:lstStyle/>
                    <a:p>
                      <a:r>
                        <a:rPr lang="es-CO" dirty="0"/>
                        <a:t>MARIA</a:t>
                      </a:r>
                    </a:p>
                  </a:txBody>
                  <a:tcPr/>
                </a:tc>
                <a:tc>
                  <a:txBody>
                    <a:bodyPr/>
                    <a:lstStyle/>
                    <a:p>
                      <a:r>
                        <a:rPr lang="es-CO" dirty="0"/>
                        <a:t>JAIME</a:t>
                      </a:r>
                    </a:p>
                  </a:txBody>
                  <a:tcPr/>
                </a:tc>
                <a:tc>
                  <a:txBody>
                    <a:bodyPr/>
                    <a:lstStyle/>
                    <a:p>
                      <a:r>
                        <a:rPr lang="es-CO" dirty="0"/>
                        <a:t>DERNA</a:t>
                      </a:r>
                    </a:p>
                  </a:txBody>
                  <a:tcPr/>
                </a:tc>
                <a:tc>
                  <a:txBody>
                    <a:bodyPr/>
                    <a:lstStyle/>
                    <a:p>
                      <a:r>
                        <a:rPr lang="es-CO" dirty="0"/>
                        <a:t>PABLO</a:t>
                      </a:r>
                    </a:p>
                  </a:txBody>
                  <a:tcPr/>
                </a:tc>
                <a:extLst>
                  <a:ext uri="{0D108BD9-81ED-4DB2-BD59-A6C34878D82A}">
                    <a16:rowId xmlns:a16="http://schemas.microsoft.com/office/drawing/2014/main" val="10000"/>
                  </a:ext>
                </a:extLst>
              </a:tr>
              <a:tr h="370840">
                <a:tc>
                  <a:txBody>
                    <a:bodyPr/>
                    <a:lstStyle/>
                    <a:p>
                      <a:r>
                        <a:rPr lang="es-CO" dirty="0"/>
                        <a:t>0102</a:t>
                      </a:r>
                    </a:p>
                  </a:txBody>
                  <a:tcPr/>
                </a:tc>
                <a:tc>
                  <a:txBody>
                    <a:bodyPr/>
                    <a:lstStyle/>
                    <a:p>
                      <a:r>
                        <a:rPr lang="es-CO" dirty="0"/>
                        <a:t>0103</a:t>
                      </a:r>
                    </a:p>
                  </a:txBody>
                  <a:tcPr/>
                </a:tc>
                <a:tc>
                  <a:txBody>
                    <a:bodyPr/>
                    <a:lstStyle/>
                    <a:p>
                      <a:r>
                        <a:rPr lang="es-CO" dirty="0"/>
                        <a:t>0103</a:t>
                      </a:r>
                    </a:p>
                  </a:txBody>
                  <a:tcPr/>
                </a:tc>
                <a:tc>
                  <a:txBody>
                    <a:bodyPr/>
                    <a:lstStyle/>
                    <a:p>
                      <a:r>
                        <a:rPr lang="es-CO" dirty="0"/>
                        <a:t>0105</a:t>
                      </a:r>
                    </a:p>
                  </a:txBody>
                  <a:tcPr/>
                </a:tc>
                <a:tc>
                  <a:txBody>
                    <a:bodyPr/>
                    <a:lstStyle/>
                    <a:p>
                      <a:r>
                        <a:rPr lang="es-CO" dirty="0"/>
                        <a:t>0106</a:t>
                      </a:r>
                    </a:p>
                  </a:txBody>
                  <a:tcPr/>
                </a:tc>
                <a:tc>
                  <a:txBody>
                    <a:bodyPr/>
                    <a:lstStyle/>
                    <a:p>
                      <a:r>
                        <a:rPr lang="es-CO" dirty="0"/>
                        <a:t>0107</a:t>
                      </a:r>
                    </a:p>
                  </a:txBody>
                  <a:tcPr/>
                </a:tc>
                <a:extLst>
                  <a:ext uri="{0D108BD9-81ED-4DB2-BD59-A6C34878D82A}">
                    <a16:rowId xmlns:a16="http://schemas.microsoft.com/office/drawing/2014/main" val="10001"/>
                  </a:ext>
                </a:extLst>
              </a:tr>
              <a:tr h="370840">
                <a:tc>
                  <a:txBody>
                    <a:bodyPr/>
                    <a:lstStyle/>
                    <a:p>
                      <a:r>
                        <a:rPr lang="es-CO" dirty="0"/>
                        <a:t>50,000</a:t>
                      </a:r>
                    </a:p>
                  </a:txBody>
                  <a:tcPr/>
                </a:tc>
                <a:tc>
                  <a:txBody>
                    <a:bodyPr/>
                    <a:lstStyle/>
                    <a:p>
                      <a:r>
                        <a:rPr lang="es-CO" dirty="0"/>
                        <a:t>60,000</a:t>
                      </a:r>
                    </a:p>
                  </a:txBody>
                  <a:tcPr/>
                </a:tc>
                <a:tc>
                  <a:txBody>
                    <a:bodyPr/>
                    <a:lstStyle/>
                    <a:p>
                      <a:r>
                        <a:rPr lang="es-CO" dirty="0"/>
                        <a:t>120,000</a:t>
                      </a:r>
                    </a:p>
                  </a:txBody>
                  <a:tcPr/>
                </a:tc>
                <a:tc>
                  <a:txBody>
                    <a:bodyPr/>
                    <a:lstStyle/>
                    <a:p>
                      <a:r>
                        <a:rPr lang="es-CO" dirty="0"/>
                        <a:t>200,000</a:t>
                      </a:r>
                    </a:p>
                  </a:txBody>
                  <a:tcPr/>
                </a:tc>
                <a:tc>
                  <a:txBody>
                    <a:bodyPr/>
                    <a:lstStyle/>
                    <a:p>
                      <a:r>
                        <a:rPr lang="es-CO" dirty="0"/>
                        <a:t>10,000</a:t>
                      </a:r>
                    </a:p>
                  </a:txBody>
                  <a:tcPr/>
                </a:tc>
                <a:tc>
                  <a:txBody>
                    <a:bodyPr/>
                    <a:lstStyle/>
                    <a:p>
                      <a:r>
                        <a:rPr lang="es-CO" dirty="0"/>
                        <a:t>66,000</a:t>
                      </a:r>
                    </a:p>
                  </a:txBody>
                  <a:tcPr/>
                </a:tc>
                <a:extLst>
                  <a:ext uri="{0D108BD9-81ED-4DB2-BD59-A6C34878D82A}">
                    <a16:rowId xmlns:a16="http://schemas.microsoft.com/office/drawing/2014/main" val="10002"/>
                  </a:ext>
                </a:extLst>
              </a:tr>
            </a:tbl>
          </a:graphicData>
        </a:graphic>
      </p:graphicFrame>
      <p:sp>
        <p:nvSpPr>
          <p:cNvPr id="7" name="CuadroTexto 6"/>
          <p:cNvSpPr txBox="1"/>
          <p:nvPr/>
        </p:nvSpPr>
        <p:spPr>
          <a:xfrm>
            <a:off x="2821814" y="3681211"/>
            <a:ext cx="580608" cy="369332"/>
          </a:xfrm>
          <a:prstGeom prst="rect">
            <a:avLst/>
          </a:prstGeom>
          <a:noFill/>
        </p:spPr>
        <p:txBody>
          <a:bodyPr wrap="none" rtlCol="0">
            <a:spAutoFit/>
          </a:bodyPr>
          <a:lstStyle/>
          <a:p>
            <a:r>
              <a:rPr lang="es-CO" b="1" dirty="0">
                <a:solidFill>
                  <a:srgbClr val="FF0000"/>
                </a:solidFill>
              </a:rPr>
              <a:t>I = 0</a:t>
            </a:r>
          </a:p>
        </p:txBody>
      </p:sp>
      <p:sp>
        <p:nvSpPr>
          <p:cNvPr id="8" name="CuadroTexto 7"/>
          <p:cNvSpPr txBox="1"/>
          <p:nvPr/>
        </p:nvSpPr>
        <p:spPr>
          <a:xfrm>
            <a:off x="4019534" y="3681211"/>
            <a:ext cx="583814" cy="369332"/>
          </a:xfrm>
          <a:prstGeom prst="rect">
            <a:avLst/>
          </a:prstGeom>
          <a:noFill/>
        </p:spPr>
        <p:txBody>
          <a:bodyPr wrap="none" rtlCol="0">
            <a:spAutoFit/>
          </a:bodyPr>
          <a:lstStyle/>
          <a:p>
            <a:r>
              <a:rPr lang="es-CO" b="1" dirty="0">
                <a:solidFill>
                  <a:srgbClr val="FF0000"/>
                </a:solidFill>
              </a:rPr>
              <a:t>I = 1</a:t>
            </a:r>
          </a:p>
        </p:txBody>
      </p:sp>
      <p:sp>
        <p:nvSpPr>
          <p:cNvPr id="9" name="CuadroTexto 8"/>
          <p:cNvSpPr txBox="1"/>
          <p:nvPr/>
        </p:nvSpPr>
        <p:spPr>
          <a:xfrm>
            <a:off x="5356806" y="3681211"/>
            <a:ext cx="583814" cy="369332"/>
          </a:xfrm>
          <a:prstGeom prst="rect">
            <a:avLst/>
          </a:prstGeom>
          <a:noFill/>
        </p:spPr>
        <p:txBody>
          <a:bodyPr wrap="none" rtlCol="0">
            <a:spAutoFit/>
          </a:bodyPr>
          <a:lstStyle/>
          <a:p>
            <a:r>
              <a:rPr lang="es-CO" b="1" dirty="0">
                <a:solidFill>
                  <a:srgbClr val="FF0000"/>
                </a:solidFill>
              </a:rPr>
              <a:t>I = 2</a:t>
            </a:r>
          </a:p>
        </p:txBody>
      </p:sp>
      <p:sp>
        <p:nvSpPr>
          <p:cNvPr id="10" name="CuadroTexto 9"/>
          <p:cNvSpPr txBox="1"/>
          <p:nvPr/>
        </p:nvSpPr>
        <p:spPr>
          <a:xfrm>
            <a:off x="6694078" y="3681211"/>
            <a:ext cx="583814" cy="369332"/>
          </a:xfrm>
          <a:prstGeom prst="rect">
            <a:avLst/>
          </a:prstGeom>
          <a:noFill/>
        </p:spPr>
        <p:txBody>
          <a:bodyPr wrap="none" rtlCol="0">
            <a:spAutoFit/>
          </a:bodyPr>
          <a:lstStyle/>
          <a:p>
            <a:r>
              <a:rPr lang="es-CO" b="1" dirty="0">
                <a:solidFill>
                  <a:srgbClr val="FF0000"/>
                </a:solidFill>
              </a:rPr>
              <a:t>I = 3</a:t>
            </a:r>
          </a:p>
        </p:txBody>
      </p:sp>
      <p:sp>
        <p:nvSpPr>
          <p:cNvPr id="11" name="CuadroTexto 10"/>
          <p:cNvSpPr txBox="1"/>
          <p:nvPr/>
        </p:nvSpPr>
        <p:spPr>
          <a:xfrm>
            <a:off x="8019521" y="3681211"/>
            <a:ext cx="583814" cy="369332"/>
          </a:xfrm>
          <a:prstGeom prst="rect">
            <a:avLst/>
          </a:prstGeom>
          <a:noFill/>
        </p:spPr>
        <p:txBody>
          <a:bodyPr wrap="none" rtlCol="0">
            <a:spAutoFit/>
          </a:bodyPr>
          <a:lstStyle/>
          <a:p>
            <a:r>
              <a:rPr lang="es-CO" b="1" dirty="0">
                <a:solidFill>
                  <a:srgbClr val="FF0000"/>
                </a:solidFill>
              </a:rPr>
              <a:t>I = 4</a:t>
            </a:r>
          </a:p>
        </p:txBody>
      </p:sp>
      <p:sp>
        <p:nvSpPr>
          <p:cNvPr id="12" name="CuadroTexto 11"/>
          <p:cNvSpPr txBox="1"/>
          <p:nvPr/>
        </p:nvSpPr>
        <p:spPr>
          <a:xfrm>
            <a:off x="9338517" y="3681211"/>
            <a:ext cx="583814" cy="369332"/>
          </a:xfrm>
          <a:prstGeom prst="rect">
            <a:avLst/>
          </a:prstGeom>
          <a:noFill/>
        </p:spPr>
        <p:txBody>
          <a:bodyPr wrap="none" rtlCol="0">
            <a:spAutoFit/>
          </a:bodyPr>
          <a:lstStyle/>
          <a:p>
            <a:r>
              <a:rPr lang="es-CO" b="1" dirty="0">
                <a:solidFill>
                  <a:srgbClr val="FF0000"/>
                </a:solidFill>
              </a:rPr>
              <a:t>I = 5</a:t>
            </a:r>
          </a:p>
        </p:txBody>
      </p:sp>
      <p:sp>
        <p:nvSpPr>
          <p:cNvPr id="13" name="CuadroTexto 12"/>
          <p:cNvSpPr txBox="1"/>
          <p:nvPr/>
        </p:nvSpPr>
        <p:spPr>
          <a:xfrm>
            <a:off x="996726" y="3969028"/>
            <a:ext cx="965970" cy="369332"/>
          </a:xfrm>
          <a:prstGeom prst="rect">
            <a:avLst/>
          </a:prstGeom>
          <a:noFill/>
        </p:spPr>
        <p:txBody>
          <a:bodyPr wrap="none" rtlCol="0">
            <a:spAutoFit/>
          </a:bodyPr>
          <a:lstStyle/>
          <a:p>
            <a:r>
              <a:rPr lang="es-CO" b="1" dirty="0">
                <a:solidFill>
                  <a:srgbClr val="FF0000"/>
                </a:solidFill>
              </a:rPr>
              <a:t>Nombre</a:t>
            </a:r>
          </a:p>
        </p:txBody>
      </p:sp>
      <p:sp>
        <p:nvSpPr>
          <p:cNvPr id="14" name="CuadroTexto 13"/>
          <p:cNvSpPr txBox="1"/>
          <p:nvPr/>
        </p:nvSpPr>
        <p:spPr>
          <a:xfrm>
            <a:off x="996726" y="4338360"/>
            <a:ext cx="858377" cy="369332"/>
          </a:xfrm>
          <a:prstGeom prst="rect">
            <a:avLst/>
          </a:prstGeom>
          <a:noFill/>
        </p:spPr>
        <p:txBody>
          <a:bodyPr wrap="none" rtlCol="0">
            <a:spAutoFit/>
          </a:bodyPr>
          <a:lstStyle/>
          <a:p>
            <a:r>
              <a:rPr lang="es-CO" b="1" dirty="0">
                <a:solidFill>
                  <a:srgbClr val="FF0000"/>
                </a:solidFill>
              </a:rPr>
              <a:t>Cuenta</a:t>
            </a:r>
          </a:p>
        </p:txBody>
      </p:sp>
      <p:sp>
        <p:nvSpPr>
          <p:cNvPr id="15" name="CuadroTexto 14"/>
          <p:cNvSpPr txBox="1"/>
          <p:nvPr/>
        </p:nvSpPr>
        <p:spPr>
          <a:xfrm>
            <a:off x="996726" y="4707692"/>
            <a:ext cx="710451" cy="369332"/>
          </a:xfrm>
          <a:prstGeom prst="rect">
            <a:avLst/>
          </a:prstGeom>
          <a:noFill/>
        </p:spPr>
        <p:txBody>
          <a:bodyPr wrap="none" rtlCol="0">
            <a:spAutoFit/>
          </a:bodyPr>
          <a:lstStyle/>
          <a:p>
            <a:r>
              <a:rPr lang="es-CO" b="1" dirty="0">
                <a:solidFill>
                  <a:srgbClr val="FF0000"/>
                </a:solidFill>
              </a:rPr>
              <a:t>Saldo</a:t>
            </a:r>
          </a:p>
        </p:txBody>
      </p:sp>
      <p:cxnSp>
        <p:nvCxnSpPr>
          <p:cNvPr id="16" name="Conector recto de flecha 15"/>
          <p:cNvCxnSpPr/>
          <p:nvPr/>
        </p:nvCxnSpPr>
        <p:spPr>
          <a:xfrm>
            <a:off x="1962696" y="4153694"/>
            <a:ext cx="64017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recto de flecha 16"/>
          <p:cNvCxnSpPr/>
          <p:nvPr/>
        </p:nvCxnSpPr>
        <p:spPr>
          <a:xfrm>
            <a:off x="1962696" y="4523026"/>
            <a:ext cx="64017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17"/>
          <p:cNvCxnSpPr/>
          <p:nvPr/>
        </p:nvCxnSpPr>
        <p:spPr>
          <a:xfrm>
            <a:off x="1949817" y="4899055"/>
            <a:ext cx="64017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CuadroTexto 18"/>
          <p:cNvSpPr txBox="1"/>
          <p:nvPr/>
        </p:nvSpPr>
        <p:spPr>
          <a:xfrm>
            <a:off x="2548273" y="5361246"/>
            <a:ext cx="4251172" cy="369332"/>
          </a:xfrm>
          <a:prstGeom prst="rect">
            <a:avLst/>
          </a:prstGeom>
          <a:noFill/>
        </p:spPr>
        <p:txBody>
          <a:bodyPr wrap="square" rtlCol="0">
            <a:spAutoFit/>
          </a:bodyPr>
          <a:lstStyle/>
          <a:p>
            <a:r>
              <a:rPr lang="es-CO" b="1" dirty="0">
                <a:solidFill>
                  <a:srgbClr val="FF0000"/>
                </a:solidFill>
              </a:rPr>
              <a:t>numCuenta = Arreglo[I].getCuenta();</a:t>
            </a:r>
          </a:p>
        </p:txBody>
      </p:sp>
    </p:spTree>
    <p:extLst>
      <p:ext uri="{BB962C8B-B14F-4D97-AF65-F5344CB8AC3E}">
        <p14:creationId xmlns:p14="http://schemas.microsoft.com/office/powerpoint/2010/main" val="2027730571"/>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61975" y="1276350"/>
            <a:ext cx="11068049" cy="5057775"/>
          </a:xfrm>
        </p:spPr>
        <p:style>
          <a:lnRef idx="1">
            <a:schemeClr val="accent3"/>
          </a:lnRef>
          <a:fillRef idx="2">
            <a:schemeClr val="accent3"/>
          </a:fillRef>
          <a:effectRef idx="1">
            <a:schemeClr val="accent3"/>
          </a:effectRef>
          <a:fontRef idx="minor">
            <a:schemeClr val="dk1"/>
          </a:fontRef>
        </p:style>
        <p:txBody>
          <a:bodyPr>
            <a:noAutofit/>
          </a:bodyPr>
          <a:lstStyle/>
          <a:p>
            <a:pPr marL="0" indent="0" algn="just">
              <a:buNone/>
            </a:pPr>
            <a:r>
              <a:rPr lang="es-MX" sz="2400" b="1" dirty="0"/>
              <a:t>¿Cómo hacer una búsqueda en un arreglo de objetos?</a:t>
            </a:r>
          </a:p>
          <a:p>
            <a:pPr marL="0" indent="0">
              <a:buNone/>
            </a:pPr>
            <a:r>
              <a:rPr lang="es-MX" sz="2400" dirty="0"/>
              <a:t>// buscamos en cada objeto Cuenta del arreglo</a:t>
            </a:r>
          </a:p>
          <a:p>
            <a:pPr marL="0" indent="0">
              <a:buNone/>
            </a:pPr>
            <a:r>
              <a:rPr lang="es-MX" sz="2000" dirty="0"/>
              <a:t>        </a:t>
            </a:r>
            <a:r>
              <a:rPr lang="es-MX" sz="2000" dirty="0" err="1"/>
              <a:t>System.out.println</a:t>
            </a:r>
            <a:r>
              <a:rPr lang="es-MX" sz="2000" dirty="0"/>
              <a:t>("¿Arriba de cual saldo?");</a:t>
            </a:r>
            <a:endParaRPr lang="es-CO" sz="2000" dirty="0"/>
          </a:p>
          <a:p>
            <a:pPr marL="0" indent="0">
              <a:buNone/>
            </a:pPr>
            <a:r>
              <a:rPr lang="es-MX" sz="2000" dirty="0"/>
              <a:t>        double saldo = </a:t>
            </a:r>
            <a:r>
              <a:rPr lang="es-MX" sz="2000" dirty="0" err="1"/>
              <a:t>Double.parseDouble</a:t>
            </a:r>
            <a:r>
              <a:rPr lang="es-MX" sz="2000" dirty="0"/>
              <a:t>(</a:t>
            </a:r>
            <a:r>
              <a:rPr lang="es-MX" sz="2000" dirty="0" err="1"/>
              <a:t>in.readLine</a:t>
            </a:r>
            <a:r>
              <a:rPr lang="es-MX" sz="2000" dirty="0"/>
              <a:t>());</a:t>
            </a:r>
            <a:endParaRPr lang="es-CO" sz="2000" dirty="0"/>
          </a:p>
          <a:p>
            <a:pPr marL="0" indent="0">
              <a:buNone/>
            </a:pPr>
            <a:r>
              <a:rPr lang="es-MX" sz="2000" dirty="0"/>
              <a:t>        </a:t>
            </a:r>
            <a:r>
              <a:rPr lang="es-MX" sz="2000" dirty="0" err="1"/>
              <a:t>for</a:t>
            </a:r>
            <a:r>
              <a:rPr lang="es-MX" sz="2000" dirty="0"/>
              <a:t> (Cuenta objeto : arreglo) {</a:t>
            </a:r>
            <a:endParaRPr lang="es-CO" sz="2000" dirty="0"/>
          </a:p>
          <a:p>
            <a:pPr marL="0" indent="0">
              <a:buNone/>
            </a:pPr>
            <a:r>
              <a:rPr lang="es-MX" sz="2000" dirty="0"/>
              <a:t>			</a:t>
            </a:r>
            <a:r>
              <a:rPr lang="es-MX" sz="2000" dirty="0" err="1"/>
              <a:t>if</a:t>
            </a:r>
            <a:r>
              <a:rPr lang="es-MX" sz="2000" dirty="0"/>
              <a:t> (</a:t>
            </a:r>
            <a:r>
              <a:rPr lang="es-MX" sz="2000" dirty="0" err="1"/>
              <a:t>objeto.getSaldo</a:t>
            </a:r>
            <a:r>
              <a:rPr lang="es-MX" sz="2000" dirty="0"/>
              <a:t>() &gt;= saldo) {</a:t>
            </a:r>
            <a:endParaRPr lang="es-CO" sz="2000" dirty="0"/>
          </a:p>
          <a:p>
            <a:pPr marL="0" indent="0">
              <a:buNone/>
            </a:pPr>
            <a:r>
              <a:rPr lang="es-MX" sz="2000" dirty="0"/>
              <a:t>				</a:t>
            </a:r>
            <a:r>
              <a:rPr lang="es-MX" sz="2000" dirty="0" err="1">
                <a:solidFill>
                  <a:schemeClr val="accent6"/>
                </a:solidFill>
              </a:rPr>
              <a:t>System.out.println</a:t>
            </a:r>
            <a:r>
              <a:rPr lang="es-MX" sz="2000" dirty="0"/>
              <a:t>(</a:t>
            </a:r>
            <a:r>
              <a:rPr lang="es-MX" sz="2000" dirty="0">
                <a:solidFill>
                  <a:srgbClr val="FF0000"/>
                </a:solidFill>
              </a:rPr>
              <a:t>" Nombre " </a:t>
            </a:r>
            <a:r>
              <a:rPr lang="es-MX" sz="2000" dirty="0"/>
              <a:t>+ 			  		                          </a:t>
            </a:r>
            <a:r>
              <a:rPr lang="es-MX" sz="2000" dirty="0" err="1"/>
              <a:t>objeto.obtenNombre</a:t>
            </a:r>
            <a:r>
              <a:rPr lang="es-MX" sz="2000" dirty="0"/>
              <a:t>() +</a:t>
            </a:r>
            <a:endParaRPr lang="es-CO" sz="2000" dirty="0"/>
          </a:p>
          <a:p>
            <a:pPr marL="0" indent="0">
              <a:buNone/>
            </a:pPr>
            <a:r>
              <a:rPr lang="es-MX" sz="2000" dirty="0"/>
              <a:t>				</a:t>
            </a:r>
            <a:r>
              <a:rPr lang="es-MX" sz="2000" dirty="0">
                <a:solidFill>
                  <a:srgbClr val="FF0000"/>
                </a:solidFill>
              </a:rPr>
              <a:t>  " Cuenta " </a:t>
            </a:r>
            <a:r>
              <a:rPr lang="es-MX" sz="2000" dirty="0"/>
              <a:t>+  </a:t>
            </a:r>
            <a:r>
              <a:rPr lang="es-MX" sz="2000" dirty="0" err="1"/>
              <a:t>objeto.obtenNumero</a:t>
            </a:r>
            <a:r>
              <a:rPr lang="es-MX" sz="2000" dirty="0"/>
              <a:t>() +</a:t>
            </a:r>
            <a:endParaRPr lang="es-CO" sz="2000" dirty="0"/>
          </a:p>
          <a:p>
            <a:pPr marL="0" indent="0">
              <a:buNone/>
            </a:pPr>
            <a:r>
              <a:rPr lang="es-MX" sz="2000" dirty="0"/>
              <a:t>				  </a:t>
            </a:r>
            <a:r>
              <a:rPr lang="es-ES" sz="2000" dirty="0">
                <a:solidFill>
                  <a:srgbClr val="FF0000"/>
                </a:solidFill>
              </a:rPr>
              <a:t>" Saldo " </a:t>
            </a:r>
            <a:r>
              <a:rPr lang="es-ES" sz="2000" dirty="0"/>
              <a:t>+ </a:t>
            </a:r>
            <a:r>
              <a:rPr lang="es-ES" sz="2000" dirty="0" err="1"/>
              <a:t>objeto.obtenSaldo</a:t>
            </a:r>
            <a:r>
              <a:rPr lang="es-ES" sz="2000" dirty="0"/>
              <a:t>());</a:t>
            </a:r>
            <a:endParaRPr lang="es-CO" sz="2000" dirty="0"/>
          </a:p>
          <a:p>
            <a:pPr marL="0" indent="0">
              <a:buNone/>
            </a:pPr>
            <a:r>
              <a:rPr lang="es-ES" sz="2000" dirty="0"/>
              <a:t>			</a:t>
            </a:r>
            <a:r>
              <a:rPr lang="en-US" sz="2000" dirty="0"/>
              <a:t>}</a:t>
            </a:r>
            <a:endParaRPr lang="es-CO" sz="2000" dirty="0"/>
          </a:p>
          <a:p>
            <a:pPr marL="0" indent="0">
              <a:buNone/>
            </a:pPr>
            <a:r>
              <a:rPr lang="en-US" sz="2000" dirty="0"/>
              <a:t>       }</a:t>
            </a:r>
            <a:endParaRPr lang="es-419" sz="2000" dirty="0"/>
          </a:p>
        </p:txBody>
      </p:sp>
      <p:sp>
        <p:nvSpPr>
          <p:cNvPr id="6" name="Título 1"/>
          <p:cNvSpPr txBox="1">
            <a:spLocks/>
          </p:cNvSpPr>
          <p:nvPr/>
        </p:nvSpPr>
        <p:spPr>
          <a:xfrm>
            <a:off x="1376361" y="600074"/>
            <a:ext cx="7043739" cy="88582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MX" dirty="0"/>
              <a:t>Arreglos </a:t>
            </a:r>
            <a:r>
              <a:rPr lang="es-419" dirty="0"/>
              <a:t>de Objetos</a:t>
            </a:r>
            <a:endParaRPr lang="es-CO" dirty="0">
              <a:latin typeface="Times New Roman" panose="02020603050405020304" pitchFamily="18" charset="0"/>
              <a:cs typeface="Times New Roman" panose="02020603050405020304" pitchFamily="18" charset="0"/>
            </a:endParaRPr>
          </a:p>
          <a:p>
            <a:endParaRPr lang="es-CO"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0824172"/>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2891978" y="2283719"/>
            <a:ext cx="6207617" cy="1569660"/>
          </a:xfrm>
          <a:prstGeom prst="rect">
            <a:avLst/>
          </a:prstGeom>
          <a:noFill/>
        </p:spPr>
        <p:txBody>
          <a:bodyPr wrap="square" rtlCol="0">
            <a:spAutoFit/>
          </a:bodyPr>
          <a:lstStyle/>
          <a:p>
            <a:r>
              <a:rPr lang="es-ES" sz="9600" dirty="0"/>
              <a:t>GRACIAS!!</a:t>
            </a:r>
            <a:r>
              <a:rPr lang="es-ES" dirty="0"/>
              <a:t> </a:t>
            </a:r>
          </a:p>
        </p:txBody>
      </p:sp>
    </p:spTree>
    <p:extLst>
      <p:ext uri="{BB962C8B-B14F-4D97-AF65-F5344CB8AC3E}">
        <p14:creationId xmlns:p14="http://schemas.microsoft.com/office/powerpoint/2010/main" val="476707339"/>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23875" y="1295400"/>
            <a:ext cx="11163300" cy="5181600"/>
          </a:xfrm>
        </p:spPr>
        <p:style>
          <a:lnRef idx="1">
            <a:schemeClr val="accent3"/>
          </a:lnRef>
          <a:fillRef idx="2">
            <a:schemeClr val="accent3"/>
          </a:fillRef>
          <a:effectRef idx="1">
            <a:schemeClr val="accent3"/>
          </a:effectRef>
          <a:fontRef idx="minor">
            <a:schemeClr val="dk1"/>
          </a:fontRef>
        </p:style>
        <p:txBody>
          <a:bodyPr>
            <a:noAutofit/>
          </a:bodyPr>
          <a:lstStyle/>
          <a:p>
            <a:pPr fontAlgn="ctr"/>
            <a:r>
              <a:rPr lang="es-CO" sz="2400" dirty="0"/>
              <a:t>ZOHONERO MARTÍNEZ, I. ; JOYANES AGUILAR, L. </a:t>
            </a:r>
            <a:r>
              <a:rPr lang="es-CO" sz="2400" b="1" dirty="0"/>
              <a:t>Estructuras de datos en Java</a:t>
            </a:r>
            <a:r>
              <a:rPr lang="es-CO" sz="2400" dirty="0"/>
              <a:t>. ed. Madrid etc: McGraw-Hill España, 2008. 562 p. Disponible en: https://elibro.net/es/ereader/corposucre/50117?page=188. Consultado en: 18 </a:t>
            </a:r>
            <a:r>
              <a:rPr lang="es-CO" sz="2400" dirty="0" err="1"/>
              <a:t>Aug</a:t>
            </a:r>
            <a:r>
              <a:rPr lang="es-CO" sz="2400" dirty="0"/>
              <a:t> 2022</a:t>
            </a:r>
          </a:p>
          <a:p>
            <a:pPr fontAlgn="ctr"/>
            <a:r>
              <a:rPr lang="es-MX" sz="2400" dirty="0" err="1"/>
              <a:t>Guardati</a:t>
            </a:r>
            <a:r>
              <a:rPr lang="es-MX" sz="2400" dirty="0"/>
              <a:t> </a:t>
            </a:r>
            <a:r>
              <a:rPr lang="es-MX" sz="2400" dirty="0" err="1"/>
              <a:t>Buemo</a:t>
            </a:r>
            <a:r>
              <a:rPr lang="es-MX" sz="2400" dirty="0"/>
              <a:t>, Silvia. Estructuras de datos básicas: programación orientada a objetos con java • Ruiz Rodríguez, R. (2009). Fundamentos de la programación orientada a objetos: una aplicación a las estructuras de datos en Java. El Cid Editor. https://elibro.net/es/lc/corposucre/titulos/34869 </a:t>
            </a:r>
          </a:p>
          <a:p>
            <a:pPr fontAlgn="ctr"/>
            <a:r>
              <a:rPr lang="es-MX" sz="2400" dirty="0"/>
              <a:t>Wiener, R., &amp; </a:t>
            </a:r>
            <a:r>
              <a:rPr lang="es-MX" sz="2400" dirty="0" err="1"/>
              <a:t>Pinson</a:t>
            </a:r>
            <a:r>
              <a:rPr lang="es-MX" sz="2400" dirty="0"/>
              <a:t>, L. J. (2000). Fundamentals of OOP and Data </a:t>
            </a:r>
            <a:r>
              <a:rPr lang="es-MX" sz="2400" dirty="0" err="1"/>
              <a:t>Structures</a:t>
            </a:r>
            <a:r>
              <a:rPr lang="es-MX" sz="2400" dirty="0"/>
              <a:t> in Java. Cambridge </a:t>
            </a:r>
            <a:r>
              <a:rPr lang="es-MX" sz="2400" dirty="0" err="1"/>
              <a:t>University</a:t>
            </a:r>
            <a:r>
              <a:rPr lang="es-MX" sz="2400" dirty="0"/>
              <a:t> </a:t>
            </a:r>
            <a:r>
              <a:rPr lang="es-MX" sz="2400" dirty="0" err="1"/>
              <a:t>Press</a:t>
            </a:r>
            <a:r>
              <a:rPr lang="es-MX" sz="2400" dirty="0"/>
              <a:t>. </a:t>
            </a:r>
            <a:r>
              <a:rPr lang="es-MX" sz="2400" dirty="0">
                <a:hlinkClick r:id="rId2"/>
              </a:rPr>
              <a:t>http://search.ebscohost.com/login.aspx?direct=true&amp;db=nlebk&amp;AN=54565&amp;site=ehost-live</a:t>
            </a:r>
            <a:endParaRPr lang="es-MX" sz="2400" dirty="0"/>
          </a:p>
          <a:p>
            <a:pPr fontAlgn="ctr"/>
            <a:r>
              <a:rPr lang="es-CO" sz="2400" dirty="0" err="1"/>
              <a:t>Joyanes</a:t>
            </a:r>
            <a:r>
              <a:rPr lang="es-CO" sz="2400" dirty="0"/>
              <a:t> Aguilar, Luis. Fundamentos de programación: Algoritmos, estructura de datos y objetos. 4a. Edición. </a:t>
            </a:r>
            <a:r>
              <a:rPr lang="es-CO" sz="2400" dirty="0" err="1"/>
              <a:t>Mexico</a:t>
            </a:r>
            <a:r>
              <a:rPr lang="es-CO" sz="2400" dirty="0"/>
              <a:t>: Mc Graw Hill,2008</a:t>
            </a:r>
          </a:p>
          <a:p>
            <a:pPr fontAlgn="ctr"/>
            <a:endParaRPr lang="es-CO" sz="2400" dirty="0"/>
          </a:p>
        </p:txBody>
      </p:sp>
      <p:sp>
        <p:nvSpPr>
          <p:cNvPr id="6" name="Título 1"/>
          <p:cNvSpPr txBox="1">
            <a:spLocks/>
          </p:cNvSpPr>
          <p:nvPr/>
        </p:nvSpPr>
        <p:spPr>
          <a:xfrm>
            <a:off x="1376361" y="600074"/>
            <a:ext cx="7043739" cy="88582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419" dirty="0"/>
              <a:t>BIBLIOGRAFÍA</a:t>
            </a:r>
            <a:endParaRPr lang="es-CO" dirty="0">
              <a:latin typeface="Times New Roman" panose="02020603050405020304" pitchFamily="18" charset="0"/>
              <a:cs typeface="Times New Roman" panose="02020603050405020304" pitchFamily="18" charset="0"/>
            </a:endParaRPr>
          </a:p>
          <a:p>
            <a:endParaRPr lang="es-CO"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092753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theme/theme1.xml><?xml version="1.0" encoding="utf-8"?>
<a:theme xmlns:a="http://schemas.openxmlformats.org/drawingml/2006/main" name="PLANTILLA INSTITUCIONAL">
  <a:themeElements>
    <a:clrScheme name="AJS">
      <a:dk1>
        <a:srgbClr val="31521B"/>
      </a:dk1>
      <a:lt1>
        <a:srgbClr val="0D291B"/>
      </a:lt1>
      <a:dk2>
        <a:srgbClr val="739A28"/>
      </a:dk2>
      <a:lt2>
        <a:srgbClr val="D6EAAF"/>
      </a:lt2>
      <a:accent1>
        <a:srgbClr val="99CB38"/>
      </a:accent1>
      <a:accent2>
        <a:srgbClr val="63A537"/>
      </a:accent2>
      <a:accent3>
        <a:srgbClr val="37A76F"/>
      </a:accent3>
      <a:accent4>
        <a:srgbClr val="1B5337"/>
      </a:accent4>
      <a:accent5>
        <a:srgbClr val="1B5337"/>
      </a:accent5>
      <a:accent6>
        <a:srgbClr val="773D03"/>
      </a:accent6>
      <a:hlink>
        <a:srgbClr val="FF0000"/>
      </a:hlink>
      <a:folHlink>
        <a:srgbClr val="C00000"/>
      </a:folHlink>
    </a:clrScheme>
    <a:fontScheme name="Personalizado 1">
      <a:majorFont>
        <a:latin typeface="Bell MT"/>
        <a:ea typeface=""/>
        <a:cs typeface=""/>
      </a:majorFont>
      <a:minorFont>
        <a:latin typeface="Bell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ción1" id="{1D01C22F-B745-48F6-831E-5770BD765581}" vid="{5C7DF1D1-C3DE-44BC-8760-47F7FAFB5C9A}"/>
    </a:ext>
  </a:extLst>
</a:theme>
</file>

<file path=docProps/app.xml><?xml version="1.0" encoding="utf-8"?>
<Properties xmlns="http://schemas.openxmlformats.org/officeDocument/2006/extended-properties" xmlns:vt="http://schemas.openxmlformats.org/officeDocument/2006/docPropsVTypes">
  <Template>PLANTILLA INSTITUCIONAL</Template>
  <TotalTime>1847</TotalTime>
  <Words>1152</Words>
  <Application>Microsoft Macintosh PowerPoint</Application>
  <PresentationFormat>Panorámica</PresentationFormat>
  <Paragraphs>128</Paragraphs>
  <Slides>13</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13</vt:i4>
      </vt:variant>
    </vt:vector>
  </HeadingPairs>
  <TitlesOfParts>
    <vt:vector size="18" baseType="lpstr">
      <vt:lpstr>Arial</vt:lpstr>
      <vt:lpstr>Bell MT</vt:lpstr>
      <vt:lpstr>Monaco</vt:lpstr>
      <vt:lpstr>Times New Roman</vt:lpstr>
      <vt:lpstr>PLANTILLA INSTITUCIONAL</vt:lpstr>
      <vt:lpstr>Presentación de PowerPoint</vt:lpstr>
      <vt:lpstr>Agenda: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ÁRBOLES</dc:title>
  <dc:creator>fanylucastrotorres@gmail.com</dc:creator>
  <cp:lastModifiedBy>jaider enrique reyes herazo</cp:lastModifiedBy>
  <cp:revision>124</cp:revision>
  <dcterms:created xsi:type="dcterms:W3CDTF">2019-10-27T02:47:36Z</dcterms:created>
  <dcterms:modified xsi:type="dcterms:W3CDTF">2025-09-03T16:47:30Z</dcterms:modified>
</cp:coreProperties>
</file>
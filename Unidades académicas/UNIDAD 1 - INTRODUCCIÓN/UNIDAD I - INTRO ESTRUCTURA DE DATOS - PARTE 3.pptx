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sldIdLst>
    <p:sldId id="276" r:id="rId2"/>
    <p:sldId id="257" r:id="rId3"/>
    <p:sldId id="303" r:id="rId4"/>
    <p:sldId id="325" r:id="rId5"/>
    <p:sldId id="326" r:id="rId6"/>
    <p:sldId id="327" r:id="rId7"/>
    <p:sldId id="328" r:id="rId8"/>
    <p:sldId id="329" r:id="rId9"/>
    <p:sldId id="330" r:id="rId10"/>
    <p:sldId id="331" r:id="rId11"/>
    <p:sldId id="332" r:id="rId12"/>
    <p:sldId id="333" r:id="rId13"/>
    <p:sldId id="334" r:id="rId14"/>
    <p:sldId id="335" r:id="rId15"/>
    <p:sldId id="336" r:id="rId16"/>
    <p:sldId id="274" r:id="rId17"/>
    <p:sldId id="324" r:id="rId18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52" autoAdjust="0"/>
    <p:restoredTop sz="94660"/>
  </p:normalViewPr>
  <p:slideViewPr>
    <p:cSldViewPr snapToGrid="0">
      <p:cViewPr varScale="1">
        <p:scale>
          <a:sx n="67" d="100"/>
          <a:sy n="67" d="100"/>
        </p:scale>
        <p:origin x="56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56489FC-7B7D-4E7C-AC64-7DED835C6D12}" type="doc">
      <dgm:prSet loTypeId="urn:microsoft.com/office/officeart/2005/8/layout/hierarchy2" loCatId="hierarchy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39AFF115-056C-4221-A0B7-8F259928D29F}">
      <dgm:prSet phldrT="[Texto]"/>
      <dgm:spPr/>
      <dgm:t>
        <a:bodyPr/>
        <a:lstStyle/>
        <a:p>
          <a:r>
            <a:rPr lang="es-ES" dirty="0" smtClean="0"/>
            <a:t>KNUTH (1973)</a:t>
          </a:r>
        </a:p>
      </dgm:t>
    </dgm:pt>
    <dgm:pt modelId="{D95A4A66-AD73-4132-8BC4-FC4289664BB8}" type="parTrans" cxnId="{F073FBDD-6FA6-452E-81B6-A13B5470A1B6}">
      <dgm:prSet/>
      <dgm:spPr/>
      <dgm:t>
        <a:bodyPr/>
        <a:lstStyle/>
        <a:p>
          <a:endParaRPr lang="es-ES"/>
        </a:p>
      </dgm:t>
    </dgm:pt>
    <dgm:pt modelId="{94EFC10B-6A00-4E16-AFB5-29DCF65BA23A}" type="sibTrans" cxnId="{F073FBDD-6FA6-452E-81B6-A13B5470A1B6}">
      <dgm:prSet/>
      <dgm:spPr/>
      <dgm:t>
        <a:bodyPr/>
        <a:lstStyle/>
        <a:p>
          <a:endParaRPr lang="es-ES"/>
        </a:p>
      </dgm:t>
    </dgm:pt>
    <dgm:pt modelId="{88521E12-5E15-4667-AAFE-080D1667F4FE}">
      <dgm:prSet phldrT="[Texto]"/>
      <dgm:spPr/>
      <dgm:t>
        <a:bodyPr/>
        <a:lstStyle/>
        <a:p>
          <a:r>
            <a:rPr lang="es-ES" dirty="0" smtClean="0"/>
            <a:t>Ordenación básica</a:t>
          </a:r>
          <a:endParaRPr lang="es-ES" dirty="0"/>
        </a:p>
      </dgm:t>
    </dgm:pt>
    <dgm:pt modelId="{6D8C5155-A42E-459F-850E-E198C9A47ACB}" type="parTrans" cxnId="{6CA9C557-0D1E-48C0-8A80-CD526A71D679}">
      <dgm:prSet/>
      <dgm:spPr/>
      <dgm:t>
        <a:bodyPr/>
        <a:lstStyle/>
        <a:p>
          <a:endParaRPr lang="es-ES"/>
        </a:p>
      </dgm:t>
    </dgm:pt>
    <dgm:pt modelId="{51F8A0A7-CCC4-4917-84F8-8E05E81B404B}" type="sibTrans" cxnId="{6CA9C557-0D1E-48C0-8A80-CD526A71D679}">
      <dgm:prSet/>
      <dgm:spPr/>
      <dgm:t>
        <a:bodyPr/>
        <a:lstStyle/>
        <a:p>
          <a:endParaRPr lang="es-ES"/>
        </a:p>
      </dgm:t>
    </dgm:pt>
    <dgm:pt modelId="{18135A6A-7BF6-4DA6-A8C5-83C41F913DCF}">
      <dgm:prSet phldrT="[Texto]"/>
      <dgm:spPr/>
      <dgm:t>
        <a:bodyPr/>
        <a:lstStyle/>
        <a:p>
          <a:r>
            <a:rPr lang="es-ES" dirty="0" smtClean="0"/>
            <a:t>Selección</a:t>
          </a:r>
          <a:endParaRPr lang="es-ES" dirty="0"/>
        </a:p>
      </dgm:t>
    </dgm:pt>
    <dgm:pt modelId="{D4FD980C-0FF4-4702-86CD-3E6C0EF09F5C}" type="parTrans" cxnId="{B56CDE23-7AA6-49E3-B02F-B41008191074}">
      <dgm:prSet/>
      <dgm:spPr/>
      <dgm:t>
        <a:bodyPr/>
        <a:lstStyle/>
        <a:p>
          <a:endParaRPr lang="es-ES"/>
        </a:p>
      </dgm:t>
    </dgm:pt>
    <dgm:pt modelId="{32631C92-8C40-44DF-8766-D09DF5A8EC06}" type="sibTrans" cxnId="{B56CDE23-7AA6-49E3-B02F-B41008191074}">
      <dgm:prSet/>
      <dgm:spPr/>
      <dgm:t>
        <a:bodyPr/>
        <a:lstStyle/>
        <a:p>
          <a:endParaRPr lang="es-ES"/>
        </a:p>
      </dgm:t>
    </dgm:pt>
    <dgm:pt modelId="{30174134-BFC3-4F9E-9302-11B112EC16CF}">
      <dgm:prSet phldrT="[Texto]"/>
      <dgm:spPr/>
      <dgm:t>
        <a:bodyPr/>
        <a:lstStyle/>
        <a:p>
          <a:r>
            <a:rPr lang="es-ES" dirty="0" smtClean="0"/>
            <a:t>Inserción</a:t>
          </a:r>
          <a:endParaRPr lang="es-ES" dirty="0"/>
        </a:p>
      </dgm:t>
    </dgm:pt>
    <dgm:pt modelId="{6CF56FB3-7FE9-40D1-BDCC-3BE059B8CEEC}" type="parTrans" cxnId="{03E47E4D-F7E2-483E-B1AF-A0232881AAC6}">
      <dgm:prSet/>
      <dgm:spPr/>
      <dgm:t>
        <a:bodyPr/>
        <a:lstStyle/>
        <a:p>
          <a:endParaRPr lang="es-ES"/>
        </a:p>
      </dgm:t>
    </dgm:pt>
    <dgm:pt modelId="{532B55DA-2479-4056-88E1-8E6743997027}" type="sibTrans" cxnId="{03E47E4D-F7E2-483E-B1AF-A0232881AAC6}">
      <dgm:prSet/>
      <dgm:spPr/>
      <dgm:t>
        <a:bodyPr/>
        <a:lstStyle/>
        <a:p>
          <a:endParaRPr lang="es-ES"/>
        </a:p>
      </dgm:t>
    </dgm:pt>
    <dgm:pt modelId="{DDA537DC-3F17-44B9-8739-8F97AEAB9CBA}">
      <dgm:prSet phldrT="[Texto]"/>
      <dgm:spPr/>
      <dgm:t>
        <a:bodyPr/>
        <a:lstStyle/>
        <a:p>
          <a:r>
            <a:rPr lang="es-ES" dirty="0" smtClean="0"/>
            <a:t>Burbuja</a:t>
          </a:r>
          <a:endParaRPr lang="es-ES" dirty="0"/>
        </a:p>
      </dgm:t>
    </dgm:pt>
    <dgm:pt modelId="{FA0FC1EE-375F-4008-B220-B85D9D9BDA85}" type="parTrans" cxnId="{3F28688A-623D-4051-B1E1-3BF2670F2F18}">
      <dgm:prSet/>
      <dgm:spPr/>
      <dgm:t>
        <a:bodyPr/>
        <a:lstStyle/>
        <a:p>
          <a:endParaRPr lang="es-ES"/>
        </a:p>
      </dgm:t>
    </dgm:pt>
    <dgm:pt modelId="{115A108D-A650-4FFA-B55B-3AB7D49FEB48}" type="sibTrans" cxnId="{3F28688A-623D-4051-B1E1-3BF2670F2F18}">
      <dgm:prSet/>
      <dgm:spPr/>
      <dgm:t>
        <a:bodyPr/>
        <a:lstStyle/>
        <a:p>
          <a:endParaRPr lang="es-ES"/>
        </a:p>
      </dgm:t>
    </dgm:pt>
    <dgm:pt modelId="{212735F2-DD26-4803-AEF0-336C25C80615}" type="pres">
      <dgm:prSet presAssocID="{D56489FC-7B7D-4E7C-AC64-7DED835C6D12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7A5916FD-067D-4160-B41A-6674DD1EBF7C}" type="pres">
      <dgm:prSet presAssocID="{39AFF115-056C-4221-A0B7-8F259928D29F}" presName="root1" presStyleCnt="0"/>
      <dgm:spPr/>
    </dgm:pt>
    <dgm:pt modelId="{FA917B36-0CC6-4CA4-A1D0-83ECD7056A5B}" type="pres">
      <dgm:prSet presAssocID="{39AFF115-056C-4221-A0B7-8F259928D29F}" presName="LevelOneTextNod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s-ES"/>
        </a:p>
      </dgm:t>
    </dgm:pt>
    <dgm:pt modelId="{364DD412-10CD-439D-9BAF-CA3BC7B7FCD7}" type="pres">
      <dgm:prSet presAssocID="{39AFF115-056C-4221-A0B7-8F259928D29F}" presName="level2hierChild" presStyleCnt="0"/>
      <dgm:spPr/>
    </dgm:pt>
    <dgm:pt modelId="{A570891A-F3BB-46BA-9823-6C9DD5CA86CC}" type="pres">
      <dgm:prSet presAssocID="{6D8C5155-A42E-459F-850E-E198C9A47ACB}" presName="conn2-1" presStyleLbl="parChTrans1D2" presStyleIdx="0" presStyleCnt="1"/>
      <dgm:spPr/>
    </dgm:pt>
    <dgm:pt modelId="{09890E42-CB85-42FE-9E5E-24A0C6663A29}" type="pres">
      <dgm:prSet presAssocID="{6D8C5155-A42E-459F-850E-E198C9A47ACB}" presName="connTx" presStyleLbl="parChTrans1D2" presStyleIdx="0" presStyleCnt="1"/>
      <dgm:spPr/>
    </dgm:pt>
    <dgm:pt modelId="{9B3F9D7A-E025-4E98-B1DA-77F60CD440EC}" type="pres">
      <dgm:prSet presAssocID="{88521E12-5E15-4667-AAFE-080D1667F4FE}" presName="root2" presStyleCnt="0"/>
      <dgm:spPr/>
    </dgm:pt>
    <dgm:pt modelId="{34BD1330-733F-4EF1-8A63-E1514234D195}" type="pres">
      <dgm:prSet presAssocID="{88521E12-5E15-4667-AAFE-080D1667F4FE}" presName="LevelTwoTextNode" presStyleLbl="node2" presStyleIdx="0" presStyleCnt="1">
        <dgm:presLayoutVars>
          <dgm:chPref val="3"/>
        </dgm:presLayoutVars>
      </dgm:prSet>
      <dgm:spPr/>
      <dgm:t>
        <a:bodyPr/>
        <a:lstStyle/>
        <a:p>
          <a:endParaRPr lang="es-ES"/>
        </a:p>
      </dgm:t>
    </dgm:pt>
    <dgm:pt modelId="{7BE7AD6B-00B3-4479-96D1-01859C1B7721}" type="pres">
      <dgm:prSet presAssocID="{88521E12-5E15-4667-AAFE-080D1667F4FE}" presName="level3hierChild" presStyleCnt="0"/>
      <dgm:spPr/>
    </dgm:pt>
    <dgm:pt modelId="{2B478BFB-1B8F-40BF-BC62-52A8C707D7DF}" type="pres">
      <dgm:prSet presAssocID="{D4FD980C-0FF4-4702-86CD-3E6C0EF09F5C}" presName="conn2-1" presStyleLbl="parChTrans1D3" presStyleIdx="0" presStyleCnt="3"/>
      <dgm:spPr/>
    </dgm:pt>
    <dgm:pt modelId="{8EA39E9D-49E4-4791-98AD-B8FE16463B94}" type="pres">
      <dgm:prSet presAssocID="{D4FD980C-0FF4-4702-86CD-3E6C0EF09F5C}" presName="connTx" presStyleLbl="parChTrans1D3" presStyleIdx="0" presStyleCnt="3"/>
      <dgm:spPr/>
    </dgm:pt>
    <dgm:pt modelId="{57A7ADD9-3541-4FF3-AA10-6DA8DCF808D5}" type="pres">
      <dgm:prSet presAssocID="{18135A6A-7BF6-4DA6-A8C5-83C41F913DCF}" presName="root2" presStyleCnt="0"/>
      <dgm:spPr/>
    </dgm:pt>
    <dgm:pt modelId="{D45C4E3A-686A-420F-BE95-3F2EC2C6134A}" type="pres">
      <dgm:prSet presAssocID="{18135A6A-7BF6-4DA6-A8C5-83C41F913DCF}" presName="LevelTwoTextNode" presStyleLbl="node3" presStyleIdx="0" presStyleCnt="3">
        <dgm:presLayoutVars>
          <dgm:chPref val="3"/>
        </dgm:presLayoutVars>
      </dgm:prSet>
      <dgm:spPr/>
      <dgm:t>
        <a:bodyPr/>
        <a:lstStyle/>
        <a:p>
          <a:endParaRPr lang="es-ES"/>
        </a:p>
      </dgm:t>
    </dgm:pt>
    <dgm:pt modelId="{5A1D9051-6657-436B-A63D-A37F3C63B083}" type="pres">
      <dgm:prSet presAssocID="{18135A6A-7BF6-4DA6-A8C5-83C41F913DCF}" presName="level3hierChild" presStyleCnt="0"/>
      <dgm:spPr/>
    </dgm:pt>
    <dgm:pt modelId="{75992B5C-D1EB-45FF-8AEC-DB9C2BB2CC9B}" type="pres">
      <dgm:prSet presAssocID="{6CF56FB3-7FE9-40D1-BDCC-3BE059B8CEEC}" presName="conn2-1" presStyleLbl="parChTrans1D3" presStyleIdx="1" presStyleCnt="3"/>
      <dgm:spPr/>
    </dgm:pt>
    <dgm:pt modelId="{E25C163A-CC9A-465F-8E22-B2D629CFA392}" type="pres">
      <dgm:prSet presAssocID="{6CF56FB3-7FE9-40D1-BDCC-3BE059B8CEEC}" presName="connTx" presStyleLbl="parChTrans1D3" presStyleIdx="1" presStyleCnt="3"/>
      <dgm:spPr/>
    </dgm:pt>
    <dgm:pt modelId="{F9D9252E-CEE4-4CBD-84D6-07786717EFA1}" type="pres">
      <dgm:prSet presAssocID="{30174134-BFC3-4F9E-9302-11B112EC16CF}" presName="root2" presStyleCnt="0"/>
      <dgm:spPr/>
    </dgm:pt>
    <dgm:pt modelId="{A22C86A3-B680-48B0-99A6-0E73D80C0B1C}" type="pres">
      <dgm:prSet presAssocID="{30174134-BFC3-4F9E-9302-11B112EC16CF}" presName="LevelTwoTextNode" presStyleLbl="node3" presStyleIdx="1" presStyleCnt="3">
        <dgm:presLayoutVars>
          <dgm:chPref val="3"/>
        </dgm:presLayoutVars>
      </dgm:prSet>
      <dgm:spPr/>
    </dgm:pt>
    <dgm:pt modelId="{E3F9D406-E1F0-48BD-94FA-D6981830BB90}" type="pres">
      <dgm:prSet presAssocID="{30174134-BFC3-4F9E-9302-11B112EC16CF}" presName="level3hierChild" presStyleCnt="0"/>
      <dgm:spPr/>
    </dgm:pt>
    <dgm:pt modelId="{91878757-5F34-4912-8963-4AB280F8DD6D}" type="pres">
      <dgm:prSet presAssocID="{FA0FC1EE-375F-4008-B220-B85D9D9BDA85}" presName="conn2-1" presStyleLbl="parChTrans1D3" presStyleIdx="2" presStyleCnt="3"/>
      <dgm:spPr/>
    </dgm:pt>
    <dgm:pt modelId="{8D3D539D-BD76-4E65-BF60-B100B16D1971}" type="pres">
      <dgm:prSet presAssocID="{FA0FC1EE-375F-4008-B220-B85D9D9BDA85}" presName="connTx" presStyleLbl="parChTrans1D3" presStyleIdx="2" presStyleCnt="3"/>
      <dgm:spPr/>
    </dgm:pt>
    <dgm:pt modelId="{D3F3584D-D90A-42BD-9B7B-01F31EC1FCFA}" type="pres">
      <dgm:prSet presAssocID="{DDA537DC-3F17-44B9-8739-8F97AEAB9CBA}" presName="root2" presStyleCnt="0"/>
      <dgm:spPr/>
    </dgm:pt>
    <dgm:pt modelId="{B8E4701C-B2CC-47AB-8CDD-6E7EACB0969B}" type="pres">
      <dgm:prSet presAssocID="{DDA537DC-3F17-44B9-8739-8F97AEAB9CBA}" presName="LevelTwoTextNode" presStyleLbl="node3" presStyleIdx="2" presStyleCnt="3">
        <dgm:presLayoutVars>
          <dgm:chPref val="3"/>
        </dgm:presLayoutVars>
      </dgm:prSet>
      <dgm:spPr/>
    </dgm:pt>
    <dgm:pt modelId="{249EBE16-CF5F-4846-B955-C0BB0EED873F}" type="pres">
      <dgm:prSet presAssocID="{DDA537DC-3F17-44B9-8739-8F97AEAB9CBA}" presName="level3hierChild" presStyleCnt="0"/>
      <dgm:spPr/>
    </dgm:pt>
  </dgm:ptLst>
  <dgm:cxnLst>
    <dgm:cxn modelId="{B23FCBD5-A838-49B4-B265-5205DF238CC3}" type="presOf" srcId="{18135A6A-7BF6-4DA6-A8C5-83C41F913DCF}" destId="{D45C4E3A-686A-420F-BE95-3F2EC2C6134A}" srcOrd="0" destOrd="0" presId="urn:microsoft.com/office/officeart/2005/8/layout/hierarchy2"/>
    <dgm:cxn modelId="{F073FBDD-6FA6-452E-81B6-A13B5470A1B6}" srcId="{D56489FC-7B7D-4E7C-AC64-7DED835C6D12}" destId="{39AFF115-056C-4221-A0B7-8F259928D29F}" srcOrd="0" destOrd="0" parTransId="{D95A4A66-AD73-4132-8BC4-FC4289664BB8}" sibTransId="{94EFC10B-6A00-4E16-AFB5-29DCF65BA23A}"/>
    <dgm:cxn modelId="{3F28688A-623D-4051-B1E1-3BF2670F2F18}" srcId="{88521E12-5E15-4667-AAFE-080D1667F4FE}" destId="{DDA537DC-3F17-44B9-8739-8F97AEAB9CBA}" srcOrd="2" destOrd="0" parTransId="{FA0FC1EE-375F-4008-B220-B85D9D9BDA85}" sibTransId="{115A108D-A650-4FFA-B55B-3AB7D49FEB48}"/>
    <dgm:cxn modelId="{857BCEFF-FC25-4AEC-B499-227372A9B65E}" type="presOf" srcId="{88521E12-5E15-4667-AAFE-080D1667F4FE}" destId="{34BD1330-733F-4EF1-8A63-E1514234D195}" srcOrd="0" destOrd="0" presId="urn:microsoft.com/office/officeart/2005/8/layout/hierarchy2"/>
    <dgm:cxn modelId="{250C69CC-B67F-409C-B595-F77DE0B4C534}" type="presOf" srcId="{6CF56FB3-7FE9-40D1-BDCC-3BE059B8CEEC}" destId="{75992B5C-D1EB-45FF-8AEC-DB9C2BB2CC9B}" srcOrd="0" destOrd="0" presId="urn:microsoft.com/office/officeart/2005/8/layout/hierarchy2"/>
    <dgm:cxn modelId="{DD640494-444D-4ACD-B4ED-F1492F4562CC}" type="presOf" srcId="{6D8C5155-A42E-459F-850E-E198C9A47ACB}" destId="{09890E42-CB85-42FE-9E5E-24A0C6663A29}" srcOrd="1" destOrd="0" presId="urn:microsoft.com/office/officeart/2005/8/layout/hierarchy2"/>
    <dgm:cxn modelId="{C86051C8-3916-46AE-BD34-892C76F20E57}" type="presOf" srcId="{39AFF115-056C-4221-A0B7-8F259928D29F}" destId="{FA917B36-0CC6-4CA4-A1D0-83ECD7056A5B}" srcOrd="0" destOrd="0" presId="urn:microsoft.com/office/officeart/2005/8/layout/hierarchy2"/>
    <dgm:cxn modelId="{B56CDE23-7AA6-49E3-B02F-B41008191074}" srcId="{88521E12-5E15-4667-AAFE-080D1667F4FE}" destId="{18135A6A-7BF6-4DA6-A8C5-83C41F913DCF}" srcOrd="0" destOrd="0" parTransId="{D4FD980C-0FF4-4702-86CD-3E6C0EF09F5C}" sibTransId="{32631C92-8C40-44DF-8766-D09DF5A8EC06}"/>
    <dgm:cxn modelId="{03E47E4D-F7E2-483E-B1AF-A0232881AAC6}" srcId="{88521E12-5E15-4667-AAFE-080D1667F4FE}" destId="{30174134-BFC3-4F9E-9302-11B112EC16CF}" srcOrd="1" destOrd="0" parTransId="{6CF56FB3-7FE9-40D1-BDCC-3BE059B8CEEC}" sibTransId="{532B55DA-2479-4056-88E1-8E6743997027}"/>
    <dgm:cxn modelId="{F8BD3A3F-4C2D-42A1-BE94-756B3F131766}" type="presOf" srcId="{6CF56FB3-7FE9-40D1-BDCC-3BE059B8CEEC}" destId="{E25C163A-CC9A-465F-8E22-B2D629CFA392}" srcOrd="1" destOrd="0" presId="urn:microsoft.com/office/officeart/2005/8/layout/hierarchy2"/>
    <dgm:cxn modelId="{10909981-1088-4DCC-BFB9-289F9151B3D9}" type="presOf" srcId="{DDA537DC-3F17-44B9-8739-8F97AEAB9CBA}" destId="{B8E4701C-B2CC-47AB-8CDD-6E7EACB0969B}" srcOrd="0" destOrd="0" presId="urn:microsoft.com/office/officeart/2005/8/layout/hierarchy2"/>
    <dgm:cxn modelId="{8CF6D15C-6523-432D-A16A-C801D7FFCC17}" type="presOf" srcId="{6D8C5155-A42E-459F-850E-E198C9A47ACB}" destId="{A570891A-F3BB-46BA-9823-6C9DD5CA86CC}" srcOrd="0" destOrd="0" presId="urn:microsoft.com/office/officeart/2005/8/layout/hierarchy2"/>
    <dgm:cxn modelId="{00112101-F5AC-43E1-8725-B23F64A6FED1}" type="presOf" srcId="{D56489FC-7B7D-4E7C-AC64-7DED835C6D12}" destId="{212735F2-DD26-4803-AEF0-336C25C80615}" srcOrd="0" destOrd="0" presId="urn:microsoft.com/office/officeart/2005/8/layout/hierarchy2"/>
    <dgm:cxn modelId="{2C9E51DC-2F8C-479F-8364-2B33C2147EF1}" type="presOf" srcId="{FA0FC1EE-375F-4008-B220-B85D9D9BDA85}" destId="{91878757-5F34-4912-8963-4AB280F8DD6D}" srcOrd="0" destOrd="0" presId="urn:microsoft.com/office/officeart/2005/8/layout/hierarchy2"/>
    <dgm:cxn modelId="{475239C7-DB3D-4540-9620-3FE0BC73C343}" type="presOf" srcId="{30174134-BFC3-4F9E-9302-11B112EC16CF}" destId="{A22C86A3-B680-48B0-99A6-0E73D80C0B1C}" srcOrd="0" destOrd="0" presId="urn:microsoft.com/office/officeart/2005/8/layout/hierarchy2"/>
    <dgm:cxn modelId="{CE0CAC84-C1EB-4EDC-B0C1-FD59F5A3EF5A}" type="presOf" srcId="{D4FD980C-0FF4-4702-86CD-3E6C0EF09F5C}" destId="{2B478BFB-1B8F-40BF-BC62-52A8C707D7DF}" srcOrd="0" destOrd="0" presId="urn:microsoft.com/office/officeart/2005/8/layout/hierarchy2"/>
    <dgm:cxn modelId="{68E9FBDA-8F13-4514-880D-D0C74E0A920A}" type="presOf" srcId="{FA0FC1EE-375F-4008-B220-B85D9D9BDA85}" destId="{8D3D539D-BD76-4E65-BF60-B100B16D1971}" srcOrd="1" destOrd="0" presId="urn:microsoft.com/office/officeart/2005/8/layout/hierarchy2"/>
    <dgm:cxn modelId="{6CA9C557-0D1E-48C0-8A80-CD526A71D679}" srcId="{39AFF115-056C-4221-A0B7-8F259928D29F}" destId="{88521E12-5E15-4667-AAFE-080D1667F4FE}" srcOrd="0" destOrd="0" parTransId="{6D8C5155-A42E-459F-850E-E198C9A47ACB}" sibTransId="{51F8A0A7-CCC4-4917-84F8-8E05E81B404B}"/>
    <dgm:cxn modelId="{2C367B9F-3FC0-467C-8973-F561BA4F4EE5}" type="presOf" srcId="{D4FD980C-0FF4-4702-86CD-3E6C0EF09F5C}" destId="{8EA39E9D-49E4-4791-98AD-B8FE16463B94}" srcOrd="1" destOrd="0" presId="urn:microsoft.com/office/officeart/2005/8/layout/hierarchy2"/>
    <dgm:cxn modelId="{278A4E69-0F4B-4971-B704-61A9528A1DDD}" type="presParOf" srcId="{212735F2-DD26-4803-AEF0-336C25C80615}" destId="{7A5916FD-067D-4160-B41A-6674DD1EBF7C}" srcOrd="0" destOrd="0" presId="urn:microsoft.com/office/officeart/2005/8/layout/hierarchy2"/>
    <dgm:cxn modelId="{1BF1D0B9-A489-4E9A-96FB-88809E116B0C}" type="presParOf" srcId="{7A5916FD-067D-4160-B41A-6674DD1EBF7C}" destId="{FA917B36-0CC6-4CA4-A1D0-83ECD7056A5B}" srcOrd="0" destOrd="0" presId="urn:microsoft.com/office/officeart/2005/8/layout/hierarchy2"/>
    <dgm:cxn modelId="{335C76C5-D0B7-4AAA-8819-81E84E4D77A4}" type="presParOf" srcId="{7A5916FD-067D-4160-B41A-6674DD1EBF7C}" destId="{364DD412-10CD-439D-9BAF-CA3BC7B7FCD7}" srcOrd="1" destOrd="0" presId="urn:microsoft.com/office/officeart/2005/8/layout/hierarchy2"/>
    <dgm:cxn modelId="{B0151F85-DF3E-4B9E-9DCC-4CC53F650F7B}" type="presParOf" srcId="{364DD412-10CD-439D-9BAF-CA3BC7B7FCD7}" destId="{A570891A-F3BB-46BA-9823-6C9DD5CA86CC}" srcOrd="0" destOrd="0" presId="urn:microsoft.com/office/officeart/2005/8/layout/hierarchy2"/>
    <dgm:cxn modelId="{072E2592-31D1-49DD-AA0D-17CBAE4F8E82}" type="presParOf" srcId="{A570891A-F3BB-46BA-9823-6C9DD5CA86CC}" destId="{09890E42-CB85-42FE-9E5E-24A0C6663A29}" srcOrd="0" destOrd="0" presId="urn:microsoft.com/office/officeart/2005/8/layout/hierarchy2"/>
    <dgm:cxn modelId="{52311092-783D-4E38-8405-E0FBD6289347}" type="presParOf" srcId="{364DD412-10CD-439D-9BAF-CA3BC7B7FCD7}" destId="{9B3F9D7A-E025-4E98-B1DA-77F60CD440EC}" srcOrd="1" destOrd="0" presId="urn:microsoft.com/office/officeart/2005/8/layout/hierarchy2"/>
    <dgm:cxn modelId="{FB09A964-6C0F-49ED-B32F-B0FB00942B07}" type="presParOf" srcId="{9B3F9D7A-E025-4E98-B1DA-77F60CD440EC}" destId="{34BD1330-733F-4EF1-8A63-E1514234D195}" srcOrd="0" destOrd="0" presId="urn:microsoft.com/office/officeart/2005/8/layout/hierarchy2"/>
    <dgm:cxn modelId="{C58AC0B8-78B0-4523-8881-724AB053B8B4}" type="presParOf" srcId="{9B3F9D7A-E025-4E98-B1DA-77F60CD440EC}" destId="{7BE7AD6B-00B3-4479-96D1-01859C1B7721}" srcOrd="1" destOrd="0" presId="urn:microsoft.com/office/officeart/2005/8/layout/hierarchy2"/>
    <dgm:cxn modelId="{3BE6F61A-E831-4517-BAF6-8E276DB5E0D5}" type="presParOf" srcId="{7BE7AD6B-00B3-4479-96D1-01859C1B7721}" destId="{2B478BFB-1B8F-40BF-BC62-52A8C707D7DF}" srcOrd="0" destOrd="0" presId="urn:microsoft.com/office/officeart/2005/8/layout/hierarchy2"/>
    <dgm:cxn modelId="{0595DB99-6DDA-4118-858A-CBEB9F138A73}" type="presParOf" srcId="{2B478BFB-1B8F-40BF-BC62-52A8C707D7DF}" destId="{8EA39E9D-49E4-4791-98AD-B8FE16463B94}" srcOrd="0" destOrd="0" presId="urn:microsoft.com/office/officeart/2005/8/layout/hierarchy2"/>
    <dgm:cxn modelId="{FDF9AA65-83CE-4D60-9D9D-2B95587B015B}" type="presParOf" srcId="{7BE7AD6B-00B3-4479-96D1-01859C1B7721}" destId="{57A7ADD9-3541-4FF3-AA10-6DA8DCF808D5}" srcOrd="1" destOrd="0" presId="urn:microsoft.com/office/officeart/2005/8/layout/hierarchy2"/>
    <dgm:cxn modelId="{BD70F046-4B87-4C06-BA31-279578726073}" type="presParOf" srcId="{57A7ADD9-3541-4FF3-AA10-6DA8DCF808D5}" destId="{D45C4E3A-686A-420F-BE95-3F2EC2C6134A}" srcOrd="0" destOrd="0" presId="urn:microsoft.com/office/officeart/2005/8/layout/hierarchy2"/>
    <dgm:cxn modelId="{C74D8E96-8F89-4798-9E88-917330A6DF4C}" type="presParOf" srcId="{57A7ADD9-3541-4FF3-AA10-6DA8DCF808D5}" destId="{5A1D9051-6657-436B-A63D-A37F3C63B083}" srcOrd="1" destOrd="0" presId="urn:microsoft.com/office/officeart/2005/8/layout/hierarchy2"/>
    <dgm:cxn modelId="{3C1740B7-ECA2-4AF9-80DB-32744EB91420}" type="presParOf" srcId="{7BE7AD6B-00B3-4479-96D1-01859C1B7721}" destId="{75992B5C-D1EB-45FF-8AEC-DB9C2BB2CC9B}" srcOrd="2" destOrd="0" presId="urn:microsoft.com/office/officeart/2005/8/layout/hierarchy2"/>
    <dgm:cxn modelId="{3ED44063-2004-4382-8DF9-6369DE43E893}" type="presParOf" srcId="{75992B5C-D1EB-45FF-8AEC-DB9C2BB2CC9B}" destId="{E25C163A-CC9A-465F-8E22-B2D629CFA392}" srcOrd="0" destOrd="0" presId="urn:microsoft.com/office/officeart/2005/8/layout/hierarchy2"/>
    <dgm:cxn modelId="{7976362E-E0B6-4CCD-A230-7FE9BC5327F5}" type="presParOf" srcId="{7BE7AD6B-00B3-4479-96D1-01859C1B7721}" destId="{F9D9252E-CEE4-4CBD-84D6-07786717EFA1}" srcOrd="3" destOrd="0" presId="urn:microsoft.com/office/officeart/2005/8/layout/hierarchy2"/>
    <dgm:cxn modelId="{9BF1B11C-0AB2-490D-9ED3-640D8D7E6CBC}" type="presParOf" srcId="{F9D9252E-CEE4-4CBD-84D6-07786717EFA1}" destId="{A22C86A3-B680-48B0-99A6-0E73D80C0B1C}" srcOrd="0" destOrd="0" presId="urn:microsoft.com/office/officeart/2005/8/layout/hierarchy2"/>
    <dgm:cxn modelId="{842E65E6-ACE7-4C00-8F13-8E11E8EAEF88}" type="presParOf" srcId="{F9D9252E-CEE4-4CBD-84D6-07786717EFA1}" destId="{E3F9D406-E1F0-48BD-94FA-D6981830BB90}" srcOrd="1" destOrd="0" presId="urn:microsoft.com/office/officeart/2005/8/layout/hierarchy2"/>
    <dgm:cxn modelId="{9F0D3B45-C011-4613-8814-1C9100120BCF}" type="presParOf" srcId="{7BE7AD6B-00B3-4479-96D1-01859C1B7721}" destId="{91878757-5F34-4912-8963-4AB280F8DD6D}" srcOrd="4" destOrd="0" presId="urn:microsoft.com/office/officeart/2005/8/layout/hierarchy2"/>
    <dgm:cxn modelId="{F3A58A0B-E11D-47D9-9DCA-68BDEC2A35BE}" type="presParOf" srcId="{91878757-5F34-4912-8963-4AB280F8DD6D}" destId="{8D3D539D-BD76-4E65-BF60-B100B16D1971}" srcOrd="0" destOrd="0" presId="urn:microsoft.com/office/officeart/2005/8/layout/hierarchy2"/>
    <dgm:cxn modelId="{F1A84E0F-F440-43DE-842B-EE6981BDD870}" type="presParOf" srcId="{7BE7AD6B-00B3-4479-96D1-01859C1B7721}" destId="{D3F3584D-D90A-42BD-9B7B-01F31EC1FCFA}" srcOrd="5" destOrd="0" presId="urn:microsoft.com/office/officeart/2005/8/layout/hierarchy2"/>
    <dgm:cxn modelId="{5830629F-1068-463E-9728-8ADD53CC5163}" type="presParOf" srcId="{D3F3584D-D90A-42BD-9B7B-01F31EC1FCFA}" destId="{B8E4701C-B2CC-47AB-8CDD-6E7EACB0969B}" srcOrd="0" destOrd="0" presId="urn:microsoft.com/office/officeart/2005/8/layout/hierarchy2"/>
    <dgm:cxn modelId="{D3C440F2-9FF6-47E9-9EA6-E7D48B621163}" type="presParOf" srcId="{D3F3584D-D90A-42BD-9B7B-01F31EC1FCFA}" destId="{249EBE16-CF5F-4846-B955-C0BB0EED873F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917B36-0CC6-4CA4-A1D0-83ECD7056A5B}">
      <dsp:nvSpPr>
        <dsp:cNvPr id="0" name=""/>
        <dsp:cNvSpPr/>
      </dsp:nvSpPr>
      <dsp:spPr>
        <a:xfrm>
          <a:off x="1334448" y="1278480"/>
          <a:ext cx="2220329" cy="11101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2225" tIns="22225" rIns="22225" bIns="22225" numCol="1" spcCol="1270" anchor="ctr" anchorCtr="0">
          <a:noAutofit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3500" kern="1200" dirty="0" smtClean="0"/>
            <a:t>KNUTH (1973)</a:t>
          </a:r>
        </a:p>
      </dsp:txBody>
      <dsp:txXfrm>
        <a:off x="1366964" y="1310996"/>
        <a:ext cx="2155297" cy="1045132"/>
      </dsp:txXfrm>
    </dsp:sp>
    <dsp:sp modelId="{A570891A-F3BB-46BA-9823-6C9DD5CA86CC}">
      <dsp:nvSpPr>
        <dsp:cNvPr id="0" name=""/>
        <dsp:cNvSpPr/>
      </dsp:nvSpPr>
      <dsp:spPr>
        <a:xfrm>
          <a:off x="3554777" y="1806316"/>
          <a:ext cx="888131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888131" y="2724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ES" sz="500" kern="1200"/>
        </a:p>
      </dsp:txBody>
      <dsp:txXfrm>
        <a:off x="3976640" y="1811359"/>
        <a:ext cx="44406" cy="44406"/>
      </dsp:txXfrm>
    </dsp:sp>
    <dsp:sp modelId="{34BD1330-733F-4EF1-8A63-E1514234D195}">
      <dsp:nvSpPr>
        <dsp:cNvPr id="0" name=""/>
        <dsp:cNvSpPr/>
      </dsp:nvSpPr>
      <dsp:spPr>
        <a:xfrm>
          <a:off x="4442909" y="1278480"/>
          <a:ext cx="2220329" cy="11101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2225" tIns="22225" rIns="22225" bIns="22225" numCol="1" spcCol="1270" anchor="ctr" anchorCtr="0">
          <a:noAutofit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3500" kern="1200" dirty="0" smtClean="0"/>
            <a:t>Ordenación básica</a:t>
          </a:r>
          <a:endParaRPr lang="es-ES" sz="3500" kern="1200" dirty="0"/>
        </a:p>
      </dsp:txBody>
      <dsp:txXfrm>
        <a:off x="4475425" y="1310996"/>
        <a:ext cx="2155297" cy="1045132"/>
      </dsp:txXfrm>
    </dsp:sp>
    <dsp:sp modelId="{2B478BFB-1B8F-40BF-BC62-52A8C707D7DF}">
      <dsp:nvSpPr>
        <dsp:cNvPr id="0" name=""/>
        <dsp:cNvSpPr/>
      </dsp:nvSpPr>
      <dsp:spPr>
        <a:xfrm rot="18289469">
          <a:off x="6329694" y="1167971"/>
          <a:ext cx="1555221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1555221" y="2724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ES" sz="600" kern="1200"/>
        </a:p>
      </dsp:txBody>
      <dsp:txXfrm>
        <a:off x="7068424" y="1156337"/>
        <a:ext cx="77761" cy="77761"/>
      </dsp:txXfrm>
    </dsp:sp>
    <dsp:sp modelId="{D45C4E3A-686A-420F-BE95-3F2EC2C6134A}">
      <dsp:nvSpPr>
        <dsp:cNvPr id="0" name=""/>
        <dsp:cNvSpPr/>
      </dsp:nvSpPr>
      <dsp:spPr>
        <a:xfrm>
          <a:off x="7551371" y="1790"/>
          <a:ext cx="2220329" cy="11101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2225" tIns="22225" rIns="22225" bIns="22225" numCol="1" spcCol="1270" anchor="ctr" anchorCtr="0">
          <a:noAutofit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3500" kern="1200" dirty="0" smtClean="0"/>
            <a:t>Selección</a:t>
          </a:r>
          <a:endParaRPr lang="es-ES" sz="3500" kern="1200" dirty="0"/>
        </a:p>
      </dsp:txBody>
      <dsp:txXfrm>
        <a:off x="7583887" y="34306"/>
        <a:ext cx="2155297" cy="1045132"/>
      </dsp:txXfrm>
    </dsp:sp>
    <dsp:sp modelId="{75992B5C-D1EB-45FF-8AEC-DB9C2BB2CC9B}">
      <dsp:nvSpPr>
        <dsp:cNvPr id="0" name=""/>
        <dsp:cNvSpPr/>
      </dsp:nvSpPr>
      <dsp:spPr>
        <a:xfrm>
          <a:off x="6663239" y="1806316"/>
          <a:ext cx="888131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888131" y="2724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ES" sz="500" kern="1200"/>
        </a:p>
      </dsp:txBody>
      <dsp:txXfrm>
        <a:off x="7085101" y="1811359"/>
        <a:ext cx="44406" cy="44406"/>
      </dsp:txXfrm>
    </dsp:sp>
    <dsp:sp modelId="{A22C86A3-B680-48B0-99A6-0E73D80C0B1C}">
      <dsp:nvSpPr>
        <dsp:cNvPr id="0" name=""/>
        <dsp:cNvSpPr/>
      </dsp:nvSpPr>
      <dsp:spPr>
        <a:xfrm>
          <a:off x="7551371" y="1278480"/>
          <a:ext cx="2220329" cy="11101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2225" tIns="22225" rIns="22225" bIns="22225" numCol="1" spcCol="1270" anchor="ctr" anchorCtr="0">
          <a:noAutofit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3500" kern="1200" dirty="0" smtClean="0"/>
            <a:t>Inserción</a:t>
          </a:r>
          <a:endParaRPr lang="es-ES" sz="3500" kern="1200" dirty="0"/>
        </a:p>
      </dsp:txBody>
      <dsp:txXfrm>
        <a:off x="7583887" y="1310996"/>
        <a:ext cx="2155297" cy="1045132"/>
      </dsp:txXfrm>
    </dsp:sp>
    <dsp:sp modelId="{91878757-5F34-4912-8963-4AB280F8DD6D}">
      <dsp:nvSpPr>
        <dsp:cNvPr id="0" name=""/>
        <dsp:cNvSpPr/>
      </dsp:nvSpPr>
      <dsp:spPr>
        <a:xfrm rot="3310531">
          <a:off x="6329694" y="2444661"/>
          <a:ext cx="1555221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1555221" y="2724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ES" sz="600" kern="1200"/>
        </a:p>
      </dsp:txBody>
      <dsp:txXfrm>
        <a:off x="7068424" y="2433026"/>
        <a:ext cx="77761" cy="77761"/>
      </dsp:txXfrm>
    </dsp:sp>
    <dsp:sp modelId="{B8E4701C-B2CC-47AB-8CDD-6E7EACB0969B}">
      <dsp:nvSpPr>
        <dsp:cNvPr id="0" name=""/>
        <dsp:cNvSpPr/>
      </dsp:nvSpPr>
      <dsp:spPr>
        <a:xfrm>
          <a:off x="7551371" y="2555169"/>
          <a:ext cx="2220329" cy="11101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2225" tIns="22225" rIns="22225" bIns="22225" numCol="1" spcCol="1270" anchor="ctr" anchorCtr="0">
          <a:noAutofit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3500" kern="1200" dirty="0" smtClean="0"/>
            <a:t>Burbuja</a:t>
          </a:r>
          <a:endParaRPr lang="es-ES" sz="3500" kern="1200" dirty="0"/>
        </a:p>
      </dsp:txBody>
      <dsp:txXfrm>
        <a:off x="7583887" y="2587685"/>
        <a:ext cx="2155297" cy="10451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722927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4431723" y="1526166"/>
            <a:ext cx="7443354" cy="2387600"/>
          </a:xfrm>
        </p:spPr>
        <p:txBody>
          <a:bodyPr anchor="b"/>
          <a:lstStyle>
            <a:lvl1pPr algn="ctr">
              <a:defRPr sz="6000" b="1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s-ES" dirty="0" smtClean="0"/>
              <a:t>HAGA CLIC PARA MODIFICAR</a:t>
            </a:r>
            <a:endParaRPr lang="es-CO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431723" y="3913766"/>
            <a:ext cx="7760278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CO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663BBFF-77C1-4BF1-A3B2-2505841100BA}" type="datetimeFigureOut">
              <a:rPr lang="en-US" smtClean="0"/>
              <a:t>8/24/2022</a:t>
            </a:fld>
            <a:endParaRPr lang="en-U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0237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arcador de contenido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217758" cy="6858001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4621" y="1435389"/>
            <a:ext cx="10515600" cy="1325563"/>
          </a:xfrm>
        </p:spPr>
        <p:txBody>
          <a:bodyPr/>
          <a:lstStyle>
            <a:lvl1pPr algn="ctr">
              <a:defRPr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091044" y="3044535"/>
            <a:ext cx="10262755" cy="3132427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D2BB1-BB31-4EB8-A961-18800A74EAA8}" type="datetimeFigureOut">
              <a:rPr lang="en-US" smtClean="0"/>
              <a:t>8/24/2022</a:t>
            </a:fld>
            <a:endParaRPr lang="en-U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913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arcador de contenido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217758" cy="6858001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0B886-74BB-4D5E-9EA9-584482FE40E6}" type="datetimeFigureOut">
              <a:rPr lang="en-US" smtClean="0"/>
              <a:t>8/24/2022</a:t>
            </a:fld>
            <a:endParaRPr lang="en-U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311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Marcador de contenido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217758" cy="6858001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4CCD1-3502-4C30-947C-75FC88992007}" type="datetimeFigureOut">
              <a:rPr lang="en-US" smtClean="0"/>
              <a:t>8/24/2022</a:t>
            </a:fld>
            <a:endParaRPr lang="en-US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381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Marcador de contenido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217758" cy="6858001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B797A-E8AF-4231-9C64-308C5BB9ED3E}" type="datetimeFigureOut">
              <a:rPr lang="en-US" smtClean="0"/>
              <a:t>8/24/2022</a:t>
            </a:fld>
            <a:endParaRPr lang="en-US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4383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cador de contenido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217758" cy="6858001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24146-07E2-48CA-8629-5887ED47FCDB}" type="datetimeFigureOut">
              <a:rPr lang="en-US" smtClean="0"/>
              <a:t>8/24/2022</a:t>
            </a:fld>
            <a:endParaRPr lang="en-U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7241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217758" cy="6858001"/>
          </a:xfrm>
          <a:prstGeom prst="rect">
            <a:avLst/>
          </a:prstGeom>
        </p:spPr>
      </p:pic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7E718-B4F0-433E-A285-0013249184C0}" type="datetimeFigureOut">
              <a:rPr lang="en-US" smtClean="0"/>
              <a:t>8/24/2022</a:t>
            </a:fld>
            <a:endParaRPr lang="en-US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3857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Marcador de contenido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217758" cy="6858001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E44C4-3D72-4D6E-86A4-F5491DC49E6D}" type="datetimeFigureOut">
              <a:rPr lang="en-US" smtClean="0"/>
              <a:t>8/24/2022</a:t>
            </a:fld>
            <a:endParaRPr lang="en-US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5151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Marcador de contenido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217758" cy="6858001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8EA14-E6AC-4B59-973C-7A06B0EDE3E3}" type="datetimeFigureOut">
              <a:rPr lang="en-US" smtClean="0"/>
              <a:t>8/24/2022</a:t>
            </a:fld>
            <a:endParaRPr lang="en-US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4162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arcador de contenido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217758" cy="6858001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D2069-43FA-49C5-9F0E-58E1EB237AEF}" type="datetimeFigureOut">
              <a:rPr lang="en-US" smtClean="0"/>
              <a:t>8/24/2022</a:t>
            </a:fld>
            <a:endParaRPr lang="en-U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5286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arcador de contenido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217758" cy="6858001"/>
          </a:xfrm>
          <a:prstGeom prst="rect">
            <a:avLst/>
          </a:prstGeom>
        </p:spPr>
      </p:pic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854CA-19F4-4771-B6A2-DA5C0742B220}" type="datetimeFigureOut">
              <a:rPr lang="en-US" smtClean="0"/>
              <a:t>8/24/2022</a:t>
            </a:fld>
            <a:endParaRPr lang="en-U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8374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BB3B3F-C0CE-47CB-BCED-F49A710726FF}" type="datetimeFigureOut">
              <a:rPr lang="en-US" smtClean="0"/>
              <a:t>8/24/2022</a:t>
            </a:fld>
            <a:endParaRPr lang="en-U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6676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://search.ebscohost.com/login.aspx?direct=true&amp;db=nlebk&amp;AN=54565&amp;site=ehost-liv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5277394" y="3581814"/>
            <a:ext cx="6284133" cy="1631216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defRPr/>
            </a:pPr>
            <a:endParaRPr lang="es-ES" sz="2000" dirty="0">
              <a:ln w="10541" cmpd="sng">
                <a:noFill/>
                <a:prstDash val="solid"/>
              </a:ln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defRPr/>
            </a:pPr>
            <a:r>
              <a:rPr lang="es-ES" sz="2000" dirty="0" smtClean="0">
                <a:ln w="10541" cmpd="sng">
                  <a:noFill/>
                  <a:prstDash val="solid"/>
                </a:ln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Ing. Jaider de la Rosa Bertel</a:t>
            </a:r>
          </a:p>
          <a:p>
            <a:pPr algn="ctr">
              <a:defRPr/>
            </a:pPr>
            <a:r>
              <a:rPr lang="es-ES" dirty="0" smtClean="0">
                <a:ln w="10541" cmpd="sng">
                  <a:noFill/>
                  <a:prstDash val="solid"/>
                </a:ln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Msc. Ingeniería de Software y Sistemas Informáticos</a:t>
            </a:r>
          </a:p>
          <a:p>
            <a:pPr algn="ctr">
              <a:defRPr/>
            </a:pPr>
            <a:r>
              <a:rPr lang="es-ES" sz="2000" dirty="0" smtClean="0">
                <a:ln w="10541" cmpd="sng">
                  <a:noFill/>
                  <a:prstDash val="solid"/>
                </a:ln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Docente_ingenieria3@corposucre.edu.co</a:t>
            </a:r>
          </a:p>
          <a:p>
            <a:pPr algn="ctr">
              <a:defRPr/>
            </a:pPr>
            <a:endParaRPr lang="es-ES" sz="2000" dirty="0">
              <a:ln w="10541" cmpd="sng">
                <a:solidFill>
                  <a:srgbClr val="4F81BD">
                    <a:shade val="88000"/>
                    <a:satMod val="110000"/>
                  </a:srgbClr>
                </a:solidFill>
                <a:prstDash val="solid"/>
              </a:ln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5"/>
          <p:cNvSpPr/>
          <p:nvPr/>
        </p:nvSpPr>
        <p:spPr>
          <a:xfrm>
            <a:off x="5368564" y="1704571"/>
            <a:ext cx="6101791" cy="156966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s-ES" sz="3200" dirty="0">
                <a:ln w="10541" cmpd="sng">
                  <a:noFill/>
                  <a:prstDash val="solid"/>
                </a:ln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UNIDAD N°1: </a:t>
            </a:r>
            <a:r>
              <a:rPr lang="es-ES" sz="3200" dirty="0" smtClean="0">
                <a:ln w="10541" cmpd="sng">
                  <a:noFill/>
                  <a:prstDash val="solid"/>
                </a:ln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INTRODUCCIÓN A L AS ESTRUCTURA DE DATOS – Parte </a:t>
            </a:r>
            <a:r>
              <a:rPr lang="es-ES" sz="3200" dirty="0" smtClean="0">
                <a:ln w="10541" cmpd="sng">
                  <a:noFill/>
                  <a:prstDash val="solid"/>
                </a:ln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s-ES" sz="3200" dirty="0">
              <a:ln w="10541" cmpd="sng">
                <a:noFill/>
                <a:prstDash val="solid"/>
              </a:ln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2263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28636" y="313588"/>
            <a:ext cx="7043739" cy="1077062"/>
          </a:xfrm>
        </p:spPr>
        <p:txBody>
          <a:bodyPr/>
          <a:lstStyle/>
          <a:p>
            <a:pPr algn="l"/>
            <a:r>
              <a:rPr lang="es-MX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Agenda:</a:t>
            </a:r>
            <a:endParaRPr lang="es-CO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Marcador de contenido 4"/>
          <p:cNvSpPr>
            <a:spLocks noGrp="1"/>
          </p:cNvSpPr>
          <p:nvPr>
            <p:ph idx="1"/>
          </p:nvPr>
        </p:nvSpPr>
        <p:spPr>
          <a:xfrm>
            <a:off x="652894" y="1390651"/>
            <a:ext cx="11177156" cy="48387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3000" dirty="0"/>
              <a:t>1</a:t>
            </a:r>
            <a:r>
              <a:rPr lang="es-MX" sz="3000" dirty="0" smtClean="0"/>
              <a:t>. </a:t>
            </a:r>
            <a:r>
              <a:rPr lang="es-MX" sz="3000" b="1" dirty="0"/>
              <a:t>Arreglos </a:t>
            </a:r>
            <a:r>
              <a:rPr lang="es-MX" sz="3000" b="1" dirty="0" smtClean="0"/>
              <a:t>– Ordenamiento y Búsqueda</a:t>
            </a:r>
            <a:r>
              <a:rPr lang="es-MX" sz="3000" b="1" dirty="0" smtClean="0"/>
              <a:t>.</a:t>
            </a:r>
            <a:endParaRPr lang="es-MX" sz="3000" b="1" dirty="0"/>
          </a:p>
          <a:p>
            <a:pPr lvl="1"/>
            <a:r>
              <a:rPr lang="es-CO" dirty="0"/>
              <a:t>Ordenación.</a:t>
            </a:r>
          </a:p>
          <a:p>
            <a:pPr lvl="1"/>
            <a:r>
              <a:rPr lang="es-CO" dirty="0"/>
              <a:t>Algoritmos de ordenación básicos. </a:t>
            </a:r>
          </a:p>
          <a:p>
            <a:pPr lvl="1"/>
            <a:r>
              <a:rPr lang="es-CO" dirty="0"/>
              <a:t>Ordenación por intercambio. </a:t>
            </a:r>
          </a:p>
          <a:p>
            <a:pPr lvl="1"/>
            <a:r>
              <a:rPr lang="es-CO" dirty="0"/>
              <a:t>Ordenación por selección. </a:t>
            </a:r>
          </a:p>
          <a:p>
            <a:pPr lvl="1"/>
            <a:r>
              <a:rPr lang="es-CO" dirty="0"/>
              <a:t>Ordenación por inserción.</a:t>
            </a:r>
          </a:p>
          <a:p>
            <a:pPr lvl="1"/>
            <a:r>
              <a:rPr lang="es-CO" dirty="0"/>
              <a:t>Ordenación por Shell.</a:t>
            </a:r>
          </a:p>
          <a:p>
            <a:pPr lvl="1"/>
            <a:r>
              <a:rPr lang="es-CO" dirty="0"/>
              <a:t>Ordenación rápida (QuickSort).</a:t>
            </a:r>
          </a:p>
          <a:p>
            <a:pPr marL="0" indent="0">
              <a:buNone/>
            </a:pPr>
            <a:r>
              <a:rPr lang="es-MX" sz="3000" dirty="0" smtClean="0"/>
              <a:t>	</a:t>
            </a:r>
            <a:endParaRPr lang="es-MX" sz="3000" dirty="0"/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endParaRPr lang="es-MX" dirty="0"/>
          </a:p>
        </p:txBody>
      </p:sp>
      <p:pic>
        <p:nvPicPr>
          <p:cNvPr id="3" name="Imagen 2" descr="Iniciación a la programación (TIC 2015): Qué es un algoritmo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3650" y="2237820"/>
            <a:ext cx="4909133" cy="36343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160856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19150" y="1343025"/>
            <a:ext cx="5995094" cy="49911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>
              <a:buNone/>
            </a:pPr>
            <a:r>
              <a:rPr lang="es-MX" b="1" dirty="0" smtClean="0"/>
              <a:t>Conceptualización:</a:t>
            </a:r>
          </a:p>
          <a:p>
            <a:pPr marL="0" indent="0" algn="just">
              <a:buNone/>
            </a:pPr>
            <a:r>
              <a:rPr lang="es-MX" dirty="0"/>
              <a:t>La </a:t>
            </a:r>
            <a:r>
              <a:rPr lang="es-MX" b="1" dirty="0"/>
              <a:t>ordenación</a:t>
            </a:r>
            <a:r>
              <a:rPr lang="es-MX" dirty="0"/>
              <a:t> o </a:t>
            </a:r>
            <a:r>
              <a:rPr lang="es-MX" b="1" dirty="0"/>
              <a:t>clasificación</a:t>
            </a:r>
            <a:r>
              <a:rPr lang="es-MX" dirty="0"/>
              <a:t> de datos (</a:t>
            </a:r>
            <a:r>
              <a:rPr lang="es-MX" dirty="0" err="1"/>
              <a:t>sort</a:t>
            </a:r>
            <a:r>
              <a:rPr lang="es-MX" dirty="0"/>
              <a:t>, en inglés) es una operación consistente en disponer un conjunto </a:t>
            </a:r>
            <a:r>
              <a:rPr lang="es-MX" dirty="0" smtClean="0"/>
              <a:t>– estructura-	 </a:t>
            </a:r>
            <a:r>
              <a:rPr lang="es-MX" dirty="0"/>
              <a:t>de datos en algún determinado orden con respecto a uno de los </a:t>
            </a:r>
            <a:r>
              <a:rPr lang="es-MX" i="1" dirty="0"/>
              <a:t>campos</a:t>
            </a:r>
            <a:r>
              <a:rPr lang="es-MX" dirty="0"/>
              <a:t> de los elementos del </a:t>
            </a:r>
            <a:r>
              <a:rPr lang="es-MX" dirty="0" smtClean="0"/>
              <a:t>conjunto.</a:t>
            </a:r>
            <a:endParaRPr lang="es-MX" sz="2400" dirty="0"/>
          </a:p>
        </p:txBody>
      </p:sp>
      <p:sp>
        <p:nvSpPr>
          <p:cNvPr id="6" name="Título 1"/>
          <p:cNvSpPr txBox="1">
            <a:spLocks/>
          </p:cNvSpPr>
          <p:nvPr/>
        </p:nvSpPr>
        <p:spPr>
          <a:xfrm>
            <a:off x="1376361" y="600074"/>
            <a:ext cx="7043739" cy="8858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dirty="0" smtClean="0"/>
              <a:t>Arreglos </a:t>
            </a:r>
            <a:r>
              <a:rPr lang="es-MX" dirty="0" smtClean="0"/>
              <a:t>- Ordenamiento</a:t>
            </a:r>
            <a:endParaRPr lang="es-C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C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n 4" descr="Fotos gratis : número, patrón, juguete, fuente, pieza, rompecabezas ..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2800" y="1995487"/>
            <a:ext cx="4286250" cy="3214688"/>
          </a:xfrm>
          <a:prstGeom prst="rect">
            <a:avLst/>
          </a:prstGeom>
          <a:solidFill>
            <a:srgbClr val="FFFFFF">
              <a:shade val="85000"/>
            </a:srgbClr>
          </a:solidFill>
          <a:ln w="101600" cap="sq">
            <a:solidFill>
              <a:srgbClr val="FDFDFD"/>
            </a:solidFill>
            <a:miter lim="800000"/>
          </a:ln>
          <a:effectLst>
            <a:outerShdw blurRad="57150" dist="37500" dir="7560000" sy="98000" kx="110000" ky="200000" algn="tl" rotWithShape="0">
              <a:srgbClr val="000000">
                <a:alpha val="20000"/>
              </a:srgbClr>
            </a:outerShdw>
          </a:effectLst>
          <a:scene3d>
            <a:camera prst="perspectiveRelaxed">
              <a:rot lat="18960000" lon="0" rev="0"/>
            </a:camera>
            <a:lightRig rig="twoPt" dir="t">
              <a:rot lat="0" lon="0" rev="7200000"/>
            </a:lightRig>
          </a:scene3d>
          <a:sp3d prstMaterial="matte">
            <a:bevelT w="22860" h="1270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206440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61975" y="1343025"/>
            <a:ext cx="11068049" cy="49911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>
              <a:buNone/>
            </a:pPr>
            <a:r>
              <a:rPr lang="es-MX" b="1" dirty="0" smtClean="0"/>
              <a:t>Conceptualización:</a:t>
            </a:r>
          </a:p>
          <a:p>
            <a:pPr marL="0" indent="0" algn="just">
              <a:buNone/>
            </a:pPr>
            <a:r>
              <a:rPr lang="es-MX" dirty="0"/>
              <a:t>Por </a:t>
            </a:r>
            <a:r>
              <a:rPr lang="es-MX" b="1" dirty="0"/>
              <a:t>ejemplo</a:t>
            </a:r>
            <a:r>
              <a:rPr lang="es-MX" dirty="0"/>
              <a:t>, cada elemento del conjunto de datos de una guía telefónica tiene un campo nombre, un campo dirección y un campo número de </a:t>
            </a:r>
            <a:r>
              <a:rPr lang="es-MX" dirty="0" smtClean="0"/>
              <a:t>teléfono</a:t>
            </a:r>
            <a:r>
              <a:rPr lang="es-MX" dirty="0"/>
              <a:t>; la </a:t>
            </a:r>
            <a:r>
              <a:rPr lang="es-MX" dirty="0" smtClean="0"/>
              <a:t>guía </a:t>
            </a:r>
            <a:r>
              <a:rPr lang="es-MX" dirty="0"/>
              <a:t>telefónica está dispuesta en orden alfabético de nombres. Los elementos numéricos se pueden ordenar en orden creciente o decreciente de acuerdo al valor </a:t>
            </a:r>
            <a:r>
              <a:rPr lang="es-MX" dirty="0" smtClean="0"/>
              <a:t>numérico </a:t>
            </a:r>
            <a:r>
              <a:rPr lang="es-MX" dirty="0"/>
              <a:t>del elemento. En terminología de ordenación, el elemento por el cual está ordenado un conjunto de datos (o se está buscando) se denomina </a:t>
            </a:r>
            <a:r>
              <a:rPr lang="es-MX" dirty="0" smtClean="0"/>
              <a:t>clavel</a:t>
            </a:r>
            <a:endParaRPr lang="es-MX" dirty="0"/>
          </a:p>
        </p:txBody>
      </p:sp>
      <p:sp>
        <p:nvSpPr>
          <p:cNvPr id="6" name="Título 1"/>
          <p:cNvSpPr txBox="1">
            <a:spLocks/>
          </p:cNvSpPr>
          <p:nvPr/>
        </p:nvSpPr>
        <p:spPr>
          <a:xfrm>
            <a:off x="1376361" y="600074"/>
            <a:ext cx="7043739" cy="8858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dirty="0" smtClean="0"/>
              <a:t>Arreglos </a:t>
            </a:r>
            <a:r>
              <a:rPr lang="es-MX" dirty="0" smtClean="0"/>
              <a:t>- Ordenamiento</a:t>
            </a:r>
            <a:endParaRPr lang="es-C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C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8736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/>
          <p:cNvSpPr txBox="1">
            <a:spLocks/>
          </p:cNvSpPr>
          <p:nvPr/>
        </p:nvSpPr>
        <p:spPr>
          <a:xfrm>
            <a:off x="1376361" y="600074"/>
            <a:ext cx="7043739" cy="8858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dirty="0" smtClean="0"/>
              <a:t>Arreglos </a:t>
            </a:r>
            <a:r>
              <a:rPr lang="es-MX" dirty="0" smtClean="0"/>
              <a:t>- Ordenamiento</a:t>
            </a:r>
            <a:endParaRPr lang="es-C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C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Marcador de conteni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9795669"/>
              </p:ext>
            </p:extLst>
          </p:nvPr>
        </p:nvGraphicFramePr>
        <p:xfrm>
          <a:off x="609600" y="1590674"/>
          <a:ext cx="11106149" cy="36671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ectángulo 4"/>
          <p:cNvSpPr/>
          <p:nvPr/>
        </p:nvSpPr>
        <p:spPr>
          <a:xfrm>
            <a:off x="1100136" y="5848349"/>
            <a:ext cx="9701214" cy="64633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CO" dirty="0"/>
              <a:t>[KNUTH 1973] Donald E. </a:t>
            </a:r>
            <a:r>
              <a:rPr lang="es-CO" dirty="0" err="1"/>
              <a:t>Knulh</a:t>
            </a:r>
            <a:r>
              <a:rPr lang="es-CO" dirty="0"/>
              <a:t>. The Art of </a:t>
            </a:r>
            <a:r>
              <a:rPr lang="es-CO" dirty="0" err="1"/>
              <a:t>Computer</a:t>
            </a:r>
            <a:r>
              <a:rPr lang="es-CO" dirty="0"/>
              <a:t> Programming </a:t>
            </a:r>
            <a:r>
              <a:rPr lang="es-CO" dirty="0" err="1"/>
              <a:t>Surfing</a:t>
            </a:r>
            <a:r>
              <a:rPr lang="es-CO" dirty="0"/>
              <a:t> and </a:t>
            </a:r>
            <a:r>
              <a:rPr lang="es-CO" dirty="0" err="1"/>
              <a:t>Searching</a:t>
            </a:r>
            <a:r>
              <a:rPr lang="es-CO" dirty="0"/>
              <a:t>. Volumen 3 Addison-Wesley, </a:t>
            </a:r>
            <a:r>
              <a:rPr lang="es-CO" dirty="0" smtClean="0"/>
              <a:t>1973.	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904722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61975" y="1343025"/>
            <a:ext cx="11068049" cy="49911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>
              <a:buNone/>
            </a:pPr>
            <a:r>
              <a:rPr lang="es-MX" dirty="0" smtClean="0"/>
              <a:t>Los </a:t>
            </a:r>
            <a:r>
              <a:rPr lang="es-MX" dirty="0"/>
              <a:t>métodos mas recomendados son el de </a:t>
            </a:r>
            <a:r>
              <a:rPr lang="es-MX" b="1" dirty="0"/>
              <a:t>selección</a:t>
            </a:r>
            <a:r>
              <a:rPr lang="es-MX" dirty="0"/>
              <a:t> y el de </a:t>
            </a:r>
            <a:r>
              <a:rPr lang="es-MX" b="1" dirty="0"/>
              <a:t>inserción</a:t>
            </a:r>
            <a:r>
              <a:rPr lang="es-MX" dirty="0"/>
              <a:t>, aunque se estudiará </a:t>
            </a:r>
            <a:r>
              <a:rPr lang="es-MX" dirty="0" smtClean="0"/>
              <a:t>el </a:t>
            </a:r>
            <a:r>
              <a:rPr lang="es-MX" dirty="0"/>
              <a:t>método de </a:t>
            </a:r>
            <a:r>
              <a:rPr lang="es-MX" b="1" dirty="0"/>
              <a:t>burbuja</a:t>
            </a:r>
            <a:r>
              <a:rPr lang="es-MX" dirty="0"/>
              <a:t> por ser el más sencillo, pero también es el más </a:t>
            </a:r>
            <a:r>
              <a:rPr lang="es-MX" b="1" dirty="0"/>
              <a:t>ineﬁciente</a:t>
            </a:r>
            <a:r>
              <a:rPr lang="es-MX" dirty="0"/>
              <a:t>; por esta causa no se recomienda su uso, pero si </a:t>
            </a:r>
            <a:r>
              <a:rPr lang="es-MX" dirty="0" smtClean="0"/>
              <a:t>conocer </a:t>
            </a:r>
            <a:r>
              <a:rPr lang="es-MX" dirty="0"/>
              <a:t>su </a:t>
            </a:r>
            <a:r>
              <a:rPr lang="es-MX" dirty="0" smtClean="0"/>
              <a:t>técnica.</a:t>
            </a:r>
          </a:p>
          <a:p>
            <a:pPr marL="0" indent="0" algn="just">
              <a:buNone/>
            </a:pPr>
            <a:endParaRPr lang="es-MX" dirty="0"/>
          </a:p>
        </p:txBody>
      </p:sp>
      <p:sp>
        <p:nvSpPr>
          <p:cNvPr id="6" name="Título 1"/>
          <p:cNvSpPr txBox="1">
            <a:spLocks/>
          </p:cNvSpPr>
          <p:nvPr/>
        </p:nvSpPr>
        <p:spPr>
          <a:xfrm>
            <a:off x="1376361" y="600074"/>
            <a:ext cx="7043739" cy="8858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dirty="0" smtClean="0"/>
              <a:t>Arreglos </a:t>
            </a:r>
            <a:r>
              <a:rPr lang="es-MX" dirty="0" smtClean="0"/>
              <a:t>- Ordenamiento</a:t>
            </a:r>
            <a:endParaRPr lang="es-C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C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1174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61975" y="1343025"/>
            <a:ext cx="11068049" cy="49911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>
              <a:buNone/>
            </a:pPr>
            <a:r>
              <a:rPr lang="es-MX" b="1" dirty="0" smtClean="0"/>
              <a:t>Ordenación por intercambio:</a:t>
            </a:r>
          </a:p>
          <a:p>
            <a:pPr marL="0" indent="0" algn="just">
              <a:buNone/>
            </a:pPr>
            <a:r>
              <a:rPr lang="es-MX" dirty="0"/>
              <a:t>El algoritmo de ordenación tal vez mas sencillo sea el denominado de intercambio, que ordena los elementos de una lista en </a:t>
            </a:r>
            <a:r>
              <a:rPr lang="es-MX" b="1" dirty="0"/>
              <a:t>orden ascendente</a:t>
            </a:r>
            <a:r>
              <a:rPr lang="es-MX" dirty="0"/>
              <a:t>. El algoritmo se basa en la lectura sucesiva de la lista a ordenar, </a:t>
            </a:r>
            <a:r>
              <a:rPr lang="es-MX" b="1" dirty="0"/>
              <a:t>comparando</a:t>
            </a:r>
            <a:r>
              <a:rPr lang="es-MX" dirty="0"/>
              <a:t> el </a:t>
            </a:r>
            <a:r>
              <a:rPr lang="es-MX" b="1" dirty="0"/>
              <a:t>elemento inferior </a:t>
            </a:r>
            <a:r>
              <a:rPr lang="es-MX" dirty="0"/>
              <a:t>de la lista con los restantes y </a:t>
            </a:r>
            <a:r>
              <a:rPr lang="es-MX" b="1" dirty="0"/>
              <a:t>efectuando un intercambio de posiciones </a:t>
            </a:r>
            <a:r>
              <a:rPr lang="es-MX" dirty="0"/>
              <a:t>cuando el orden resultante de la comparación no sea el </a:t>
            </a:r>
            <a:r>
              <a:rPr lang="es-MX" dirty="0" smtClean="0"/>
              <a:t>correcto.</a:t>
            </a:r>
            <a:endParaRPr lang="es-MX" dirty="0"/>
          </a:p>
        </p:txBody>
      </p:sp>
      <p:sp>
        <p:nvSpPr>
          <p:cNvPr id="6" name="Título 1"/>
          <p:cNvSpPr txBox="1">
            <a:spLocks/>
          </p:cNvSpPr>
          <p:nvPr/>
        </p:nvSpPr>
        <p:spPr>
          <a:xfrm>
            <a:off x="1376361" y="600074"/>
            <a:ext cx="7043739" cy="8858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dirty="0" smtClean="0"/>
              <a:t>Arreglos </a:t>
            </a:r>
            <a:r>
              <a:rPr lang="es-MX" dirty="0" smtClean="0"/>
              <a:t>- Ordenamiento</a:t>
            </a:r>
            <a:endParaRPr lang="es-C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C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7235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61975" y="1343025"/>
            <a:ext cx="11068049" cy="49911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>
              <a:buNone/>
            </a:pPr>
            <a:r>
              <a:rPr lang="es-MX" b="1" dirty="0" smtClean="0"/>
              <a:t>Ordenación por intercambio:</a:t>
            </a:r>
          </a:p>
          <a:p>
            <a:pPr marL="0" indent="0" algn="just">
              <a:buNone/>
            </a:pPr>
            <a:r>
              <a:rPr lang="es-MX" dirty="0" smtClean="0"/>
              <a:t>El algoritmo </a:t>
            </a:r>
            <a:r>
              <a:rPr lang="es-MX" dirty="0"/>
              <a:t>se ilustra con </a:t>
            </a:r>
            <a:r>
              <a:rPr lang="es-MX" dirty="0" smtClean="0"/>
              <a:t>la </a:t>
            </a:r>
            <a:r>
              <a:rPr lang="es-MX" dirty="0"/>
              <a:t>lista original </a:t>
            </a:r>
            <a:r>
              <a:rPr lang="es-MX" b="1" i="1" dirty="0"/>
              <a:t>8, 4, 6, 2 </a:t>
            </a:r>
            <a:r>
              <a:rPr lang="es-MX" dirty="0"/>
              <a:t>que ha de convertirse en la lista ordenada </a:t>
            </a:r>
            <a:r>
              <a:rPr lang="es-MX" b="1" i="1" dirty="0"/>
              <a:t>2, 4, 6, 8</a:t>
            </a:r>
            <a:r>
              <a:rPr lang="es-MX" dirty="0"/>
              <a:t>. El algoritmo efectúa </a:t>
            </a:r>
            <a:r>
              <a:rPr lang="es-MX" b="1" dirty="0" smtClean="0"/>
              <a:t>n-1</a:t>
            </a:r>
            <a:r>
              <a:rPr lang="es-MX" dirty="0" smtClean="0"/>
              <a:t> </a:t>
            </a:r>
            <a:r>
              <a:rPr lang="es-MX" dirty="0"/>
              <a:t>pasadas (3 en el ejemplo), siendo </a:t>
            </a:r>
            <a:r>
              <a:rPr lang="es-MX" b="1" i="1" dirty="0" smtClean="0"/>
              <a:t>n</a:t>
            </a:r>
            <a:r>
              <a:rPr lang="es-MX" dirty="0" smtClean="0"/>
              <a:t> </a:t>
            </a:r>
            <a:r>
              <a:rPr lang="es-MX" dirty="0"/>
              <a:t>el número de elementos, realizando las comparaciones indicadas en las figuras</a:t>
            </a:r>
            <a:r>
              <a:rPr lang="es-MX" dirty="0" smtClean="0"/>
              <a:t>.</a:t>
            </a:r>
            <a:endParaRPr lang="es-MX" dirty="0"/>
          </a:p>
        </p:txBody>
      </p:sp>
      <p:sp>
        <p:nvSpPr>
          <p:cNvPr id="6" name="Título 1"/>
          <p:cNvSpPr txBox="1">
            <a:spLocks/>
          </p:cNvSpPr>
          <p:nvPr/>
        </p:nvSpPr>
        <p:spPr>
          <a:xfrm>
            <a:off x="1376361" y="600074"/>
            <a:ext cx="7043739" cy="8858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dirty="0" smtClean="0"/>
              <a:t>Arreglos </a:t>
            </a:r>
            <a:r>
              <a:rPr lang="es-MX" dirty="0" smtClean="0"/>
              <a:t>- Ordenamiento</a:t>
            </a:r>
            <a:endParaRPr lang="es-C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C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5103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61975" y="1343025"/>
            <a:ext cx="11039475" cy="49911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>
              <a:buNone/>
            </a:pPr>
            <a:r>
              <a:rPr lang="es-MX" b="1" dirty="0" smtClean="0"/>
              <a:t>Ordenación por intercambio:</a:t>
            </a:r>
          </a:p>
          <a:p>
            <a:pPr marL="0" indent="0" algn="just">
              <a:buNone/>
            </a:pPr>
            <a:r>
              <a:rPr lang="es-MX" b="1" dirty="0" smtClean="0"/>
              <a:t>Pasada 1</a:t>
            </a:r>
            <a:r>
              <a:rPr lang="es-MX" b="1" dirty="0"/>
              <a:t>: </a:t>
            </a:r>
            <a:r>
              <a:rPr lang="es-MX" dirty="0"/>
              <a:t>El elemento de </a:t>
            </a:r>
            <a:r>
              <a:rPr lang="es-MX" dirty="0" smtClean="0"/>
              <a:t>índice </a:t>
            </a:r>
            <a:r>
              <a:rPr lang="es-MX" b="1" dirty="0"/>
              <a:t>0 (a [0] ) </a:t>
            </a:r>
            <a:r>
              <a:rPr lang="es-MX" dirty="0"/>
              <a:t>se compara con cada elemento posterior de la lista de </a:t>
            </a:r>
            <a:r>
              <a:rPr lang="es-MX" dirty="0" smtClean="0"/>
              <a:t>índices </a:t>
            </a:r>
            <a:r>
              <a:rPr lang="es-MX" b="1" dirty="0"/>
              <a:t>1 , 2 y 3</a:t>
            </a:r>
            <a:r>
              <a:rPr lang="es-MX" dirty="0"/>
              <a:t>, En cada comparación se comprueba si el elemento siguiente es más pequeño que el elemento de </a:t>
            </a:r>
            <a:r>
              <a:rPr lang="es-MX" dirty="0" smtClean="0"/>
              <a:t>índice </a:t>
            </a:r>
            <a:r>
              <a:rPr lang="es-MX" b="1" dirty="0"/>
              <a:t>0</a:t>
            </a:r>
            <a:r>
              <a:rPr lang="es-MX" dirty="0"/>
              <a:t> y en ese caso, se intercambian. </a:t>
            </a:r>
            <a:r>
              <a:rPr lang="es-MX" dirty="0" smtClean="0"/>
              <a:t>Después </a:t>
            </a:r>
            <a:r>
              <a:rPr lang="es-MX" dirty="0"/>
              <a:t>de terminar todas las comparaciones, el elemento mas pequeño se sitúa </a:t>
            </a:r>
            <a:r>
              <a:rPr lang="es-MX" dirty="0" smtClean="0"/>
              <a:t>en el </a:t>
            </a:r>
            <a:r>
              <a:rPr lang="es-MX" b="1" dirty="0"/>
              <a:t>índice 0</a:t>
            </a:r>
            <a:r>
              <a:rPr lang="es-MX" b="1" dirty="0" smtClean="0"/>
              <a:t>.</a:t>
            </a:r>
            <a:endParaRPr lang="es-MX" b="1" dirty="0"/>
          </a:p>
        </p:txBody>
      </p:sp>
      <p:sp>
        <p:nvSpPr>
          <p:cNvPr id="6" name="Título 1"/>
          <p:cNvSpPr txBox="1">
            <a:spLocks/>
          </p:cNvSpPr>
          <p:nvPr/>
        </p:nvSpPr>
        <p:spPr>
          <a:xfrm>
            <a:off x="1376361" y="600074"/>
            <a:ext cx="7043739" cy="8858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dirty="0" smtClean="0"/>
              <a:t>Arreglos </a:t>
            </a:r>
            <a:r>
              <a:rPr lang="es-MX" dirty="0" smtClean="0"/>
              <a:t>- Ordenamiento</a:t>
            </a:r>
            <a:endParaRPr lang="es-C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C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7758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61975" y="1343025"/>
            <a:ext cx="11039475" cy="49911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>
              <a:buNone/>
            </a:pPr>
            <a:r>
              <a:rPr lang="es-MX" b="1" dirty="0" smtClean="0"/>
              <a:t>Ordenación por intercambio:</a:t>
            </a:r>
          </a:p>
          <a:p>
            <a:pPr marL="0" indent="0" algn="just">
              <a:buNone/>
            </a:pPr>
            <a:r>
              <a:rPr lang="es-MX" b="1" dirty="0" smtClean="0"/>
              <a:t>Pasada 1:</a:t>
            </a:r>
          </a:p>
          <a:p>
            <a:pPr marL="0" indent="0" algn="just">
              <a:buNone/>
            </a:pPr>
            <a:endParaRPr lang="es-MX" b="1" dirty="0"/>
          </a:p>
        </p:txBody>
      </p:sp>
      <p:sp>
        <p:nvSpPr>
          <p:cNvPr id="6" name="Título 1"/>
          <p:cNvSpPr txBox="1">
            <a:spLocks/>
          </p:cNvSpPr>
          <p:nvPr/>
        </p:nvSpPr>
        <p:spPr>
          <a:xfrm>
            <a:off x="1376361" y="600074"/>
            <a:ext cx="7043739" cy="8858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dirty="0" smtClean="0"/>
              <a:t>Arreglos </a:t>
            </a:r>
            <a:r>
              <a:rPr lang="es-MX" dirty="0" smtClean="0"/>
              <a:t>- Ordenamiento</a:t>
            </a:r>
            <a:endParaRPr lang="es-C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C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300" y="2021732"/>
            <a:ext cx="8539162" cy="4088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457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61975" y="1343025"/>
            <a:ext cx="11039475" cy="49911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>
              <a:buNone/>
            </a:pPr>
            <a:r>
              <a:rPr lang="es-MX" b="1" dirty="0" smtClean="0"/>
              <a:t>Ordenación por intercambio:</a:t>
            </a:r>
          </a:p>
          <a:p>
            <a:pPr marL="0" indent="0" algn="just">
              <a:buNone/>
            </a:pPr>
            <a:r>
              <a:rPr lang="es-MX" b="1" dirty="0" smtClean="0"/>
              <a:t>Pasada 2: </a:t>
            </a:r>
            <a:r>
              <a:rPr lang="es-MX" dirty="0"/>
              <a:t>El elemento más pequeño ya esta en la </a:t>
            </a:r>
            <a:r>
              <a:rPr lang="es-MX" dirty="0" smtClean="0"/>
              <a:t>posición </a:t>
            </a:r>
            <a:r>
              <a:rPr lang="es-MX" dirty="0"/>
              <a:t>de </a:t>
            </a:r>
            <a:r>
              <a:rPr lang="es-MX" b="1" dirty="0"/>
              <a:t>índice 0</a:t>
            </a:r>
            <a:r>
              <a:rPr lang="es-MX" dirty="0"/>
              <a:t>, y se considera la sublista restante </a:t>
            </a:r>
            <a:r>
              <a:rPr lang="es-MX" b="1" i="1" dirty="0" smtClean="0"/>
              <a:t>8, </a:t>
            </a:r>
            <a:r>
              <a:rPr lang="es-MX" b="1" i="1" dirty="0"/>
              <a:t>6, 4.</a:t>
            </a:r>
            <a:r>
              <a:rPr lang="es-MX" dirty="0"/>
              <a:t> El algoritmo continúa comparando el elemento de </a:t>
            </a:r>
            <a:r>
              <a:rPr lang="es-MX" b="1" dirty="0" smtClean="0"/>
              <a:t>índice </a:t>
            </a:r>
            <a:r>
              <a:rPr lang="es-MX" b="1" dirty="0"/>
              <a:t>1 </a:t>
            </a:r>
            <a:r>
              <a:rPr lang="es-MX" dirty="0"/>
              <a:t>con los elementos posteriores de índices </a:t>
            </a:r>
            <a:r>
              <a:rPr lang="es-MX" b="1" dirty="0"/>
              <a:t>2 y </a:t>
            </a:r>
            <a:r>
              <a:rPr lang="es-MX" b="1" dirty="0" smtClean="0"/>
              <a:t>3.</a:t>
            </a:r>
            <a:r>
              <a:rPr lang="es-MX" dirty="0" smtClean="0"/>
              <a:t> </a:t>
            </a:r>
            <a:r>
              <a:rPr lang="es-MX" dirty="0"/>
              <a:t>Por cada comparación, si el elemento mayor está en el </a:t>
            </a:r>
            <a:r>
              <a:rPr lang="es-MX" b="1" dirty="0"/>
              <a:t>índice 1</a:t>
            </a:r>
            <a:r>
              <a:rPr lang="es-MX" dirty="0"/>
              <a:t> se intercambian los elementos. Después de hacer todas las comparaciones, el segundo elemento más pequeño de la lista se almacena en el </a:t>
            </a:r>
            <a:r>
              <a:rPr lang="es-MX" b="1" dirty="0"/>
              <a:t>índice </a:t>
            </a:r>
            <a:r>
              <a:rPr lang="es-MX" b="1" dirty="0" smtClean="0"/>
              <a:t>1.</a:t>
            </a:r>
            <a:endParaRPr lang="es-MX" b="1" dirty="0"/>
          </a:p>
        </p:txBody>
      </p:sp>
      <p:sp>
        <p:nvSpPr>
          <p:cNvPr id="6" name="Título 1"/>
          <p:cNvSpPr txBox="1">
            <a:spLocks/>
          </p:cNvSpPr>
          <p:nvPr/>
        </p:nvSpPr>
        <p:spPr>
          <a:xfrm>
            <a:off x="1376361" y="600074"/>
            <a:ext cx="7043739" cy="8858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dirty="0" smtClean="0"/>
              <a:t>Arreglos </a:t>
            </a:r>
            <a:r>
              <a:rPr lang="es-MX" dirty="0" smtClean="0"/>
              <a:t>- Ordenamiento</a:t>
            </a:r>
            <a:endParaRPr lang="es-C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C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5007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61975" y="1343025"/>
            <a:ext cx="11039475" cy="49911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>
              <a:buNone/>
            </a:pPr>
            <a:r>
              <a:rPr lang="es-MX" b="1" dirty="0" smtClean="0"/>
              <a:t>Ordenación por intercambio:</a:t>
            </a:r>
          </a:p>
          <a:p>
            <a:pPr marL="0" indent="0" algn="just">
              <a:buNone/>
            </a:pPr>
            <a:r>
              <a:rPr lang="es-MX" b="1" dirty="0" smtClean="0"/>
              <a:t>Pasada 2:</a:t>
            </a:r>
            <a:endParaRPr lang="es-MX" b="1" dirty="0"/>
          </a:p>
        </p:txBody>
      </p:sp>
      <p:sp>
        <p:nvSpPr>
          <p:cNvPr id="6" name="Título 1"/>
          <p:cNvSpPr txBox="1">
            <a:spLocks/>
          </p:cNvSpPr>
          <p:nvPr/>
        </p:nvSpPr>
        <p:spPr>
          <a:xfrm>
            <a:off x="1376361" y="600074"/>
            <a:ext cx="7043739" cy="8858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dirty="0" smtClean="0"/>
              <a:t>Arreglos </a:t>
            </a:r>
            <a:r>
              <a:rPr lang="es-MX" dirty="0" smtClean="0"/>
              <a:t>- Ordenamiento</a:t>
            </a:r>
            <a:endParaRPr lang="es-C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C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205037"/>
            <a:ext cx="8248650" cy="3267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282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61975" y="1343025"/>
            <a:ext cx="11039475" cy="49911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>
              <a:buNone/>
            </a:pPr>
            <a:r>
              <a:rPr lang="es-MX" b="1" dirty="0" smtClean="0"/>
              <a:t>Ordenación por intercambio:</a:t>
            </a:r>
          </a:p>
          <a:p>
            <a:pPr marL="0" indent="0" algn="just">
              <a:buNone/>
            </a:pPr>
            <a:r>
              <a:rPr lang="es-MX" b="1" dirty="0" smtClean="0"/>
              <a:t>Pasada 3: </a:t>
            </a:r>
            <a:r>
              <a:rPr lang="es-MX" dirty="0"/>
              <a:t>La sublista a considerar ahora es </a:t>
            </a:r>
            <a:r>
              <a:rPr lang="es-MX" b="1" dirty="0"/>
              <a:t>8, 6</a:t>
            </a:r>
            <a:r>
              <a:rPr lang="es-MX" dirty="0"/>
              <a:t>, ya que </a:t>
            </a:r>
            <a:r>
              <a:rPr lang="es-MX" b="1" dirty="0"/>
              <a:t>2, 4 </a:t>
            </a:r>
            <a:r>
              <a:rPr lang="es-MX" dirty="0"/>
              <a:t>está ordenada. Se produce entre los dos elementos de la sublista una comparación única</a:t>
            </a:r>
            <a:r>
              <a:rPr lang="es-MX" dirty="0" smtClean="0"/>
              <a:t>.</a:t>
            </a:r>
            <a:endParaRPr lang="es-MX" dirty="0"/>
          </a:p>
        </p:txBody>
      </p:sp>
      <p:sp>
        <p:nvSpPr>
          <p:cNvPr id="6" name="Título 1"/>
          <p:cNvSpPr txBox="1">
            <a:spLocks/>
          </p:cNvSpPr>
          <p:nvPr/>
        </p:nvSpPr>
        <p:spPr>
          <a:xfrm>
            <a:off x="1376361" y="600074"/>
            <a:ext cx="7043739" cy="8858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dirty="0" smtClean="0"/>
              <a:t>Arreglos </a:t>
            </a:r>
            <a:r>
              <a:rPr lang="es-MX" dirty="0" smtClean="0"/>
              <a:t>- Ordenamiento</a:t>
            </a:r>
            <a:endParaRPr lang="es-C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C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687" y="3048000"/>
            <a:ext cx="8020050" cy="224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412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61975" y="1343025"/>
            <a:ext cx="11039475" cy="49911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>
              <a:buNone/>
            </a:pPr>
            <a:r>
              <a:rPr lang="es-MX" b="1" dirty="0" smtClean="0"/>
              <a:t>Ordenación por intercambio – Codificación:</a:t>
            </a:r>
          </a:p>
          <a:p>
            <a:pPr marL="0" indent="0" algn="just">
              <a:buNone/>
            </a:pPr>
            <a:r>
              <a:rPr lang="es-MX" dirty="0"/>
              <a:t> El </a:t>
            </a:r>
            <a:r>
              <a:rPr lang="es-MX" dirty="0" smtClean="0"/>
              <a:t>método </a:t>
            </a:r>
            <a:r>
              <a:rPr lang="es-MX" b="1" dirty="0" err="1"/>
              <a:t>ordlntercambio</a:t>
            </a:r>
            <a:r>
              <a:rPr lang="es-MX" b="1" dirty="0"/>
              <a:t> () </a:t>
            </a:r>
            <a:r>
              <a:rPr lang="es-MX" dirty="0"/>
              <a:t>implementa el algoritmo descrito utilizando </a:t>
            </a:r>
            <a:r>
              <a:rPr lang="es-MX" b="1" dirty="0"/>
              <a:t>dos bucles </a:t>
            </a:r>
            <a:r>
              <a:rPr lang="es-MX" b="1" dirty="0" smtClean="0"/>
              <a:t>anidados</a:t>
            </a:r>
            <a:r>
              <a:rPr lang="es-MX" dirty="0" smtClean="0"/>
              <a:t>. </a:t>
            </a:r>
            <a:r>
              <a:rPr lang="es-MX" dirty="0"/>
              <a:t>El tipo de los elementos de la lista es entero, es válido cualquier otro tipo ordinal (double, </a:t>
            </a:r>
            <a:r>
              <a:rPr lang="es-MX" dirty="0" err="1"/>
              <a:t>char</a:t>
            </a:r>
            <a:r>
              <a:rPr lang="es-MX" dirty="0"/>
              <a:t>. . </a:t>
            </a:r>
            <a:r>
              <a:rPr lang="es-MX" dirty="0" smtClean="0"/>
              <a:t>.) </a:t>
            </a:r>
            <a:r>
              <a:rPr lang="es-MX" dirty="0"/>
              <a:t>Suponiendo que la lista es de </a:t>
            </a:r>
            <a:r>
              <a:rPr lang="es-MX" b="1" dirty="0"/>
              <a:t>tamaño n</a:t>
            </a:r>
            <a:r>
              <a:rPr lang="es-MX" dirty="0"/>
              <a:t>, el rango del bucle externo va desde el </a:t>
            </a:r>
            <a:r>
              <a:rPr lang="es-MX" b="1" dirty="0"/>
              <a:t>índice </a:t>
            </a:r>
            <a:r>
              <a:rPr lang="es-MX" b="1" dirty="0" smtClean="0"/>
              <a:t>0</a:t>
            </a:r>
            <a:r>
              <a:rPr lang="es-MX" dirty="0" smtClean="0"/>
              <a:t> </a:t>
            </a:r>
            <a:r>
              <a:rPr lang="es-MX" dirty="0"/>
              <a:t>hasta </a:t>
            </a:r>
            <a:r>
              <a:rPr lang="es-MX" b="1" dirty="0" smtClean="0"/>
              <a:t>n-2</a:t>
            </a:r>
            <a:r>
              <a:rPr lang="es-MX" dirty="0"/>
              <a:t>. Por cada </a:t>
            </a:r>
            <a:r>
              <a:rPr lang="es-MX" b="1" dirty="0"/>
              <a:t>índice i</a:t>
            </a:r>
            <a:r>
              <a:rPr lang="es-MX" dirty="0"/>
              <a:t>, se comparan los elementos posteriores de </a:t>
            </a:r>
            <a:r>
              <a:rPr lang="es-MX" dirty="0" smtClean="0"/>
              <a:t>índices </a:t>
            </a:r>
            <a:r>
              <a:rPr lang="es-MX" b="1" dirty="0" smtClean="0"/>
              <a:t>j = </a:t>
            </a:r>
            <a:r>
              <a:rPr lang="es-MX" b="1" dirty="0"/>
              <a:t>í +1</a:t>
            </a:r>
            <a:r>
              <a:rPr lang="es-MX" dirty="0"/>
              <a:t>, </a:t>
            </a:r>
            <a:r>
              <a:rPr lang="es-MX" b="1" dirty="0"/>
              <a:t>i</a:t>
            </a:r>
            <a:r>
              <a:rPr lang="es-MX" b="1" dirty="0" smtClean="0"/>
              <a:t> + 2</a:t>
            </a:r>
            <a:r>
              <a:rPr lang="es-MX" dirty="0"/>
              <a:t>,,,,, </a:t>
            </a:r>
            <a:r>
              <a:rPr lang="es-MX" b="1" dirty="0" smtClean="0"/>
              <a:t>n - l</a:t>
            </a:r>
            <a:r>
              <a:rPr lang="es-MX" dirty="0"/>
              <a:t>, El intercambio (</a:t>
            </a:r>
            <a:r>
              <a:rPr lang="es-MX" i="1" dirty="0"/>
              <a:t>swap</a:t>
            </a:r>
            <a:r>
              <a:rPr lang="es-MX" dirty="0"/>
              <a:t>) de los elementos </a:t>
            </a:r>
            <a:r>
              <a:rPr lang="es-MX" b="1" dirty="0"/>
              <a:t>a[i] ,a[j] </a:t>
            </a:r>
            <a:r>
              <a:rPr lang="es-MX" dirty="0"/>
              <a:t>se realiza en el método </a:t>
            </a:r>
            <a:r>
              <a:rPr lang="es-MX" b="1" dirty="0" smtClean="0"/>
              <a:t>intercambiar()</a:t>
            </a:r>
            <a:endParaRPr lang="es-MX" b="1" dirty="0"/>
          </a:p>
          <a:p>
            <a:pPr marL="0" indent="0" algn="just">
              <a:buNone/>
            </a:pPr>
            <a:endParaRPr lang="es-MX" dirty="0"/>
          </a:p>
        </p:txBody>
      </p:sp>
      <p:sp>
        <p:nvSpPr>
          <p:cNvPr id="6" name="Título 1"/>
          <p:cNvSpPr txBox="1">
            <a:spLocks/>
          </p:cNvSpPr>
          <p:nvPr/>
        </p:nvSpPr>
        <p:spPr>
          <a:xfrm>
            <a:off x="1376361" y="600074"/>
            <a:ext cx="7043739" cy="8858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dirty="0" smtClean="0"/>
              <a:t>Arreglos </a:t>
            </a:r>
            <a:r>
              <a:rPr lang="es-MX" dirty="0" smtClean="0"/>
              <a:t>- Ordenamiento</a:t>
            </a:r>
            <a:endParaRPr lang="es-C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C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7406" y="4626321"/>
            <a:ext cx="7948611" cy="1631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698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61975" y="1343025"/>
            <a:ext cx="11039475" cy="49911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>
              <a:buNone/>
            </a:pPr>
            <a:r>
              <a:rPr lang="es-MX" b="1" dirty="0" smtClean="0"/>
              <a:t>Ordenación por intercambio – Codificación:</a:t>
            </a:r>
          </a:p>
          <a:p>
            <a:pPr marL="0" indent="0" algn="just">
              <a:buNone/>
            </a:pPr>
            <a:r>
              <a:rPr lang="es-MX" dirty="0"/>
              <a:t>El </a:t>
            </a:r>
            <a:r>
              <a:rPr lang="es-MX" b="1" dirty="0"/>
              <a:t>array (arreglo)</a:t>
            </a:r>
            <a:r>
              <a:rPr lang="es-MX" dirty="0"/>
              <a:t> dispone de tantos elementos como posiciones creadas. Por ello el método </a:t>
            </a:r>
            <a:r>
              <a:rPr lang="es-MX" b="1" dirty="0" err="1" smtClean="0"/>
              <a:t>ordlntercambio</a:t>
            </a:r>
            <a:r>
              <a:rPr lang="es-MX" b="1" dirty="0" smtClean="0"/>
              <a:t>()</a:t>
            </a:r>
            <a:r>
              <a:rPr lang="es-MX" dirty="0" smtClean="0"/>
              <a:t> </a:t>
            </a:r>
            <a:r>
              <a:rPr lang="es-MX" dirty="0"/>
              <a:t>tiene un único argumento (</a:t>
            </a:r>
            <a:r>
              <a:rPr lang="es-MX" b="1" dirty="0" err="1"/>
              <a:t>inc</a:t>
            </a:r>
            <a:r>
              <a:rPr lang="es-MX" b="1" dirty="0"/>
              <a:t> [] a</a:t>
            </a:r>
            <a:r>
              <a:rPr lang="es-MX" dirty="0"/>
              <a:t>); el atributo </a:t>
            </a:r>
            <a:r>
              <a:rPr lang="es-MX" b="1" dirty="0" err="1"/>
              <a:t>a.length</a:t>
            </a:r>
            <a:r>
              <a:rPr lang="es-MX" dirty="0"/>
              <a:t> es el valor del número de elementos </a:t>
            </a:r>
            <a:r>
              <a:rPr lang="es-MX" b="1" dirty="0"/>
              <a:t>(n</a:t>
            </a:r>
            <a:r>
              <a:rPr lang="es-MX" b="1" dirty="0" smtClean="0"/>
              <a:t>)</a:t>
            </a:r>
            <a:r>
              <a:rPr lang="es-MX" dirty="0" smtClean="0"/>
              <a:t>.</a:t>
            </a:r>
            <a:endParaRPr lang="es-MX" dirty="0"/>
          </a:p>
        </p:txBody>
      </p:sp>
      <p:sp>
        <p:nvSpPr>
          <p:cNvPr id="6" name="Título 1"/>
          <p:cNvSpPr txBox="1">
            <a:spLocks/>
          </p:cNvSpPr>
          <p:nvPr/>
        </p:nvSpPr>
        <p:spPr>
          <a:xfrm>
            <a:off x="1376361" y="600074"/>
            <a:ext cx="7043739" cy="8858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dirty="0" smtClean="0"/>
              <a:t>Arreglos </a:t>
            </a:r>
            <a:r>
              <a:rPr lang="es-MX" dirty="0" smtClean="0"/>
              <a:t>- Ordenamiento</a:t>
            </a:r>
            <a:endParaRPr lang="es-C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C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Grupo 6"/>
          <p:cNvGrpSpPr/>
          <p:nvPr/>
        </p:nvGrpSpPr>
        <p:grpSpPr>
          <a:xfrm>
            <a:off x="2712243" y="3133725"/>
            <a:ext cx="6738937" cy="3123724"/>
            <a:chOff x="2647950" y="3152775"/>
            <a:chExt cx="6934200" cy="3333274"/>
          </a:xfrm>
        </p:grpSpPr>
        <p:pic>
          <p:nvPicPr>
            <p:cNvPr id="2" name="Imagen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47950" y="3152775"/>
              <a:ext cx="6934200" cy="685800"/>
            </a:xfrm>
            <a:prstGeom prst="rect">
              <a:avLst/>
            </a:prstGeom>
          </p:spPr>
        </p:pic>
        <p:pic>
          <p:nvPicPr>
            <p:cNvPr id="5" name="Imagen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47950" y="3495675"/>
              <a:ext cx="6934200" cy="29903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2968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2891978" y="2283719"/>
            <a:ext cx="62076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600" dirty="0" smtClean="0"/>
              <a:t>GRACIAS!!</a:t>
            </a:r>
            <a:r>
              <a:rPr lang="es-ES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91741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23875" y="1295400"/>
            <a:ext cx="11163300" cy="51816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fontAlgn="ctr"/>
            <a:r>
              <a:rPr lang="es-CO" sz="2400" dirty="0"/>
              <a:t>ZOHONERO MARTÍNEZ, I. ; JOYANES AGUILAR, L. </a:t>
            </a:r>
            <a:r>
              <a:rPr lang="es-CO" sz="2400" b="1" dirty="0"/>
              <a:t>Estructuras de datos en Java</a:t>
            </a:r>
            <a:r>
              <a:rPr lang="es-CO" sz="2400" dirty="0"/>
              <a:t>. ed. Madrid etc: McGraw-Hill España, 2008. 562 p. Disponible en: https://elibro.net/es/ereader/corposucre/50117?page=188. Consultado en: 18 </a:t>
            </a:r>
            <a:r>
              <a:rPr lang="es-CO" sz="2400" dirty="0" err="1"/>
              <a:t>Aug</a:t>
            </a:r>
            <a:r>
              <a:rPr lang="es-CO" sz="2400" dirty="0"/>
              <a:t> </a:t>
            </a:r>
            <a:r>
              <a:rPr lang="es-CO" sz="2400" dirty="0" smtClean="0"/>
              <a:t>2022</a:t>
            </a:r>
          </a:p>
          <a:p>
            <a:pPr fontAlgn="ctr"/>
            <a:r>
              <a:rPr lang="es-MX" sz="2400" dirty="0" err="1"/>
              <a:t>Guardati</a:t>
            </a:r>
            <a:r>
              <a:rPr lang="es-MX" sz="2400" dirty="0"/>
              <a:t> </a:t>
            </a:r>
            <a:r>
              <a:rPr lang="es-MX" sz="2400" dirty="0" err="1"/>
              <a:t>Buemo</a:t>
            </a:r>
            <a:r>
              <a:rPr lang="es-MX" sz="2400" dirty="0"/>
              <a:t>, Silvia. Estructuras de datos básicas: programación orientada a objetos con java • Ruiz Rodríguez, R. (2009). Fundamentos de la programación orientada a objetos: una aplicación a las estructuras de datos en Java. El Cid Editor. https://elibro.net/es/lc/corposucre/titulos/34869 </a:t>
            </a:r>
            <a:endParaRPr lang="es-MX" sz="2400" dirty="0" smtClean="0"/>
          </a:p>
          <a:p>
            <a:pPr fontAlgn="ctr"/>
            <a:r>
              <a:rPr lang="es-MX" sz="2400" dirty="0" smtClean="0"/>
              <a:t>Wiener</a:t>
            </a:r>
            <a:r>
              <a:rPr lang="es-MX" sz="2400" dirty="0"/>
              <a:t>, R., &amp; </a:t>
            </a:r>
            <a:r>
              <a:rPr lang="es-MX" sz="2400" dirty="0" err="1"/>
              <a:t>Pinson</a:t>
            </a:r>
            <a:r>
              <a:rPr lang="es-MX" sz="2400" dirty="0"/>
              <a:t>, L. J. (2000). Fundamentals of OOP and Data </a:t>
            </a:r>
            <a:r>
              <a:rPr lang="es-MX" sz="2400" dirty="0" err="1"/>
              <a:t>Structures</a:t>
            </a:r>
            <a:r>
              <a:rPr lang="es-MX" sz="2400" dirty="0"/>
              <a:t> in Java. Cambridge </a:t>
            </a:r>
            <a:r>
              <a:rPr lang="es-MX" sz="2400" dirty="0" err="1"/>
              <a:t>University</a:t>
            </a:r>
            <a:r>
              <a:rPr lang="es-MX" sz="2400" dirty="0"/>
              <a:t> </a:t>
            </a:r>
            <a:r>
              <a:rPr lang="es-MX" sz="2400" dirty="0" err="1"/>
              <a:t>Press</a:t>
            </a:r>
            <a:r>
              <a:rPr lang="es-MX" sz="2400" dirty="0"/>
              <a:t>. </a:t>
            </a:r>
            <a:r>
              <a:rPr lang="es-MX" sz="2400" dirty="0">
                <a:hlinkClick r:id="rId2"/>
              </a:rPr>
              <a:t>http://</a:t>
            </a:r>
            <a:r>
              <a:rPr lang="es-MX" sz="2400" dirty="0" smtClean="0">
                <a:hlinkClick r:id="rId2"/>
              </a:rPr>
              <a:t>search.ebscohost.com/login.aspx?direct=true&amp;db=nlebk&amp;AN=54565&amp;site=ehost-live</a:t>
            </a:r>
            <a:endParaRPr lang="es-MX" sz="2400" dirty="0" smtClean="0"/>
          </a:p>
          <a:p>
            <a:pPr fontAlgn="ctr"/>
            <a:r>
              <a:rPr lang="es-CO" sz="2400" dirty="0" err="1"/>
              <a:t>Joyanes</a:t>
            </a:r>
            <a:r>
              <a:rPr lang="es-CO" sz="2400" dirty="0"/>
              <a:t> Aguilar, Luis. Fundamentos de programación: Algoritmos, estructura de datos y objetos. 4a. Edición. </a:t>
            </a:r>
            <a:r>
              <a:rPr lang="es-CO" sz="2400" dirty="0" err="1"/>
              <a:t>Mexico</a:t>
            </a:r>
            <a:r>
              <a:rPr lang="es-CO" sz="2400" dirty="0"/>
              <a:t>: Mc Graw Hill,2008</a:t>
            </a:r>
          </a:p>
          <a:p>
            <a:pPr fontAlgn="ctr"/>
            <a:endParaRPr lang="es-CO" sz="2400" dirty="0"/>
          </a:p>
        </p:txBody>
      </p:sp>
      <p:sp>
        <p:nvSpPr>
          <p:cNvPr id="6" name="Título 1"/>
          <p:cNvSpPr txBox="1">
            <a:spLocks/>
          </p:cNvSpPr>
          <p:nvPr/>
        </p:nvSpPr>
        <p:spPr>
          <a:xfrm>
            <a:off x="1376361" y="600074"/>
            <a:ext cx="7043739" cy="8858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419" dirty="0" smtClean="0"/>
              <a:t>BIBLIOGRAFÍA</a:t>
            </a:r>
            <a:endParaRPr lang="es-C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C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0927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LANTILLA INSTITUCIONAL">
  <a:themeElements>
    <a:clrScheme name="AJS">
      <a:dk1>
        <a:srgbClr val="31521B"/>
      </a:dk1>
      <a:lt1>
        <a:srgbClr val="0D291B"/>
      </a:lt1>
      <a:dk2>
        <a:srgbClr val="739A28"/>
      </a:dk2>
      <a:lt2>
        <a:srgbClr val="D6EAAF"/>
      </a:lt2>
      <a:accent1>
        <a:srgbClr val="99CB38"/>
      </a:accent1>
      <a:accent2>
        <a:srgbClr val="63A537"/>
      </a:accent2>
      <a:accent3>
        <a:srgbClr val="37A76F"/>
      </a:accent3>
      <a:accent4>
        <a:srgbClr val="1B5337"/>
      </a:accent4>
      <a:accent5>
        <a:srgbClr val="1B5337"/>
      </a:accent5>
      <a:accent6>
        <a:srgbClr val="773D03"/>
      </a:accent6>
      <a:hlink>
        <a:srgbClr val="FF0000"/>
      </a:hlink>
      <a:folHlink>
        <a:srgbClr val="C00000"/>
      </a:folHlink>
    </a:clrScheme>
    <a:fontScheme name="Personalizado 1">
      <a:majorFont>
        <a:latin typeface="Bell MT"/>
        <a:ea typeface=""/>
        <a:cs typeface=""/>
      </a:majorFont>
      <a:minorFont>
        <a:latin typeface="Bell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1" id="{1D01C22F-B745-48F6-831E-5770BD765581}" vid="{5C7DF1D1-C3DE-44BC-8760-47F7FAFB5C9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PLANTILLA INSTITUCIONAL</Template>
  <TotalTime>1574</TotalTime>
  <Words>985</Words>
  <Application>Microsoft Office PowerPoint</Application>
  <PresentationFormat>Panorámica</PresentationFormat>
  <Paragraphs>65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Arial</vt:lpstr>
      <vt:lpstr>Bell MT</vt:lpstr>
      <vt:lpstr>Times New Roman</vt:lpstr>
      <vt:lpstr>PLANTILLA INSTITUCIONAL</vt:lpstr>
      <vt:lpstr>Presentación de PowerPoint</vt:lpstr>
      <vt:lpstr>Agenda: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ÁRBOLES</dc:title>
  <dc:creator>fanylucastrotorres@gmail.com</dc:creator>
  <cp:lastModifiedBy>JAIDER DE LA ROSA</cp:lastModifiedBy>
  <cp:revision>114</cp:revision>
  <dcterms:created xsi:type="dcterms:W3CDTF">2019-10-27T02:47:36Z</dcterms:created>
  <dcterms:modified xsi:type="dcterms:W3CDTF">2022-08-25T03:40:15Z</dcterms:modified>
</cp:coreProperties>
</file>
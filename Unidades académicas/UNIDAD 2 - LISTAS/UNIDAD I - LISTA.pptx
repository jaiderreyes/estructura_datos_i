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5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</p:sldIdLst>
  <p:sldSz cx="12192000" cy="6858000"/>
  <p:notesSz cx="6858000" cy="9144000"/>
  <p:embeddedFontLst>
    <p:embeddedFont>
      <p:font typeface="Bell MT" panose="02020503060305020303" pitchFamily="18" charset="77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8" roundtripDataSignature="AMtx7mjlhW1IAmu0rBJamiwbByPvBvq+q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615"/>
  </p:normalViewPr>
  <p:slideViewPr>
    <p:cSldViewPr snapToGrid="0">
      <p:cViewPr varScale="1">
        <p:scale>
          <a:sx n="78" d="100"/>
          <a:sy n="78" d="100"/>
        </p:scale>
        <p:origin x="192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2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722927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21"/>
          <p:cNvSpPr txBox="1">
            <a:spLocks noGrp="1"/>
          </p:cNvSpPr>
          <p:nvPr>
            <p:ph type="ctrTitle"/>
          </p:nvPr>
        </p:nvSpPr>
        <p:spPr>
          <a:xfrm>
            <a:off x="4431723" y="1526166"/>
            <a:ext cx="7443354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0EBC1"/>
              </a:buClr>
              <a:buSzPts val="6000"/>
              <a:buFont typeface="Bell MT"/>
              <a:buNone/>
              <a:defRPr sz="6000" b="1">
                <a:solidFill>
                  <a:srgbClr val="D0EBC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1"/>
          <p:cNvSpPr txBox="1">
            <a:spLocks noGrp="1"/>
          </p:cNvSpPr>
          <p:nvPr>
            <p:ph type="subTitle" idx="1"/>
          </p:nvPr>
        </p:nvSpPr>
        <p:spPr>
          <a:xfrm>
            <a:off x="4431723" y="3913766"/>
            <a:ext cx="7760278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sz="2400">
                <a:solidFill>
                  <a:schemeClr val="lt2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5" name="Google Shape;15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FFFFFF"/>
                </a:solidFill>
                <a:latin typeface="Bell MT"/>
                <a:ea typeface="Bell MT"/>
                <a:cs typeface="Bell MT"/>
                <a:sym typeface="Bell MT"/>
              </a:defRPr>
            </a:lvl1pPr>
            <a:lvl2pPr marL="0" lvl="1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FFFFFF"/>
                </a:solidFill>
                <a:latin typeface="Bell MT"/>
                <a:ea typeface="Bell MT"/>
                <a:cs typeface="Bell MT"/>
                <a:sym typeface="Bell MT"/>
              </a:defRPr>
            </a:lvl2pPr>
            <a:lvl3pPr marL="0" lvl="2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FFFFFF"/>
                </a:solidFill>
                <a:latin typeface="Bell MT"/>
                <a:ea typeface="Bell MT"/>
                <a:cs typeface="Bell MT"/>
                <a:sym typeface="Bell MT"/>
              </a:defRPr>
            </a:lvl3pPr>
            <a:lvl4pPr marL="0" lvl="3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FFFFFF"/>
                </a:solidFill>
                <a:latin typeface="Bell MT"/>
                <a:ea typeface="Bell MT"/>
                <a:cs typeface="Bell MT"/>
                <a:sym typeface="Bell MT"/>
              </a:defRPr>
            </a:lvl4pPr>
            <a:lvl5pPr marL="0" lvl="4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FFFFFF"/>
                </a:solidFill>
                <a:latin typeface="Bell MT"/>
                <a:ea typeface="Bell MT"/>
                <a:cs typeface="Bell MT"/>
                <a:sym typeface="Bell MT"/>
              </a:defRPr>
            </a:lvl5pPr>
            <a:lvl6pPr marL="0" lvl="5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FFFFFF"/>
                </a:solidFill>
                <a:latin typeface="Bell MT"/>
                <a:ea typeface="Bell MT"/>
                <a:cs typeface="Bell MT"/>
                <a:sym typeface="Bell MT"/>
              </a:defRPr>
            </a:lvl6pPr>
            <a:lvl7pPr marL="0" lvl="6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FFFFFF"/>
                </a:solidFill>
                <a:latin typeface="Bell MT"/>
                <a:ea typeface="Bell MT"/>
                <a:cs typeface="Bell MT"/>
                <a:sym typeface="Bell MT"/>
              </a:defRPr>
            </a:lvl7pPr>
            <a:lvl8pPr marL="0" lvl="7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FFFFFF"/>
                </a:solidFill>
                <a:latin typeface="Bell MT"/>
                <a:ea typeface="Bell MT"/>
                <a:cs typeface="Bell MT"/>
                <a:sym typeface="Bell MT"/>
              </a:defRPr>
            </a:lvl8pPr>
            <a:lvl9pPr marL="0" lvl="8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FFFFFF"/>
                </a:solidFill>
                <a:latin typeface="Bell MT"/>
                <a:ea typeface="Bell MT"/>
                <a:cs typeface="Bell MT"/>
                <a:sym typeface="Bell M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2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-1"/>
            <a:ext cx="12217758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22"/>
          <p:cNvSpPr txBox="1">
            <a:spLocks noGrp="1"/>
          </p:cNvSpPr>
          <p:nvPr>
            <p:ph type="title"/>
          </p:nvPr>
        </p:nvSpPr>
        <p:spPr>
          <a:xfrm>
            <a:off x="964621" y="143538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Bell MT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2"/>
          <p:cNvSpPr txBox="1">
            <a:spLocks noGrp="1"/>
          </p:cNvSpPr>
          <p:nvPr>
            <p:ph type="body" idx="1"/>
          </p:nvPr>
        </p:nvSpPr>
        <p:spPr>
          <a:xfrm>
            <a:off x="1091044" y="3044535"/>
            <a:ext cx="10262755" cy="31324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2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-1"/>
            <a:ext cx="12217758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23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" name="Google Shape;3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2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-1"/>
            <a:ext cx="12217758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2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ell MT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37" name="Google Shape;37;p2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38" name="Google Shape;38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Google Shape;42;p2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-1"/>
            <a:ext cx="12217758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Google Shape;47;p2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-1"/>
            <a:ext cx="12217758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26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Bell MT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6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D9689"/>
              </a:buClr>
              <a:buSzPts val="2400"/>
              <a:buNone/>
              <a:defRPr sz="2400">
                <a:solidFill>
                  <a:srgbClr val="8D9689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D9689"/>
              </a:buClr>
              <a:buSzPts val="2000"/>
              <a:buNone/>
              <a:defRPr sz="2000">
                <a:solidFill>
                  <a:srgbClr val="8D9689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D9689"/>
              </a:buClr>
              <a:buSzPts val="1800"/>
              <a:buNone/>
              <a:defRPr sz="1800">
                <a:solidFill>
                  <a:srgbClr val="8D9689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D9689"/>
              </a:buClr>
              <a:buSzPts val="1600"/>
              <a:buNone/>
              <a:defRPr sz="1600">
                <a:solidFill>
                  <a:srgbClr val="8D9689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D9689"/>
              </a:buClr>
              <a:buSzPts val="1600"/>
              <a:buNone/>
              <a:defRPr sz="1600">
                <a:solidFill>
                  <a:srgbClr val="8D9689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D9689"/>
              </a:buClr>
              <a:buSzPts val="1600"/>
              <a:buNone/>
              <a:defRPr sz="1600">
                <a:solidFill>
                  <a:srgbClr val="8D9689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D9689"/>
              </a:buClr>
              <a:buSzPts val="1600"/>
              <a:buNone/>
              <a:defRPr sz="1600">
                <a:solidFill>
                  <a:srgbClr val="8D9689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D9689"/>
              </a:buClr>
              <a:buSzPts val="1600"/>
              <a:buNone/>
              <a:defRPr sz="1600">
                <a:solidFill>
                  <a:srgbClr val="8D9689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D9689"/>
              </a:buClr>
              <a:buSzPts val="1600"/>
              <a:buNone/>
              <a:defRPr sz="1600">
                <a:solidFill>
                  <a:srgbClr val="8D9689"/>
                </a:solidFill>
              </a:defRPr>
            </a:lvl9pPr>
          </a:lstStyle>
          <a:p>
            <a:endParaRPr/>
          </a:p>
        </p:txBody>
      </p:sp>
      <p:sp>
        <p:nvSpPr>
          <p:cNvPr id="50" name="Google Shape;50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2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-1"/>
            <a:ext cx="12217758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27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7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7" name="Google Shape;57;p27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8" name="Google Shape;58;p27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9" name="Google Shape;59;p27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0" name="Google Shape;60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2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-1"/>
            <a:ext cx="12217758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2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2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-1"/>
            <a:ext cx="12217758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ell MT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9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29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4" name="Google Shape;74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3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-1"/>
            <a:ext cx="12217758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3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30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3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-1"/>
            <a:ext cx="12217758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31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31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8" name="Google Shape;88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Bell MT"/>
              <a:buNone/>
              <a:defRPr sz="4400" b="0" i="0" u="none" strike="noStrike" cap="none">
                <a:solidFill>
                  <a:schemeClr val="dk1"/>
                </a:solidFill>
                <a:latin typeface="Bell MT"/>
                <a:ea typeface="Bell MT"/>
                <a:cs typeface="Bell MT"/>
                <a:sym typeface="Bell M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Bell MT"/>
                <a:ea typeface="Bell MT"/>
                <a:cs typeface="Bell MT"/>
                <a:sym typeface="Bell MT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Bell MT"/>
                <a:ea typeface="Bell MT"/>
                <a:cs typeface="Bell MT"/>
                <a:sym typeface="Bell MT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ell MT"/>
                <a:ea typeface="Bell MT"/>
                <a:cs typeface="Bell MT"/>
                <a:sym typeface="Bell MT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Bell MT"/>
                <a:ea typeface="Bell MT"/>
                <a:cs typeface="Bell MT"/>
                <a:sym typeface="Bell MT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Bell MT"/>
                <a:ea typeface="Bell MT"/>
                <a:cs typeface="Bell MT"/>
                <a:sym typeface="Bell M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Bell MT"/>
                <a:ea typeface="Bell MT"/>
                <a:cs typeface="Bell MT"/>
                <a:sym typeface="Bell MT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Bell MT"/>
                <a:ea typeface="Bell MT"/>
                <a:cs typeface="Bell MT"/>
                <a:sym typeface="Bell MT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Bell MT"/>
                <a:ea typeface="Bell MT"/>
                <a:cs typeface="Bell MT"/>
                <a:sym typeface="Bell MT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Bell MT"/>
                <a:ea typeface="Bell MT"/>
                <a:cs typeface="Bell MT"/>
                <a:sym typeface="Bell MT"/>
              </a:defRPr>
            </a:lvl9pPr>
          </a:lstStyle>
          <a:p>
            <a:endParaRPr/>
          </a:p>
        </p:txBody>
      </p:sp>
      <p:sp>
        <p:nvSpPr>
          <p:cNvPr id="8" name="Google Shape;8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D9689"/>
                </a:solidFill>
                <a:latin typeface="Bell MT"/>
                <a:ea typeface="Bell MT"/>
                <a:cs typeface="Bell MT"/>
                <a:sym typeface="Bell MT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ell MT"/>
                <a:ea typeface="Bell MT"/>
                <a:cs typeface="Bell MT"/>
                <a:sym typeface="Bell MT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ell MT"/>
                <a:ea typeface="Bell MT"/>
                <a:cs typeface="Bell MT"/>
                <a:sym typeface="Bell MT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ell MT"/>
                <a:ea typeface="Bell MT"/>
                <a:cs typeface="Bell MT"/>
                <a:sym typeface="Bell MT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ell MT"/>
                <a:ea typeface="Bell MT"/>
                <a:cs typeface="Bell MT"/>
                <a:sym typeface="Bell MT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ell MT"/>
                <a:ea typeface="Bell MT"/>
                <a:cs typeface="Bell MT"/>
                <a:sym typeface="Bell MT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ell MT"/>
                <a:ea typeface="Bell MT"/>
                <a:cs typeface="Bell MT"/>
                <a:sym typeface="Bell MT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ell MT"/>
                <a:ea typeface="Bell MT"/>
                <a:cs typeface="Bell MT"/>
                <a:sym typeface="Bell MT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ell MT"/>
                <a:ea typeface="Bell MT"/>
                <a:cs typeface="Bell MT"/>
                <a:sym typeface="Bell MT"/>
              </a:defRPr>
            </a:lvl9pPr>
          </a:lstStyle>
          <a:p>
            <a:endParaRPr/>
          </a:p>
        </p:txBody>
      </p:sp>
      <p:sp>
        <p:nvSpPr>
          <p:cNvPr id="9" name="Google Shape;9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D9689"/>
                </a:solidFill>
                <a:latin typeface="Bell MT"/>
                <a:ea typeface="Bell MT"/>
                <a:cs typeface="Bell MT"/>
                <a:sym typeface="Bell MT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ell MT"/>
                <a:ea typeface="Bell MT"/>
                <a:cs typeface="Bell MT"/>
                <a:sym typeface="Bell MT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ell MT"/>
                <a:ea typeface="Bell MT"/>
                <a:cs typeface="Bell MT"/>
                <a:sym typeface="Bell MT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ell MT"/>
                <a:ea typeface="Bell MT"/>
                <a:cs typeface="Bell MT"/>
                <a:sym typeface="Bell MT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ell MT"/>
                <a:ea typeface="Bell MT"/>
                <a:cs typeface="Bell MT"/>
                <a:sym typeface="Bell MT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ell MT"/>
                <a:ea typeface="Bell MT"/>
                <a:cs typeface="Bell MT"/>
                <a:sym typeface="Bell MT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ell MT"/>
                <a:ea typeface="Bell MT"/>
                <a:cs typeface="Bell MT"/>
                <a:sym typeface="Bell MT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ell MT"/>
                <a:ea typeface="Bell MT"/>
                <a:cs typeface="Bell MT"/>
                <a:sym typeface="Bell MT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ell MT"/>
                <a:ea typeface="Bell MT"/>
                <a:cs typeface="Bell MT"/>
                <a:sym typeface="Bell MT"/>
              </a:defRPr>
            </a:lvl9pPr>
          </a:lstStyle>
          <a:p>
            <a:endParaRPr/>
          </a:p>
        </p:txBody>
      </p:sp>
      <p:sp>
        <p:nvSpPr>
          <p:cNvPr id="10" name="Google Shape;10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D9689"/>
                </a:solidFill>
                <a:latin typeface="Bell MT"/>
                <a:ea typeface="Bell MT"/>
                <a:cs typeface="Bell MT"/>
                <a:sym typeface="Bell MT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D9689"/>
                </a:solidFill>
                <a:latin typeface="Bell MT"/>
                <a:ea typeface="Bell MT"/>
                <a:cs typeface="Bell MT"/>
                <a:sym typeface="Bell MT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D9689"/>
                </a:solidFill>
                <a:latin typeface="Bell MT"/>
                <a:ea typeface="Bell MT"/>
                <a:cs typeface="Bell MT"/>
                <a:sym typeface="Bell MT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D9689"/>
                </a:solidFill>
                <a:latin typeface="Bell MT"/>
                <a:ea typeface="Bell MT"/>
                <a:cs typeface="Bell MT"/>
                <a:sym typeface="Bell MT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D9689"/>
                </a:solidFill>
                <a:latin typeface="Bell MT"/>
                <a:ea typeface="Bell MT"/>
                <a:cs typeface="Bell MT"/>
                <a:sym typeface="Bell MT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D9689"/>
                </a:solidFill>
                <a:latin typeface="Bell MT"/>
                <a:ea typeface="Bell MT"/>
                <a:cs typeface="Bell MT"/>
                <a:sym typeface="Bell MT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D9689"/>
                </a:solidFill>
                <a:latin typeface="Bell MT"/>
                <a:ea typeface="Bell MT"/>
                <a:cs typeface="Bell MT"/>
                <a:sym typeface="Bell MT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D9689"/>
                </a:solidFill>
                <a:latin typeface="Bell MT"/>
                <a:ea typeface="Bell MT"/>
                <a:cs typeface="Bell MT"/>
                <a:sym typeface="Bell MT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D9689"/>
                </a:solidFill>
                <a:latin typeface="Bell MT"/>
                <a:ea typeface="Bell MT"/>
                <a:cs typeface="Bell MT"/>
                <a:sym typeface="Bell M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1600">
        <p14:prism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ogle.com/search?sca_esv=e126eb4d051b0442&amp;sxsrf=AE3TifMBUN4sKnOxvJda54WeTDGnU5-ejw%3A1757514892391&amp;q=Lista+enlazada+simple&amp;sa=X&amp;ved=2ahUKEwiC0t-Wtc6PAxWAVTABHXPDGXgQxccNegUI8wEQAQ&amp;mstk=AUtExfDnwS55RBvK_Uvr5e58df-qMSaCC5uh9cF6TjwjZ50eyE1b5PqbQHbSccyyrEeimbJ59D0vkDmRdp6cnlEXmoWMxWkbvO96zEQIkse8_83-EV0vjPWk6i5uEsoarOQHzzSBfdUbZKpEIn9uBiwTvViniXz7JL-769GdC5PfyjludnI&amp;csui=3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png"/><Relationship Id="rId5" Type="http://schemas.openxmlformats.org/officeDocument/2006/relationships/hyperlink" Target="https://www.google.com/search?sca_esv=e126eb4d051b0442&amp;sxsrf=AE3TifMBUN4sKnOxvJda54WeTDGnU5-ejw%3A1757514892391&amp;q=Lista+circular&amp;sa=X&amp;ved=2ahUKEwiC0t-Wtc6PAxWAVTABHXPDGXgQxccNegUI5gEQAQ&amp;mstk=AUtExfDnwS55RBvK_Uvr5e58df-qMSaCC5uh9cF6TjwjZ50eyE1b5PqbQHbSccyyrEeimbJ59D0vkDmRdp6cnlEXmoWMxWkbvO96zEQIkse8_83-EV0vjPWk6i5uEsoarOQHzzSBfdUbZKpEIn9uBiwTvViniXz7JL-769GdC5PfyjludnI&amp;csui=3" TargetMode="External"/><Relationship Id="rId4" Type="http://schemas.openxmlformats.org/officeDocument/2006/relationships/hyperlink" Target="https://www.google.com/search?sca_esv=e126eb4d051b0442&amp;sxsrf=AE3TifMBUN4sKnOxvJda54WeTDGnU5-ejw%3A1757514892391&amp;q=Lista+doblemente+enlazada&amp;sa=X&amp;ved=2ahUKEwiC0t-Wtc6PAxWAVTABHXPDGXgQxccNegUI6AEQAQ&amp;mstk=AUtExfDnwS55RBvK_Uvr5e58df-qMSaCC5uh9cF6TjwjZ50eyE1b5PqbQHbSccyyrEeimbJ59D0vkDmRdp6cnlEXmoWMxWkbvO96zEQIkse8_83-EV0vjPWk6i5uEsoarOQHzzSBfdUbZKpEIn9uBiwTvViniXz7JL-769GdC5PfyjludnI&amp;csui=3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://search.ebscohost.com/login.aspx?direct=true&amp;db=nlebk&amp;AN=54565&amp;site=ehost-live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"/>
          <p:cNvSpPr/>
          <p:nvPr/>
        </p:nvSpPr>
        <p:spPr>
          <a:xfrm>
            <a:off x="5277394" y="3581814"/>
            <a:ext cx="6284133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Ing. Jaider Reyes Herazo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"/>
          <p:cNvSpPr/>
          <p:nvPr/>
        </p:nvSpPr>
        <p:spPr>
          <a:xfrm>
            <a:off x="5368564" y="1704571"/>
            <a:ext cx="6101791" cy="1569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3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UNIDAD N°</a:t>
            </a:r>
            <a:r>
              <a:rPr lang="es-CO" sz="3200">
                <a:solidFill>
                  <a:srgbClr val="FFFFFF"/>
                </a:solidFill>
              </a:rPr>
              <a:t>2</a:t>
            </a:r>
            <a:r>
              <a:rPr lang="es-CO" sz="3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: INTRODUCCIÓN A L AS ESTRUCTURA DE DATOS 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"/>
          <p:cNvSpPr txBox="1">
            <a:spLocks noGrp="1"/>
          </p:cNvSpPr>
          <p:nvPr>
            <p:ph type="title"/>
          </p:nvPr>
        </p:nvSpPr>
        <p:spPr>
          <a:xfrm>
            <a:off x="528636" y="313588"/>
            <a:ext cx="7043739" cy="1077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s-CO" b="1">
                <a:latin typeface="Times New Roman"/>
                <a:ea typeface="Times New Roman"/>
                <a:cs typeface="Times New Roman"/>
                <a:sym typeface="Times New Roman"/>
              </a:rPr>
              <a:t>Agenda: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2" name="Google Shape;102;p2"/>
          <p:cNvSpPr txBox="1">
            <a:spLocks noGrp="1"/>
          </p:cNvSpPr>
          <p:nvPr>
            <p:ph type="body" idx="1"/>
          </p:nvPr>
        </p:nvSpPr>
        <p:spPr>
          <a:xfrm>
            <a:off x="652894" y="1390651"/>
            <a:ext cx="11177156" cy="48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</a:pPr>
            <a:r>
              <a:rPr lang="es-CO" sz="3000"/>
              <a:t>1. </a:t>
            </a:r>
            <a:r>
              <a:rPr lang="es-CO" sz="3000" b="1"/>
              <a:t>listas.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s-CO"/>
              <a:t>Conceptualización.</a:t>
            </a:r>
            <a:endParaRPr/>
          </a:p>
          <a:p>
            <a:pPr marL="685800" lvl="1" indent="-76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pic>
        <p:nvPicPr>
          <p:cNvPr id="103" name="Google Shape;103;p2" descr="Iniciación a la programación (TIC 2015): Qué es un algoritmo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04516" y="1905000"/>
            <a:ext cx="4072092" cy="3014662"/>
          </a:xfrm>
          <a:prstGeom prst="roundRect">
            <a:avLst>
              <a:gd name="adj" fmla="val 8594"/>
            </a:avLst>
          </a:prstGeom>
          <a:solidFill>
            <a:srgbClr val="ECECEC"/>
          </a:solidFill>
          <a:ln>
            <a:noFill/>
          </a:ln>
          <a:effectLst>
            <a:reflection stA="38000" endPos="28000" dist="5000" dir="5400000" sy="-100000" algn="bl" rotWithShape="0"/>
          </a:effec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/>
          <p:nvPr/>
        </p:nvSpPr>
        <p:spPr>
          <a:xfrm>
            <a:off x="1385886" y="323849"/>
            <a:ext cx="7043739" cy="885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Bell MT"/>
              <a:buNone/>
            </a:pPr>
            <a:r>
              <a:rPr lang="es-CO" sz="4400" b="1" i="0" u="none" strike="noStrike" cap="none">
                <a:solidFill>
                  <a:schemeClr val="dk1"/>
                </a:solidFill>
                <a:latin typeface="Bell MT"/>
                <a:ea typeface="Bell MT"/>
                <a:cs typeface="Bell MT"/>
                <a:sym typeface="Bell MT"/>
              </a:rPr>
              <a:t>Arreglos de Objetos</a:t>
            </a:r>
            <a:endParaRPr sz="44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9" name="Google Shape;109;p3"/>
          <p:cNvSpPr txBox="1">
            <a:spLocks noGrp="1"/>
          </p:cNvSpPr>
          <p:nvPr>
            <p:ph type="body" idx="1"/>
          </p:nvPr>
        </p:nvSpPr>
        <p:spPr>
          <a:xfrm>
            <a:off x="964622" y="1404921"/>
            <a:ext cx="10262755" cy="31324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1D35"/>
              </a:buClr>
              <a:buSzPct val="100000"/>
              <a:buChar char="•"/>
            </a:pPr>
            <a:r>
              <a:rPr lang="es-CO" b="0" i="0">
                <a:solidFill>
                  <a:srgbClr val="001D35"/>
                </a:solidFill>
                <a:latin typeface="Arial"/>
                <a:ea typeface="Arial"/>
                <a:cs typeface="Arial"/>
                <a:sym typeface="Arial"/>
              </a:rPr>
              <a:t>Una lista enlazada es una estructura de datos lineal compuesta por una secuencia de nodos, donde cada nodo contiene un dato y un puntero o referencia al siguiente nodo en la secuencia. A diferencia de los arreglos, los elementos no necesitan estar en ubicaciones de memoria contiguas, lo que permite un tamaño dinámico. 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1D35"/>
              </a:buClr>
              <a:buSzPct val="100000"/>
              <a:buChar char="•"/>
            </a:pPr>
            <a:r>
              <a:rPr lang="es-CO" b="0" i="0">
                <a:solidFill>
                  <a:srgbClr val="001D35"/>
                </a:solidFill>
                <a:latin typeface="Arial"/>
                <a:ea typeface="Arial"/>
                <a:cs typeface="Arial"/>
                <a:sym typeface="Arial"/>
              </a:rPr>
              <a:t>El acceso a los elementos se realiza de forma secuencial a partir del primer nodo (la cabeza), lo que la hace más eficiente para inserciones y eliminaciones que los arreglos, pero menos eficiente para el acceso aleatorio. </a:t>
            </a:r>
            <a:endParaRPr/>
          </a:p>
        </p:txBody>
      </p:sp>
      <p:grpSp>
        <p:nvGrpSpPr>
          <p:cNvPr id="110" name="Google Shape;110;p3"/>
          <p:cNvGrpSpPr/>
          <p:nvPr/>
        </p:nvGrpSpPr>
        <p:grpSpPr>
          <a:xfrm>
            <a:off x="5422835" y="4732595"/>
            <a:ext cx="1912620" cy="391795"/>
            <a:chOff x="4501" y="170"/>
            <a:chExt cx="3012" cy="617"/>
          </a:xfrm>
        </p:grpSpPr>
        <p:sp>
          <p:nvSpPr>
            <p:cNvPr id="111" name="Google Shape;111;p3"/>
            <p:cNvSpPr/>
            <p:nvPr/>
          </p:nvSpPr>
          <p:spPr>
            <a:xfrm>
              <a:off x="4501" y="170"/>
              <a:ext cx="3012" cy="617"/>
            </a:xfrm>
            <a:custGeom>
              <a:avLst/>
              <a:gdLst/>
              <a:ahLst/>
              <a:cxnLst/>
              <a:rect l="l" t="t" r="r" b="b"/>
              <a:pathLst>
                <a:path w="3012" h="617" extrusionOk="0">
                  <a:moveTo>
                    <a:pt x="0" y="617"/>
                  </a:moveTo>
                  <a:lnTo>
                    <a:pt x="1575" y="617"/>
                  </a:lnTo>
                  <a:lnTo>
                    <a:pt x="1575" y="0"/>
                  </a:lnTo>
                  <a:lnTo>
                    <a:pt x="0" y="0"/>
                  </a:lnTo>
                  <a:lnTo>
                    <a:pt x="0" y="617"/>
                  </a:lnTo>
                  <a:close/>
                  <a:moveTo>
                    <a:pt x="1579" y="617"/>
                  </a:moveTo>
                  <a:lnTo>
                    <a:pt x="2369" y="617"/>
                  </a:lnTo>
                  <a:lnTo>
                    <a:pt x="2369" y="0"/>
                  </a:lnTo>
                  <a:lnTo>
                    <a:pt x="1579" y="0"/>
                  </a:lnTo>
                  <a:lnTo>
                    <a:pt x="1579" y="617"/>
                  </a:lnTo>
                  <a:close/>
                  <a:moveTo>
                    <a:pt x="2369" y="298"/>
                  </a:moveTo>
                  <a:lnTo>
                    <a:pt x="2851" y="298"/>
                  </a:lnTo>
                  <a:lnTo>
                    <a:pt x="2851" y="271"/>
                  </a:lnTo>
                  <a:lnTo>
                    <a:pt x="3012" y="324"/>
                  </a:lnTo>
                  <a:lnTo>
                    <a:pt x="2851" y="377"/>
                  </a:lnTo>
                  <a:lnTo>
                    <a:pt x="2851" y="350"/>
                  </a:lnTo>
                  <a:lnTo>
                    <a:pt x="2369" y="350"/>
                  </a:lnTo>
                  <a:lnTo>
                    <a:pt x="2369" y="298"/>
                  </a:lnTo>
                  <a:close/>
                </a:path>
              </a:pathLst>
            </a:custGeom>
            <a:noFill/>
            <a:ln w="19800" cap="flat" cmpd="sng">
              <a:solidFill>
                <a:srgbClr val="4F81B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Bell MT"/>
                <a:ea typeface="Bell MT"/>
                <a:cs typeface="Bell MT"/>
                <a:sym typeface="Bell MT"/>
              </a:endParaRPr>
            </a:p>
          </p:txBody>
        </p:sp>
        <p:sp>
          <p:nvSpPr>
            <p:cNvPr id="112" name="Google Shape;112;p3"/>
            <p:cNvSpPr txBox="1"/>
            <p:nvPr/>
          </p:nvSpPr>
          <p:spPr>
            <a:xfrm>
              <a:off x="6096" y="185"/>
              <a:ext cx="759" cy="5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6604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CO" sz="900">
                  <a:solidFill>
                    <a:srgbClr val="000009"/>
                  </a:solidFill>
                  <a:latin typeface="Calibri"/>
                  <a:ea typeface="Calibri"/>
                  <a:cs typeface="Calibri"/>
                  <a:sym typeface="Calibri"/>
                </a:rPr>
                <a:t>Enlace</a:t>
              </a:r>
              <a:endParaRPr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" name="Google Shape;113;p3"/>
            <p:cNvSpPr txBox="1"/>
            <p:nvPr/>
          </p:nvSpPr>
          <p:spPr>
            <a:xfrm>
              <a:off x="4516" y="185"/>
              <a:ext cx="1544" cy="5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CO" sz="900">
                  <a:solidFill>
                    <a:srgbClr val="000009"/>
                  </a:solidFill>
                  <a:latin typeface="Calibri"/>
                  <a:ea typeface="Calibri"/>
                  <a:cs typeface="Calibri"/>
                  <a:sym typeface="Calibri"/>
                </a:rPr>
                <a:t>Información</a:t>
              </a:r>
              <a:endParaRPr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4" name="Google Shape;114;p3"/>
          <p:cNvSpPr txBox="1"/>
          <p:nvPr/>
        </p:nvSpPr>
        <p:spPr>
          <a:xfrm>
            <a:off x="3623387" y="5060920"/>
            <a:ext cx="6106510" cy="3921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269365" marR="1819275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800" b="1">
                <a:solidFill>
                  <a:srgbClr val="000009"/>
                </a:solidFill>
                <a:latin typeface="Calibri"/>
                <a:ea typeface="Calibri"/>
                <a:cs typeface="Calibri"/>
                <a:sym typeface="Calibri"/>
              </a:rPr>
              <a:t>Nodo de una lista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"/>
          <p:cNvSpPr txBox="1">
            <a:spLocks noGrp="1"/>
          </p:cNvSpPr>
          <p:nvPr>
            <p:ph type="title"/>
          </p:nvPr>
        </p:nvSpPr>
        <p:spPr>
          <a:xfrm>
            <a:off x="964621" y="143538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1D35"/>
              </a:buClr>
              <a:buSzPts val="4400"/>
              <a:buFont typeface="Arial"/>
              <a:buNone/>
            </a:pPr>
            <a:r>
              <a:rPr lang="es-CO" b="1" i="0">
                <a:solidFill>
                  <a:srgbClr val="001D35"/>
                </a:solidFill>
                <a:latin typeface="Arial"/>
                <a:ea typeface="Arial"/>
                <a:cs typeface="Arial"/>
                <a:sym typeface="Arial"/>
              </a:rPr>
              <a:t>Nodos</a:t>
            </a:r>
            <a:r>
              <a:rPr lang="es-CO" b="0" i="0">
                <a:solidFill>
                  <a:srgbClr val="001D35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br>
              <a:rPr lang="es-CO" b="0" i="0">
                <a:solidFill>
                  <a:srgbClr val="001D35"/>
                </a:solidFill>
                <a:latin typeface="Arial"/>
                <a:ea typeface="Arial"/>
                <a:cs typeface="Arial"/>
                <a:sym typeface="Arial"/>
              </a:rPr>
            </a:br>
            <a:endParaRPr/>
          </a:p>
        </p:txBody>
      </p:sp>
      <p:sp>
        <p:nvSpPr>
          <p:cNvPr id="120" name="Google Shape;120;p4"/>
          <p:cNvSpPr txBox="1">
            <a:spLocks noGrp="1"/>
          </p:cNvSpPr>
          <p:nvPr>
            <p:ph type="body" idx="1"/>
          </p:nvPr>
        </p:nvSpPr>
        <p:spPr>
          <a:xfrm>
            <a:off x="1091044" y="3044535"/>
            <a:ext cx="10262755" cy="31324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45D7E"/>
              </a:buClr>
              <a:buSzPts val="2800"/>
              <a:buChar char="•"/>
            </a:pPr>
            <a:r>
              <a:rPr lang="es-CO" b="0" i="0">
                <a:solidFill>
                  <a:srgbClr val="545D7E"/>
                </a:solidFill>
                <a:latin typeface="Arial"/>
                <a:ea typeface="Arial"/>
                <a:cs typeface="Arial"/>
                <a:sym typeface="Arial"/>
              </a:rPr>
              <a:t>Cada nodo de la lista enlazada tiene al menos dos partes: </a:t>
            </a:r>
            <a:endParaRPr b="0" i="0">
              <a:solidFill>
                <a:srgbClr val="0B57D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45D7E"/>
              </a:buClr>
              <a:buSzPts val="2800"/>
              <a:buFont typeface="Arial"/>
              <a:buChar char="•"/>
            </a:pPr>
            <a:r>
              <a:rPr lang="es-CO" b="1" i="0">
                <a:solidFill>
                  <a:srgbClr val="545D7E"/>
                </a:solidFill>
                <a:latin typeface="Arial"/>
                <a:ea typeface="Arial"/>
                <a:cs typeface="Arial"/>
                <a:sym typeface="Arial"/>
              </a:rPr>
              <a:t>Dato</a:t>
            </a:r>
            <a:r>
              <a:rPr lang="es-CO" b="0" i="0">
                <a:solidFill>
                  <a:srgbClr val="545D7E"/>
                </a:solidFill>
                <a:latin typeface="Arial"/>
                <a:ea typeface="Arial"/>
                <a:cs typeface="Arial"/>
                <a:sym typeface="Arial"/>
              </a:rPr>
              <a:t>: La información que se almacena en el nodo. </a:t>
            </a:r>
            <a:endParaRPr b="0" i="0">
              <a:solidFill>
                <a:srgbClr val="0B57D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45D7E"/>
              </a:buClr>
              <a:buSzPts val="2800"/>
              <a:buChar char="•"/>
            </a:pPr>
            <a:r>
              <a:rPr lang="es-CO" b="1" i="0">
                <a:solidFill>
                  <a:srgbClr val="545D7E"/>
                </a:solidFill>
                <a:latin typeface="Arial"/>
                <a:ea typeface="Arial"/>
                <a:cs typeface="Arial"/>
                <a:sym typeface="Arial"/>
              </a:rPr>
              <a:t>Puntero/Enlace</a:t>
            </a:r>
            <a:r>
              <a:rPr lang="es-CO" b="0" i="0">
                <a:solidFill>
                  <a:srgbClr val="545D7E"/>
                </a:solidFill>
                <a:latin typeface="Arial"/>
                <a:ea typeface="Arial"/>
                <a:cs typeface="Arial"/>
                <a:sym typeface="Arial"/>
              </a:rPr>
              <a:t>: Una referencia a la dirección de memoria del siguiente nodo</a:t>
            </a: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"/>
          <p:cNvSpPr txBox="1">
            <a:spLocks noGrp="1"/>
          </p:cNvSpPr>
          <p:nvPr>
            <p:ph type="title"/>
          </p:nvPr>
        </p:nvSpPr>
        <p:spPr>
          <a:xfrm>
            <a:off x="964621" y="143538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Bell MT"/>
              <a:buNone/>
            </a:pPr>
            <a:endParaRPr/>
          </a:p>
        </p:txBody>
      </p:sp>
      <p:sp>
        <p:nvSpPr>
          <p:cNvPr id="126" name="Google Shape;126;p5"/>
          <p:cNvSpPr txBox="1">
            <a:spLocks noGrp="1"/>
          </p:cNvSpPr>
          <p:nvPr>
            <p:ph type="body" idx="1"/>
          </p:nvPr>
        </p:nvSpPr>
        <p:spPr>
          <a:xfrm>
            <a:off x="1091044" y="3044535"/>
            <a:ext cx="10262755" cy="31324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1D35"/>
              </a:buClr>
              <a:buSzPts val="2800"/>
              <a:buFont typeface="Arial"/>
              <a:buChar char="•"/>
            </a:pPr>
            <a:r>
              <a:rPr lang="es-CO" b="1" i="0">
                <a:solidFill>
                  <a:srgbClr val="001D35"/>
                </a:solidFill>
                <a:latin typeface="Arial"/>
                <a:ea typeface="Arial"/>
                <a:cs typeface="Arial"/>
                <a:sym typeface="Arial"/>
              </a:rPr>
              <a:t>Cabeza (Head)</a:t>
            </a:r>
            <a:r>
              <a:rPr lang="es-CO" b="0" i="0">
                <a:solidFill>
                  <a:srgbClr val="001D35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45D7E"/>
              </a:buClr>
              <a:buSzPts val="2800"/>
              <a:buFont typeface="Arial"/>
              <a:buChar char="•"/>
            </a:pPr>
            <a:r>
              <a:rPr lang="es-CO" b="0" i="0">
                <a:solidFill>
                  <a:srgbClr val="545D7E"/>
                </a:solidFill>
                <a:latin typeface="Arial"/>
                <a:ea typeface="Arial"/>
                <a:cs typeface="Arial"/>
                <a:sym typeface="Arial"/>
              </a:rPr>
              <a:t>Un puntero que apunta al primer nodo de la lista. Si la lista está vacía, la cabeza es nula. </a:t>
            </a:r>
            <a:endParaRPr b="0" i="0">
              <a:solidFill>
                <a:srgbClr val="0B57D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1D35"/>
              </a:buClr>
              <a:buSzPts val="2800"/>
              <a:buChar char="•"/>
            </a:pPr>
            <a:r>
              <a:rPr lang="es-CO" b="1" i="0">
                <a:solidFill>
                  <a:srgbClr val="001D35"/>
                </a:solidFill>
                <a:latin typeface="Arial"/>
                <a:ea typeface="Arial"/>
                <a:cs typeface="Arial"/>
                <a:sym typeface="Arial"/>
              </a:rPr>
              <a:t>Cola (Tail)</a:t>
            </a:r>
            <a:r>
              <a:rPr lang="es-CO" b="0" i="0">
                <a:solidFill>
                  <a:srgbClr val="001D35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45D7E"/>
              </a:buClr>
              <a:buSzPts val="2800"/>
              <a:buChar char="•"/>
            </a:pPr>
            <a:r>
              <a:rPr lang="es-CO" b="0" i="0">
                <a:solidFill>
                  <a:srgbClr val="545D7E"/>
                </a:solidFill>
                <a:latin typeface="Arial"/>
                <a:ea typeface="Arial"/>
                <a:cs typeface="Arial"/>
                <a:sym typeface="Arial"/>
              </a:rPr>
              <a:t>El último nodo de la lista, cuyo puntero apunta a NULL (o nulo) para indicar el final de la secuencia. </a:t>
            </a: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Bell MT"/>
              <a:buNone/>
            </a:pPr>
            <a:r>
              <a:rPr lang="es-CO" b="0" i="0" dirty="0"/>
              <a:t>Tipos de listas enlazadas</a:t>
            </a:r>
            <a:br>
              <a:rPr lang="es-CO" b="0" i="0" dirty="0"/>
            </a:br>
            <a:endParaRPr dirty="0"/>
          </a:p>
        </p:txBody>
      </p:sp>
      <p:sp>
        <p:nvSpPr>
          <p:cNvPr id="132" name="Google Shape;132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s-CO" b="1" i="0" u="sng" dirty="0">
                <a:solidFill>
                  <a:schemeClr val="hlink"/>
                </a:solidFill>
                <a:hlinkClick r:id="rId3"/>
              </a:rPr>
              <a:t>Lista enlazada simple</a:t>
            </a:r>
            <a:r>
              <a:rPr lang="es-CO" b="0" i="0" dirty="0"/>
              <a:t>: Cada nodo apunta solo al siguiente nodo. 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s-CO" b="1" i="0" u="sng" dirty="0">
                <a:solidFill>
                  <a:schemeClr val="hlink"/>
                </a:solidFill>
                <a:hlinkClick r:id="rId4"/>
              </a:rPr>
              <a:t>Lista doblemente enlazada</a:t>
            </a:r>
            <a:r>
              <a:rPr lang="es-CO" b="0" i="0" dirty="0"/>
              <a:t>: Cada nodo tiene dos punteros: uno al siguiente nodo y otro al nodo anterior. 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s-CO" b="1" i="0" u="sng" dirty="0">
                <a:solidFill>
                  <a:schemeClr val="hlink"/>
                </a:solidFill>
                <a:hlinkClick r:id="rId5"/>
              </a:rPr>
              <a:t>Lista circular</a:t>
            </a:r>
            <a:r>
              <a:rPr lang="es-CO" b="0" i="0" dirty="0"/>
              <a:t>: La lista es cíclica, donde el último nodo apunta de nuevo al primer nodo. </a:t>
            </a:r>
            <a:endParaRPr dirty="0"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</p:txBody>
      </p:sp>
      <p:pic>
        <p:nvPicPr>
          <p:cNvPr id="133" name="Google Shape;133;p6" descr="Listas enlazadas simples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172200" y="3006484"/>
            <a:ext cx="5181600" cy="1989619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ell MT"/>
              <a:buNone/>
            </a:pPr>
            <a:r>
              <a:rPr lang="es-CO" b="0" i="0"/>
              <a:t>Ventajas y desventajas</a:t>
            </a:r>
            <a:br>
              <a:rPr lang="es-CO" b="0" i="0"/>
            </a:br>
            <a:endParaRPr/>
          </a:p>
        </p:txBody>
      </p:sp>
      <p:sp>
        <p:nvSpPr>
          <p:cNvPr id="139" name="Google Shape;139;p7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s-CO" sz="2000" b="1" i="0"/>
              <a:t>Ventajas</a:t>
            </a:r>
            <a:r>
              <a:rPr lang="es-CO" sz="2000" b="0" i="0"/>
              <a:t>: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s-CO" sz="2000" b="1" i="0"/>
              <a:t>Tamaño dinámico</a:t>
            </a:r>
            <a:r>
              <a:rPr lang="es-CO" sz="2000" b="0" i="0"/>
              <a:t>: Pueden crecer o encogerse según sea necesario, sin necesidad de predefinir un tamaño fijo. 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s-CO" sz="2000" b="1" i="0"/>
              <a:t>Inserciones y eliminaciones eficientes</a:t>
            </a:r>
            <a:r>
              <a:rPr lang="es-CO" sz="2000" b="0" i="0"/>
              <a:t>: Agregar o quitar elementos es sencillo y rápido, ya que solo requiere ajustar los punteros de los nodos adyacentes. 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s-CO" sz="2000" b="1" i="0"/>
              <a:t>Desventajas</a:t>
            </a:r>
            <a:r>
              <a:rPr lang="es-CO" sz="2000" b="0" i="0"/>
              <a:t>: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s-CO" sz="2000" b="1" i="0"/>
              <a:t>Acceso secuencial</a:t>
            </a:r>
            <a:r>
              <a:rPr lang="es-CO" sz="2000" b="0" i="0"/>
              <a:t>: Para acceder a un elemento específico se debe recorrer la lista desde el principio, lo que la hace lenta para búsquedas y acceso aleatorio. 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s-CO" sz="2000" b="1" i="0"/>
              <a:t>Mayor consumo de memoria</a:t>
            </a:r>
            <a:r>
              <a:rPr lang="es-CO" sz="2000" b="0" i="0"/>
              <a:t>: Cada nodo requiere espacio adicional para almacenar el puntero o enlace, lo que puede ser más que un arreglo simple. </a:t>
            </a:r>
            <a:endParaRPr/>
          </a:p>
          <a:p>
            <a:pPr marL="228600" lvl="0" indent="-101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sz="2000"/>
          </a:p>
        </p:txBody>
      </p:sp>
      <p:sp>
        <p:nvSpPr>
          <p:cNvPr id="140" name="Google Shape;140;p7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Bell MT"/>
              <a:buNone/>
            </a:pPr>
            <a:r>
              <a:rPr lang="es-CO" b="0" i="0"/>
              <a:t>Usos comunes </a:t>
            </a:r>
            <a:br>
              <a:rPr lang="es-CO" b="0" i="0"/>
            </a:br>
            <a:endParaRPr/>
          </a:p>
        </p:txBody>
      </p:sp>
      <p:sp>
        <p:nvSpPr>
          <p:cNvPr id="146" name="Google Shape;146;p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s-CO" b="0" i="0"/>
              <a:t>Implementación de estructuras de datos como pilas y colas.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s-CO" b="0" i="0"/>
              <a:t>Sistemas de gestión de procesos en el sistema operativo.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s-CO" b="0" i="0"/>
              <a:t>Funcionalidades de "deshacer" y "rehacer" en aplicaciones de software.</a:t>
            </a: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pic>
        <p:nvPicPr>
          <p:cNvPr id="147" name="Google Shape;147;p8" descr="LISTA ENLAZADA👉(LIGADA): ¿Qué son, Tipos, Usos y Ventajas?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72200" y="2792781"/>
            <a:ext cx="5181600" cy="24170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ell MT"/>
              <a:buNone/>
            </a:pPr>
            <a:r>
              <a:rPr lang="es-CO"/>
              <a:t>Listas</a:t>
            </a:r>
            <a:endParaRPr/>
          </a:p>
        </p:txBody>
      </p:sp>
      <p:sp>
        <p:nvSpPr>
          <p:cNvPr id="153" name="Google Shape;153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s-CO"/>
              <a:t>Lo más recomendable y flexible para la creación de un nodo es utilizar un objeto por cada nodo, para ello debe comprender cuatro conceptos fundamentales que son:</a:t>
            </a:r>
            <a:endParaRPr/>
          </a:p>
          <a:p>
            <a:pPr marL="4572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s-CO"/>
              <a:t>-       Clase auto-referenciada,</a:t>
            </a:r>
            <a:endParaRPr/>
          </a:p>
          <a:p>
            <a:pPr marL="4572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s-CO"/>
              <a:t>-       Nodo,</a:t>
            </a:r>
            <a:endParaRPr/>
          </a:p>
          <a:p>
            <a:pPr marL="4572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s-CO"/>
              <a:t>-       Campo de enlace y</a:t>
            </a:r>
            <a:endParaRPr/>
          </a:p>
          <a:p>
            <a:pPr marL="4572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s-CO"/>
              <a:t>-       Enlace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</p:txBody>
      </p:sp>
      <p:grpSp>
        <p:nvGrpSpPr>
          <p:cNvPr id="154" name="Google Shape;154;p9"/>
          <p:cNvGrpSpPr/>
          <p:nvPr/>
        </p:nvGrpSpPr>
        <p:grpSpPr>
          <a:xfrm>
            <a:off x="5183188" y="1779389"/>
            <a:ext cx="6172199" cy="3289696"/>
            <a:chOff x="0" y="791964"/>
            <a:chExt cx="6172199" cy="3289696"/>
          </a:xfrm>
        </p:grpSpPr>
        <p:sp>
          <p:nvSpPr>
            <p:cNvPr id="155" name="Google Shape;155;p9"/>
            <p:cNvSpPr/>
            <p:nvPr/>
          </p:nvSpPr>
          <p:spPr>
            <a:xfrm>
              <a:off x="0" y="791964"/>
              <a:ext cx="6172199" cy="1462087"/>
            </a:xfrm>
            <a:prstGeom prst="roundRect">
              <a:avLst>
                <a:gd name="adj" fmla="val 10000"/>
              </a:avLst>
            </a:prstGeom>
            <a:solidFill>
              <a:srgbClr val="D2E0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9"/>
            <p:cNvSpPr/>
            <p:nvPr/>
          </p:nvSpPr>
          <p:spPr>
            <a:xfrm>
              <a:off x="442281" y="1120933"/>
              <a:ext cx="804148" cy="804148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9"/>
            <p:cNvSpPr/>
            <p:nvPr/>
          </p:nvSpPr>
          <p:spPr>
            <a:xfrm>
              <a:off x="1688711" y="791964"/>
              <a:ext cx="4483488" cy="146208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9"/>
            <p:cNvSpPr txBox="1"/>
            <p:nvPr/>
          </p:nvSpPr>
          <p:spPr>
            <a:xfrm>
              <a:off x="1688711" y="791964"/>
              <a:ext cx="4483488" cy="146208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54725" tIns="154725" rIns="154725" bIns="154725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Bell MT"/>
                <a:buNone/>
              </a:pPr>
              <a:r>
                <a:rPr lang="es-CO" sz="2200">
                  <a:solidFill>
                    <a:schemeClr val="dk1"/>
                  </a:solidFill>
                  <a:latin typeface="Bell MT"/>
                  <a:ea typeface="Bell MT"/>
                  <a:cs typeface="Bell MT"/>
                  <a:sym typeface="Bell MT"/>
                </a:rPr>
                <a:t>Una clase auto-referenciada es una clase con al menos un campo cuyo tipo de referencia es el nombre de la misma clase.</a:t>
              </a:r>
              <a:endParaRPr sz="2200">
                <a:solidFill>
                  <a:schemeClr val="dk1"/>
                </a:solidFill>
                <a:latin typeface="Bell MT"/>
                <a:ea typeface="Bell MT"/>
                <a:cs typeface="Bell MT"/>
                <a:sym typeface="Bell MT"/>
              </a:endParaRPr>
            </a:p>
          </p:txBody>
        </p:sp>
        <p:sp>
          <p:nvSpPr>
            <p:cNvPr id="159" name="Google Shape;159;p9"/>
            <p:cNvSpPr/>
            <p:nvPr/>
          </p:nvSpPr>
          <p:spPr>
            <a:xfrm>
              <a:off x="0" y="2619573"/>
              <a:ext cx="6172199" cy="1462087"/>
            </a:xfrm>
            <a:prstGeom prst="roundRect">
              <a:avLst>
                <a:gd name="adj" fmla="val 10000"/>
              </a:avLst>
            </a:prstGeom>
            <a:solidFill>
              <a:srgbClr val="D2E0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9"/>
            <p:cNvSpPr/>
            <p:nvPr/>
          </p:nvSpPr>
          <p:spPr>
            <a:xfrm>
              <a:off x="442281" y="2948543"/>
              <a:ext cx="804148" cy="804148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9"/>
            <p:cNvSpPr/>
            <p:nvPr/>
          </p:nvSpPr>
          <p:spPr>
            <a:xfrm>
              <a:off x="1688711" y="2619573"/>
              <a:ext cx="2777490" cy="146208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9"/>
            <p:cNvSpPr txBox="1"/>
            <p:nvPr/>
          </p:nvSpPr>
          <p:spPr>
            <a:xfrm>
              <a:off x="1688711" y="2619573"/>
              <a:ext cx="2777490" cy="146208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54725" tIns="154725" rIns="154725" bIns="154725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Bell MT"/>
                <a:buNone/>
              </a:pPr>
              <a:r>
                <a:rPr lang="es-CO" sz="2200">
                  <a:solidFill>
                    <a:schemeClr val="dk1"/>
                  </a:solidFill>
                  <a:latin typeface="Bell MT"/>
                  <a:ea typeface="Bell MT"/>
                  <a:cs typeface="Bell MT"/>
                  <a:sym typeface="Bell MT"/>
                </a:rPr>
                <a:t>public clase Nodo</a:t>
              </a:r>
              <a:endParaRPr sz="2200">
                <a:solidFill>
                  <a:schemeClr val="dk1"/>
                </a:solidFill>
                <a:latin typeface="Bell MT"/>
                <a:ea typeface="Bell MT"/>
                <a:cs typeface="Bell MT"/>
                <a:sym typeface="Bell MT"/>
              </a:endParaRPr>
            </a:p>
          </p:txBody>
        </p:sp>
        <p:sp>
          <p:nvSpPr>
            <p:cNvPr id="163" name="Google Shape;163;p9"/>
            <p:cNvSpPr/>
            <p:nvPr/>
          </p:nvSpPr>
          <p:spPr>
            <a:xfrm>
              <a:off x="4466201" y="2619573"/>
              <a:ext cx="1705998" cy="146208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64;p9"/>
            <p:cNvSpPr txBox="1"/>
            <p:nvPr/>
          </p:nvSpPr>
          <p:spPr>
            <a:xfrm>
              <a:off x="4466201" y="2619573"/>
              <a:ext cx="1705998" cy="146208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54725" tIns="154725" rIns="154725" bIns="154725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00"/>
                <a:buFont typeface="Bell MT"/>
                <a:buNone/>
              </a:pPr>
              <a:r>
                <a:rPr lang="es-CO" sz="1300">
                  <a:solidFill>
                    <a:schemeClr val="dk1"/>
                  </a:solidFill>
                  <a:latin typeface="Bell MT"/>
                  <a:ea typeface="Bell MT"/>
                  <a:cs typeface="Bell MT"/>
                  <a:sym typeface="Bell MT"/>
                </a:rPr>
                <a:t>{</a:t>
              </a:r>
              <a:endParaRPr sz="1300">
                <a:solidFill>
                  <a:schemeClr val="dk1"/>
                </a:solidFill>
                <a:latin typeface="Bell MT"/>
                <a:ea typeface="Bell MT"/>
                <a:cs typeface="Bell MT"/>
                <a:sym typeface="Bell MT"/>
              </a:endParaRPr>
            </a:p>
            <a:p>
              <a:pPr marL="0" marR="0" lvl="0" indent="0" algn="l" rtl="0">
                <a:lnSpc>
                  <a:spcPct val="90000"/>
                </a:lnSpc>
                <a:spcBef>
                  <a:spcPts val="455"/>
                </a:spcBef>
                <a:spcAft>
                  <a:spcPts val="0"/>
                </a:spcAft>
                <a:buClr>
                  <a:schemeClr val="dk1"/>
                </a:buClr>
                <a:buSzPts val="1300"/>
                <a:buFont typeface="Bell MT"/>
                <a:buNone/>
              </a:pPr>
              <a:r>
                <a:rPr lang="es-CO" sz="1300">
                  <a:solidFill>
                    <a:schemeClr val="dk1"/>
                  </a:solidFill>
                  <a:latin typeface="Bell MT"/>
                  <a:ea typeface="Bell MT"/>
                  <a:cs typeface="Bell MT"/>
                  <a:sym typeface="Bell MT"/>
                </a:rPr>
                <a:t>Object elemento;</a:t>
              </a:r>
              <a:endParaRPr sz="1300">
                <a:solidFill>
                  <a:schemeClr val="dk1"/>
                </a:solidFill>
                <a:latin typeface="Bell MT"/>
                <a:ea typeface="Bell MT"/>
                <a:cs typeface="Bell MT"/>
                <a:sym typeface="Bell MT"/>
              </a:endParaRPr>
            </a:p>
            <a:p>
              <a:pPr marL="0" marR="0" lvl="0" indent="0" algn="l" rtl="0">
                <a:lnSpc>
                  <a:spcPct val="90000"/>
                </a:lnSpc>
                <a:spcBef>
                  <a:spcPts val="455"/>
                </a:spcBef>
                <a:spcAft>
                  <a:spcPts val="0"/>
                </a:spcAft>
                <a:buClr>
                  <a:schemeClr val="dk1"/>
                </a:buClr>
                <a:buSzPts val="1300"/>
                <a:buFont typeface="Bell MT"/>
                <a:buNone/>
              </a:pPr>
              <a:r>
                <a:rPr lang="es-CO" sz="1300">
                  <a:solidFill>
                    <a:schemeClr val="dk1"/>
                  </a:solidFill>
                  <a:latin typeface="Bell MT"/>
                  <a:ea typeface="Bell MT"/>
                  <a:cs typeface="Bell MT"/>
                  <a:sym typeface="Bell MT"/>
                </a:rPr>
                <a:t>Nodo siguiente;</a:t>
              </a:r>
              <a:endParaRPr sz="1300">
                <a:solidFill>
                  <a:schemeClr val="dk1"/>
                </a:solidFill>
                <a:latin typeface="Bell MT"/>
                <a:ea typeface="Bell MT"/>
                <a:cs typeface="Bell MT"/>
                <a:sym typeface="Bell MT"/>
              </a:endParaRPr>
            </a:p>
            <a:p>
              <a:pPr marL="0" marR="0" lvl="0" indent="0" algn="l" rtl="0">
                <a:lnSpc>
                  <a:spcPct val="90000"/>
                </a:lnSpc>
                <a:spcBef>
                  <a:spcPts val="455"/>
                </a:spcBef>
                <a:spcAft>
                  <a:spcPts val="0"/>
                </a:spcAft>
                <a:buClr>
                  <a:schemeClr val="dk1"/>
                </a:buClr>
                <a:buSzPts val="1300"/>
                <a:buFont typeface="Bell MT"/>
                <a:buNone/>
              </a:pPr>
              <a:r>
                <a:rPr lang="es-CO" sz="1300">
                  <a:solidFill>
                    <a:schemeClr val="dk1"/>
                  </a:solidFill>
                  <a:latin typeface="Bell MT"/>
                  <a:ea typeface="Bell MT"/>
                  <a:cs typeface="Bell MT"/>
                  <a:sym typeface="Bell MT"/>
                </a:rPr>
                <a:t>//métodos</a:t>
              </a:r>
              <a:endParaRPr sz="1300">
                <a:solidFill>
                  <a:schemeClr val="dk1"/>
                </a:solidFill>
                <a:latin typeface="Bell MT"/>
                <a:ea typeface="Bell MT"/>
                <a:cs typeface="Bell MT"/>
                <a:sym typeface="Bell MT"/>
              </a:endParaRPr>
            </a:p>
            <a:p>
              <a:pPr marL="0" marR="0" lvl="0" indent="0" algn="l" rtl="0">
                <a:lnSpc>
                  <a:spcPct val="90000"/>
                </a:lnSpc>
                <a:spcBef>
                  <a:spcPts val="455"/>
                </a:spcBef>
                <a:spcAft>
                  <a:spcPts val="0"/>
                </a:spcAft>
                <a:buClr>
                  <a:schemeClr val="dk1"/>
                </a:buClr>
                <a:buSzPts val="1300"/>
                <a:buFont typeface="Bell MT"/>
                <a:buNone/>
              </a:pPr>
              <a:r>
                <a:rPr lang="es-CO" sz="1300">
                  <a:solidFill>
                    <a:schemeClr val="dk1"/>
                  </a:solidFill>
                  <a:latin typeface="Bell MT"/>
                  <a:ea typeface="Bell MT"/>
                  <a:cs typeface="Bell MT"/>
                  <a:sym typeface="Bell MT"/>
                </a:rPr>
                <a:t>}</a:t>
              </a:r>
              <a:endParaRPr sz="1300">
                <a:solidFill>
                  <a:schemeClr val="dk1"/>
                </a:solidFill>
                <a:latin typeface="Bell MT"/>
                <a:ea typeface="Bell MT"/>
                <a:cs typeface="Bell MT"/>
                <a:sym typeface="Bell M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8DD2F65C-A67D-4D83-4519-EE38D4798750}"/>
              </a:ext>
            </a:extLst>
          </p:cNvPr>
          <p:cNvSpPr txBox="1"/>
          <p:nvPr/>
        </p:nvSpPr>
        <p:spPr>
          <a:xfrm>
            <a:off x="1502229" y="1175658"/>
            <a:ext cx="7658098" cy="44539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dirty="0" err="1"/>
              <a:t>class</a:t>
            </a:r>
            <a:r>
              <a:rPr lang="es-ES_tradnl" dirty="0"/>
              <a:t> </a:t>
            </a:r>
            <a:r>
              <a:rPr lang="es-ES_tradnl" dirty="0" err="1"/>
              <a:t>ListaEnlazada</a:t>
            </a:r>
            <a:r>
              <a:rPr lang="es-ES_tradnl" dirty="0"/>
              <a:t>:</a:t>
            </a:r>
          </a:p>
          <a:p>
            <a:r>
              <a:rPr lang="es-ES_tradnl" dirty="0"/>
              <a:t>    </a:t>
            </a:r>
            <a:r>
              <a:rPr lang="es-ES_tradnl" dirty="0" err="1"/>
              <a:t>def</a:t>
            </a:r>
            <a:r>
              <a:rPr lang="es-ES_tradnl" dirty="0"/>
              <a:t> __</a:t>
            </a:r>
            <a:r>
              <a:rPr lang="es-ES_tradnl" dirty="0" err="1"/>
              <a:t>init</a:t>
            </a:r>
            <a:r>
              <a:rPr lang="es-ES_tradnl" dirty="0"/>
              <a:t>__(</a:t>
            </a:r>
            <a:r>
              <a:rPr lang="es-ES_tradnl" dirty="0" err="1"/>
              <a:t>self</a:t>
            </a:r>
            <a:r>
              <a:rPr lang="es-ES_tradnl" dirty="0"/>
              <a:t>):</a:t>
            </a:r>
          </a:p>
          <a:p>
            <a:r>
              <a:rPr lang="es-ES_tradnl" dirty="0"/>
              <a:t>        </a:t>
            </a:r>
            <a:r>
              <a:rPr lang="es-ES_tradnl" dirty="0" err="1"/>
              <a:t>self.cabeza</a:t>
            </a:r>
            <a:r>
              <a:rPr lang="es-ES_tradnl" dirty="0"/>
              <a:t> = </a:t>
            </a:r>
            <a:r>
              <a:rPr lang="es-ES_tradnl" dirty="0" err="1"/>
              <a:t>None</a:t>
            </a:r>
            <a:endParaRPr lang="es-ES_tradnl" dirty="0"/>
          </a:p>
          <a:p>
            <a:endParaRPr lang="es-ES_tradnl" dirty="0"/>
          </a:p>
          <a:p>
            <a:r>
              <a:rPr lang="es-ES_tradnl" dirty="0"/>
              <a:t>    </a:t>
            </a:r>
            <a:r>
              <a:rPr lang="es-ES_tradnl" dirty="0" err="1"/>
              <a:t>def</a:t>
            </a:r>
            <a:r>
              <a:rPr lang="es-ES_tradnl" dirty="0"/>
              <a:t> agregar(</a:t>
            </a:r>
            <a:r>
              <a:rPr lang="es-ES_tradnl" dirty="0" err="1"/>
              <a:t>self</a:t>
            </a:r>
            <a:r>
              <a:rPr lang="es-ES_tradnl" dirty="0"/>
              <a:t>, dato):</a:t>
            </a:r>
          </a:p>
          <a:p>
            <a:r>
              <a:rPr lang="es-ES_tradnl" dirty="0"/>
              <a:t>        nuevo = Nodo(dato)</a:t>
            </a:r>
          </a:p>
          <a:p>
            <a:r>
              <a:rPr lang="es-ES_tradnl" dirty="0"/>
              <a:t>        </a:t>
            </a:r>
            <a:r>
              <a:rPr lang="es-ES_tradnl" dirty="0" err="1"/>
              <a:t>if</a:t>
            </a:r>
            <a:r>
              <a:rPr lang="es-ES_tradnl" dirty="0"/>
              <a:t> </a:t>
            </a:r>
            <a:r>
              <a:rPr lang="es-ES_tradnl" dirty="0" err="1"/>
              <a:t>not</a:t>
            </a:r>
            <a:r>
              <a:rPr lang="es-ES_tradnl" dirty="0"/>
              <a:t> </a:t>
            </a:r>
            <a:r>
              <a:rPr lang="es-ES_tradnl" dirty="0" err="1"/>
              <a:t>self.cabeza</a:t>
            </a:r>
            <a:r>
              <a:rPr lang="es-ES_tradnl" dirty="0"/>
              <a:t>:</a:t>
            </a:r>
          </a:p>
          <a:p>
            <a:r>
              <a:rPr lang="es-ES_tradnl" dirty="0"/>
              <a:t>            </a:t>
            </a:r>
            <a:r>
              <a:rPr lang="es-ES_tradnl" dirty="0" err="1"/>
              <a:t>self.cabeza</a:t>
            </a:r>
            <a:r>
              <a:rPr lang="es-ES_tradnl" dirty="0"/>
              <a:t> = nuevo</a:t>
            </a:r>
          </a:p>
          <a:p>
            <a:r>
              <a:rPr lang="es-ES_tradnl" dirty="0"/>
              <a:t>        </a:t>
            </a:r>
            <a:r>
              <a:rPr lang="es-ES_tradnl" dirty="0" err="1"/>
              <a:t>else</a:t>
            </a:r>
            <a:r>
              <a:rPr lang="es-ES_tradnl" dirty="0"/>
              <a:t>:</a:t>
            </a:r>
          </a:p>
          <a:p>
            <a:r>
              <a:rPr lang="es-ES_tradnl" dirty="0"/>
              <a:t>            actual = </a:t>
            </a:r>
            <a:r>
              <a:rPr lang="es-ES_tradnl" dirty="0" err="1"/>
              <a:t>self.cabeza</a:t>
            </a:r>
            <a:endParaRPr lang="es-ES_tradnl" dirty="0"/>
          </a:p>
          <a:p>
            <a:r>
              <a:rPr lang="es-ES_tradnl" dirty="0"/>
              <a:t>            </a:t>
            </a:r>
            <a:r>
              <a:rPr lang="es-ES_tradnl" dirty="0" err="1"/>
              <a:t>while</a:t>
            </a:r>
            <a:r>
              <a:rPr lang="es-ES_tradnl" dirty="0"/>
              <a:t> </a:t>
            </a:r>
            <a:r>
              <a:rPr lang="es-ES_tradnl" dirty="0" err="1"/>
              <a:t>actual.siguiente</a:t>
            </a:r>
            <a:r>
              <a:rPr lang="es-ES_tradnl" dirty="0"/>
              <a:t>:</a:t>
            </a:r>
          </a:p>
          <a:p>
            <a:r>
              <a:rPr lang="es-ES_tradnl" dirty="0"/>
              <a:t>                actual = </a:t>
            </a:r>
            <a:r>
              <a:rPr lang="es-ES_tradnl" dirty="0" err="1"/>
              <a:t>actual.siguiente</a:t>
            </a:r>
            <a:endParaRPr lang="es-ES_tradnl" dirty="0"/>
          </a:p>
          <a:p>
            <a:r>
              <a:rPr lang="es-ES_tradnl" dirty="0"/>
              <a:t>            </a:t>
            </a:r>
            <a:r>
              <a:rPr lang="es-ES_tradnl" dirty="0" err="1"/>
              <a:t>actual.siguiente</a:t>
            </a:r>
            <a:r>
              <a:rPr lang="es-ES_tradnl" dirty="0"/>
              <a:t> = nuevo</a:t>
            </a:r>
          </a:p>
          <a:p>
            <a:endParaRPr lang="es-ES_tradnl" dirty="0"/>
          </a:p>
          <a:p>
            <a:r>
              <a:rPr lang="es-ES_tradnl" dirty="0"/>
              <a:t>    </a:t>
            </a:r>
            <a:r>
              <a:rPr lang="es-ES_tradnl" dirty="0" err="1"/>
              <a:t>def</a:t>
            </a:r>
            <a:r>
              <a:rPr lang="es-ES_tradnl" dirty="0"/>
              <a:t> mostrar(</a:t>
            </a:r>
            <a:r>
              <a:rPr lang="es-ES_tradnl" dirty="0" err="1"/>
              <a:t>self</a:t>
            </a:r>
            <a:r>
              <a:rPr lang="es-ES_tradnl" dirty="0"/>
              <a:t>):</a:t>
            </a:r>
          </a:p>
          <a:p>
            <a:r>
              <a:rPr lang="es-ES_tradnl" dirty="0"/>
              <a:t>        actual = </a:t>
            </a:r>
            <a:r>
              <a:rPr lang="es-ES_tradnl" dirty="0" err="1"/>
              <a:t>self.cabeza</a:t>
            </a:r>
            <a:endParaRPr lang="es-ES_tradnl" dirty="0"/>
          </a:p>
          <a:p>
            <a:r>
              <a:rPr lang="es-ES_tradnl" dirty="0"/>
              <a:t>        </a:t>
            </a:r>
            <a:r>
              <a:rPr lang="es-ES_tradnl" dirty="0" err="1"/>
              <a:t>while</a:t>
            </a:r>
            <a:r>
              <a:rPr lang="es-ES_tradnl" dirty="0"/>
              <a:t> actual:</a:t>
            </a:r>
          </a:p>
          <a:p>
            <a:r>
              <a:rPr lang="es-ES_tradnl" dirty="0"/>
              <a:t>            </a:t>
            </a:r>
            <a:r>
              <a:rPr lang="es-ES_tradnl" dirty="0" err="1"/>
              <a:t>print</a:t>
            </a:r>
            <a:r>
              <a:rPr lang="es-ES_tradnl" dirty="0"/>
              <a:t>(</a:t>
            </a:r>
            <a:r>
              <a:rPr lang="es-ES_tradnl" dirty="0" err="1"/>
              <a:t>actual.dato</a:t>
            </a:r>
            <a:r>
              <a:rPr lang="es-ES_tradnl" dirty="0"/>
              <a:t>, </a:t>
            </a:r>
            <a:r>
              <a:rPr lang="es-ES_tradnl" dirty="0" err="1"/>
              <a:t>end</a:t>
            </a:r>
            <a:r>
              <a:rPr lang="es-ES_tradnl" dirty="0"/>
              <a:t>=" -&gt; ")</a:t>
            </a:r>
          </a:p>
          <a:p>
            <a:r>
              <a:rPr lang="es-ES_tradnl" dirty="0"/>
              <a:t>            actual = </a:t>
            </a:r>
            <a:r>
              <a:rPr lang="es-ES_tradnl" dirty="0" err="1"/>
              <a:t>actual.siguiente</a:t>
            </a:r>
            <a:endParaRPr lang="es-ES_tradnl" dirty="0"/>
          </a:p>
          <a:p>
            <a:r>
              <a:rPr lang="es-ES_tradnl" dirty="0"/>
              <a:t>        </a:t>
            </a:r>
            <a:r>
              <a:rPr lang="es-ES_tradnl" dirty="0" err="1"/>
              <a:t>print</a:t>
            </a:r>
            <a:r>
              <a:rPr lang="es-ES_tradnl" dirty="0"/>
              <a:t>("</a:t>
            </a:r>
            <a:r>
              <a:rPr lang="es-ES_tradnl" dirty="0" err="1"/>
              <a:t>None</a:t>
            </a:r>
            <a:r>
              <a:rPr lang="es-ES_tradnl" dirty="0"/>
              <a:t>")</a:t>
            </a:r>
          </a:p>
        </p:txBody>
      </p:sp>
    </p:spTree>
    <p:extLst>
      <p:ext uri="{BB962C8B-B14F-4D97-AF65-F5344CB8AC3E}">
        <p14:creationId xmlns:p14="http://schemas.microsoft.com/office/powerpoint/2010/main" val="19975410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0"/>
          <p:cNvSpPr txBox="1">
            <a:spLocks noGrp="1"/>
          </p:cNvSpPr>
          <p:nvPr>
            <p:ph type="title"/>
          </p:nvPr>
        </p:nvSpPr>
        <p:spPr>
          <a:xfrm>
            <a:off x="964621" y="143538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ell MT"/>
              <a:buNone/>
            </a:pPr>
            <a:r>
              <a:rPr lang="es-CO" sz="2800" b="1" u="sng"/>
              <a:t>OPERACIONES A REALIZAR EN UNA LISTA ENLAZADA:</a:t>
            </a:r>
            <a:br>
              <a:rPr lang="es-CO" sz="2800"/>
            </a:br>
            <a:br>
              <a:rPr lang="es-CO" sz="2800" b="0" i="0"/>
            </a:br>
            <a:endParaRPr sz="2800"/>
          </a:p>
        </p:txBody>
      </p:sp>
      <p:grpSp>
        <p:nvGrpSpPr>
          <p:cNvPr id="170" name="Google Shape;170;p10"/>
          <p:cNvGrpSpPr/>
          <p:nvPr/>
        </p:nvGrpSpPr>
        <p:grpSpPr>
          <a:xfrm>
            <a:off x="1096055" y="3044535"/>
            <a:ext cx="10252732" cy="3132427"/>
            <a:chOff x="5011" y="0"/>
            <a:chExt cx="10252732" cy="3132427"/>
          </a:xfrm>
        </p:grpSpPr>
        <p:sp>
          <p:nvSpPr>
            <p:cNvPr id="171" name="Google Shape;171;p10"/>
            <p:cNvSpPr/>
            <p:nvPr/>
          </p:nvSpPr>
          <p:spPr>
            <a:xfrm>
              <a:off x="5011" y="0"/>
              <a:ext cx="10252732" cy="3132427"/>
            </a:xfrm>
            <a:prstGeom prst="homePlate">
              <a:avLst>
                <a:gd name="adj" fmla="val 25000"/>
              </a:avLst>
            </a:prstGeom>
            <a:solidFill>
              <a:srgbClr val="34A76C"/>
            </a:solidFill>
            <a:ln w="19050" cap="flat" cmpd="sng">
              <a:solidFill>
                <a:srgbClr val="0A2919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72;p10"/>
            <p:cNvSpPr txBox="1"/>
            <p:nvPr/>
          </p:nvSpPr>
          <p:spPr>
            <a:xfrm>
              <a:off x="5011" y="0"/>
              <a:ext cx="9861179" cy="313242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61675" tIns="71100" rIns="1446775" bIns="711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800"/>
                <a:buFont typeface="Bell MT"/>
                <a:buNone/>
              </a:pPr>
              <a:r>
                <a:rPr lang="es-CO" sz="2800">
                  <a:solidFill>
                    <a:schemeClr val="lt1"/>
                  </a:solidFill>
                  <a:latin typeface="Bell MT"/>
                  <a:ea typeface="Bell MT"/>
                  <a:cs typeface="Bell MT"/>
                  <a:sym typeface="Bell MT"/>
                </a:rPr>
                <a:t>Cuando se utilizan listas enlazadas podemos realizar las siguientes operaciones:</a:t>
              </a:r>
              <a:endParaRPr sz="28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endParaRPr>
            </a:p>
            <a:p>
              <a:pPr marL="228600" marR="0" lvl="1" indent="-228600" algn="l" rtl="0">
                <a:lnSpc>
                  <a:spcPct val="90000"/>
                </a:lnSpc>
                <a:spcBef>
                  <a:spcPts val="980"/>
                </a:spcBef>
                <a:spcAft>
                  <a:spcPts val="0"/>
                </a:spcAft>
                <a:buClr>
                  <a:schemeClr val="lt1"/>
                </a:buClr>
                <a:buSzPts val="2200"/>
                <a:buFont typeface="Bell MT"/>
                <a:buChar char="•"/>
              </a:pPr>
              <a:r>
                <a:rPr lang="es-CO" sz="2200" b="0" i="0" u="none" strike="noStrike" cap="none">
                  <a:solidFill>
                    <a:schemeClr val="lt1"/>
                  </a:solidFill>
                  <a:latin typeface="Bell MT"/>
                  <a:ea typeface="Bell MT"/>
                  <a:cs typeface="Bell MT"/>
                  <a:sym typeface="Bell MT"/>
                </a:rPr>
                <a:t>Añadir información a la lista insertando un nuevo nodo en un determinado lugar dentro de la lista. Puede ser al inicio de la lista, entre dos nodos existentes y al final de la lista.</a:t>
              </a:r>
              <a:endParaRPr sz="2200" b="0" i="0" u="none" strike="noStrike" cap="none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endParaRPr>
            </a:p>
            <a:p>
              <a:pPr marL="228600" marR="0" lvl="1" indent="-228600" algn="l" rtl="0">
                <a:lnSpc>
                  <a:spcPct val="90000"/>
                </a:lnSpc>
                <a:spcBef>
                  <a:spcPts val="330"/>
                </a:spcBef>
                <a:spcAft>
                  <a:spcPts val="0"/>
                </a:spcAft>
                <a:buClr>
                  <a:schemeClr val="lt1"/>
                </a:buClr>
                <a:buSzPts val="2200"/>
                <a:buFont typeface="Bell MT"/>
                <a:buChar char="•"/>
              </a:pPr>
              <a:r>
                <a:rPr lang="es-CO" sz="2200" b="0" i="0" u="none" strike="noStrike" cap="none">
                  <a:solidFill>
                    <a:schemeClr val="lt1"/>
                  </a:solidFill>
                  <a:latin typeface="Bell MT"/>
                  <a:ea typeface="Bell MT"/>
                  <a:cs typeface="Bell MT"/>
                  <a:sym typeface="Bell MT"/>
                </a:rPr>
                <a:t>Eliminar un nodo específico dentro de la lista que contenga información.</a:t>
              </a:r>
              <a:endParaRPr sz="2200" b="0" i="0" u="none" strike="noStrike" cap="none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endParaRPr>
            </a:p>
            <a:p>
              <a:pPr marL="228600" marR="0" lvl="1" indent="-228600" algn="l" rtl="0">
                <a:lnSpc>
                  <a:spcPct val="90000"/>
                </a:lnSpc>
                <a:spcBef>
                  <a:spcPts val="330"/>
                </a:spcBef>
                <a:spcAft>
                  <a:spcPts val="0"/>
                </a:spcAft>
                <a:buClr>
                  <a:schemeClr val="lt1"/>
                </a:buClr>
                <a:buSzPts val="2200"/>
                <a:buFont typeface="Bell MT"/>
                <a:buChar char="•"/>
              </a:pPr>
              <a:r>
                <a:rPr lang="es-CO" sz="2200" b="0" i="0" u="none" strike="noStrike" cap="none">
                  <a:solidFill>
                    <a:schemeClr val="lt1"/>
                  </a:solidFill>
                  <a:latin typeface="Bell MT"/>
                  <a:ea typeface="Bell MT"/>
                  <a:cs typeface="Bell MT"/>
                  <a:sym typeface="Bell MT"/>
                </a:rPr>
                <a:t>Recuperar la información almacenada en un nodo específico o realizar operaciones sobre la información de los nodos.</a:t>
              </a:r>
              <a:endParaRPr sz="2200" b="0" i="0" u="none" strike="noStrike" cap="none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1"/>
          <p:cNvSpPr txBox="1">
            <a:spLocks noGrp="1"/>
          </p:cNvSpPr>
          <p:nvPr>
            <p:ph type="title"/>
          </p:nvPr>
        </p:nvSpPr>
        <p:spPr>
          <a:xfrm>
            <a:off x="-527848" y="268741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Bell MT"/>
              <a:buNone/>
            </a:pPr>
            <a:r>
              <a:rPr lang="es-CO"/>
              <a:t>Ejercicio</a:t>
            </a:r>
            <a:endParaRPr/>
          </a:p>
        </p:txBody>
      </p:sp>
      <p:sp>
        <p:nvSpPr>
          <p:cNvPr id="178" name="Google Shape;178;p11"/>
          <p:cNvSpPr txBox="1">
            <a:spLocks noGrp="1"/>
          </p:cNvSpPr>
          <p:nvPr>
            <p:ph type="body" idx="1"/>
          </p:nvPr>
        </p:nvSpPr>
        <p:spPr>
          <a:xfrm>
            <a:off x="964622" y="1457473"/>
            <a:ext cx="10262755" cy="31324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9"/>
              </a:buClr>
              <a:buSzPts val="1800"/>
              <a:buNone/>
            </a:pPr>
            <a:r>
              <a:rPr lang="es-CO" sz="1800">
                <a:solidFill>
                  <a:srgbClr val="00000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continuación, se implementa un ejercicio que permite almacenar en una lista enlazada la información de los estudiantes de un curso, correspondiente a su código o identificación, el nombre y las tres notas que se le toman a un estudiante durante un determinado periodo; también se calcula la nota promedio del semestre</a:t>
            </a:r>
            <a:r>
              <a:rPr lang="es-CO"/>
              <a:t> </a:t>
            </a:r>
            <a:endParaRPr/>
          </a:p>
        </p:txBody>
      </p:sp>
      <p:sp>
        <p:nvSpPr>
          <p:cNvPr id="179" name="Google Shape;179;p11"/>
          <p:cNvSpPr txBox="1"/>
          <p:nvPr/>
        </p:nvSpPr>
        <p:spPr>
          <a:xfrm>
            <a:off x="2165131" y="2599523"/>
            <a:ext cx="6369268" cy="3366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8890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>
                <a:solidFill>
                  <a:srgbClr val="00000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 ejercicio en su implementación permite al usuario las siguientes opciones: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s-CO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42950" marR="0" lvl="1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9"/>
              </a:buClr>
              <a:buSzPts val="1200"/>
              <a:buFont typeface="Courier New"/>
              <a:buChar char="o"/>
            </a:pPr>
            <a:r>
              <a:rPr lang="es-CO" sz="1200" b="0" i="0" u="none" strike="noStrike" cap="none">
                <a:solidFill>
                  <a:srgbClr val="000009"/>
                </a:solidFill>
                <a:latin typeface="Calibri"/>
                <a:ea typeface="Calibri"/>
                <a:cs typeface="Calibri"/>
                <a:sym typeface="Calibri"/>
              </a:rPr>
              <a:t>Agregar nodos a la lista.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1005"/>
              </a:spcBef>
              <a:spcAft>
                <a:spcPts val="0"/>
              </a:spcAft>
              <a:buNone/>
            </a:pPr>
            <a:r>
              <a:rPr lang="es-CO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42950" marR="0" lvl="1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9"/>
              </a:buClr>
              <a:buSzPts val="1200"/>
              <a:buFont typeface="Courier New"/>
              <a:buChar char="o"/>
            </a:pPr>
            <a:r>
              <a:rPr lang="es-CO" sz="1200" b="0" i="0" u="none" strike="noStrike" cap="none">
                <a:solidFill>
                  <a:srgbClr val="000009"/>
                </a:solidFill>
                <a:latin typeface="Calibri"/>
                <a:ea typeface="Calibri"/>
                <a:cs typeface="Calibri"/>
                <a:sym typeface="Calibri"/>
              </a:rPr>
              <a:t>Mostar la información de los nodos almacenados.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1010"/>
              </a:spcBef>
              <a:spcAft>
                <a:spcPts val="0"/>
              </a:spcAft>
              <a:buNone/>
            </a:pPr>
            <a:r>
              <a:rPr lang="es-CO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42950" marR="0" lvl="1" indent="-285750" algn="l" rtl="0">
              <a:lnSpc>
                <a:spcPct val="115000"/>
              </a:lnSpc>
              <a:spcBef>
                <a:spcPts val="5"/>
              </a:spcBef>
              <a:spcAft>
                <a:spcPts val="0"/>
              </a:spcAft>
              <a:buClr>
                <a:srgbClr val="000009"/>
              </a:buClr>
              <a:buSzPts val="1200"/>
              <a:buFont typeface="Courier New"/>
              <a:buChar char="o"/>
            </a:pPr>
            <a:r>
              <a:rPr lang="es-CO" sz="1200" b="0" i="0" u="none" strike="noStrike" cap="none">
                <a:solidFill>
                  <a:srgbClr val="000009"/>
                </a:solidFill>
                <a:latin typeface="Calibri"/>
                <a:ea typeface="Calibri"/>
                <a:cs typeface="Calibri"/>
                <a:sym typeface="Calibri"/>
              </a:rPr>
              <a:t>Determinar el número de nodos almacenados en la lista.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1010"/>
              </a:spcBef>
              <a:spcAft>
                <a:spcPts val="0"/>
              </a:spcAft>
              <a:buNone/>
            </a:pPr>
            <a:r>
              <a:rPr lang="es-CO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42950" marR="0" lvl="1" indent="-285750" algn="l" rtl="0">
              <a:lnSpc>
                <a:spcPct val="115000"/>
              </a:lnSpc>
              <a:spcBef>
                <a:spcPts val="5"/>
              </a:spcBef>
              <a:spcAft>
                <a:spcPts val="0"/>
              </a:spcAft>
              <a:buClr>
                <a:srgbClr val="000009"/>
              </a:buClr>
              <a:buSzPts val="1200"/>
              <a:buFont typeface="Courier New"/>
              <a:buChar char="o"/>
            </a:pPr>
            <a:r>
              <a:rPr lang="es-CO" sz="1200" b="0" i="0" u="none" strike="noStrike" cap="none">
                <a:solidFill>
                  <a:srgbClr val="000009"/>
                </a:solidFill>
                <a:latin typeface="Calibri"/>
                <a:ea typeface="Calibri"/>
                <a:cs typeface="Calibri"/>
                <a:sym typeface="Calibri"/>
              </a:rPr>
              <a:t>Buscar la información de in estudiante en los nodos.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1010"/>
              </a:spcBef>
              <a:spcAft>
                <a:spcPts val="0"/>
              </a:spcAft>
              <a:buNone/>
            </a:pPr>
            <a:r>
              <a:rPr lang="es-CO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42950" marR="0" lvl="1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9"/>
              </a:buClr>
              <a:buSzPts val="1200"/>
              <a:buFont typeface="Courier New"/>
              <a:buChar char="o"/>
            </a:pPr>
            <a:r>
              <a:rPr lang="es-CO" sz="1200" b="0" i="0" u="none" strike="noStrike" cap="none">
                <a:solidFill>
                  <a:srgbClr val="000009"/>
                </a:solidFill>
                <a:latin typeface="Calibri"/>
                <a:ea typeface="Calibri"/>
                <a:cs typeface="Calibri"/>
                <a:sym typeface="Calibri"/>
              </a:rPr>
              <a:t>Eliminar un determinado nodo de la lista.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1015"/>
              </a:spcBef>
              <a:spcAft>
                <a:spcPts val="0"/>
              </a:spcAft>
              <a:buNone/>
            </a:pPr>
            <a:r>
              <a:rPr lang="es-CO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42950" marR="0" lvl="1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9"/>
              </a:buClr>
              <a:buSzPts val="1200"/>
              <a:buFont typeface="Courier New"/>
              <a:buChar char="o"/>
            </a:pPr>
            <a:r>
              <a:rPr lang="es-CO" sz="1200" b="0" i="0" u="none" strike="noStrike" cap="none">
                <a:solidFill>
                  <a:srgbClr val="000009"/>
                </a:solidFill>
                <a:latin typeface="Calibri"/>
                <a:ea typeface="Calibri"/>
                <a:cs typeface="Calibri"/>
                <a:sym typeface="Calibri"/>
              </a:rPr>
              <a:t>Realizar operaciones sobre la información de la lista.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2"/>
          <p:cNvSpPr txBox="1">
            <a:spLocks noGrp="1"/>
          </p:cNvSpPr>
          <p:nvPr>
            <p:ph type="title"/>
          </p:nvPr>
        </p:nvSpPr>
        <p:spPr>
          <a:xfrm>
            <a:off x="964621" y="143538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Bell MT"/>
              <a:buNone/>
            </a:pPr>
            <a:r>
              <a:rPr lang="es-CO"/>
              <a:t>Ejercicio</a:t>
            </a:r>
            <a:endParaRPr/>
          </a:p>
        </p:txBody>
      </p:sp>
      <p:sp>
        <p:nvSpPr>
          <p:cNvPr id="185" name="Google Shape;185;p12"/>
          <p:cNvSpPr txBox="1">
            <a:spLocks noGrp="1"/>
          </p:cNvSpPr>
          <p:nvPr>
            <p:ph type="body" idx="1"/>
          </p:nvPr>
        </p:nvSpPr>
        <p:spPr>
          <a:xfrm>
            <a:off x="1091044" y="3044535"/>
            <a:ext cx="10262755" cy="31324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0000" lnSpcReduction="20000"/>
          </a:bodyPr>
          <a:lstStyle/>
          <a:p>
            <a:pPr marL="228600" marR="85725" lvl="0" indent="-2286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9"/>
              </a:buClr>
              <a:buSzPct val="100000"/>
              <a:buChar char="•"/>
            </a:pPr>
            <a:r>
              <a:rPr lang="es-CO" sz="1800">
                <a:solidFill>
                  <a:srgbClr val="00000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Para la solución del ejercicio se requiere de la implementación de tres ficheros, en donde se implementan las clases que permitirán almacenar la información de los estudiantes en la lista y facilitarán realizar operaciones sobre los nodos.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228600" algn="just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9"/>
              </a:buClr>
              <a:buSzPct val="100000"/>
              <a:buChar char="•"/>
            </a:pPr>
            <a:r>
              <a:rPr lang="es-CO" sz="1800">
                <a:solidFill>
                  <a:srgbClr val="00000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 código anterior es una clase auto-referenciada porque su campo siguiente tiene el tipo Nodo.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9"/>
              </a:buClr>
              <a:buSzPct val="100000"/>
              <a:buChar char="•"/>
            </a:pPr>
            <a:r>
              <a:rPr lang="es-CO" sz="1800">
                <a:solidFill>
                  <a:srgbClr val="00000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 nodo es un objeto creado a partir de una clase auto-referenciada.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9"/>
              </a:buClr>
              <a:buSzPct val="100000"/>
              <a:buChar char="•"/>
            </a:pPr>
            <a:r>
              <a:rPr lang="es-CO" sz="1800">
                <a:solidFill>
                  <a:srgbClr val="00000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 campo de enlace es la variable de instancia que contiene el tipo que corresponde con el nombre de la clase (para el caso anterior variable siguiente).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9"/>
              </a:buClr>
              <a:buSzPct val="100000"/>
              <a:buChar char="•"/>
            </a:pPr>
            <a:r>
              <a:rPr lang="es-CO" sz="1800">
                <a:solidFill>
                  <a:srgbClr val="00000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 enlace es el contenido del campo de enlace, que hace referencia (guarda la dirección) a otro nodo.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9"/>
              </a:buClr>
              <a:buSzPct val="100000"/>
              <a:buChar char="•"/>
            </a:pPr>
            <a:r>
              <a:rPr lang="es-CO" sz="1800">
                <a:solidFill>
                  <a:srgbClr val="00000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Las operaciones que se pueden hacer con una lista son: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9"/>
              </a:buClr>
              <a:buSzPct val="100000"/>
              <a:buChar char="•"/>
            </a:pPr>
            <a:r>
              <a:rPr lang="es-CO" sz="1800">
                <a:solidFill>
                  <a:srgbClr val="00000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       Inserción de un elemento.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9"/>
              </a:buClr>
              <a:buSzPct val="100000"/>
              <a:buChar char="•"/>
            </a:pPr>
            <a:r>
              <a:rPr lang="es-CO" sz="1800">
                <a:solidFill>
                  <a:srgbClr val="00000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       Borrado de un elemento.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9"/>
              </a:buClr>
              <a:buSzPct val="100000"/>
              <a:buChar char="•"/>
            </a:pPr>
            <a:r>
              <a:rPr lang="es-CO" sz="1800">
                <a:solidFill>
                  <a:srgbClr val="00000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       Recorrido de la lista.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9"/>
              </a:buClr>
              <a:buSzPct val="100000"/>
              <a:buChar char="•"/>
            </a:pPr>
            <a:r>
              <a:rPr lang="es-CO" sz="1800">
                <a:solidFill>
                  <a:srgbClr val="00000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       Búsqueda de un elemento.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lvl="0" indent="-10414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ell MT"/>
              <a:buNone/>
            </a:pPr>
            <a:r>
              <a:rPr lang="es-CO"/>
              <a:t> Las listas enlazadas se dividen en:</a:t>
            </a:r>
            <a:br>
              <a:rPr lang="es-CO"/>
            </a:br>
            <a:endParaRPr/>
          </a:p>
        </p:txBody>
      </p:sp>
      <p:sp>
        <p:nvSpPr>
          <p:cNvPr id="191" name="Google Shape;191;p13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</p:txBody>
      </p:sp>
      <p:grpSp>
        <p:nvGrpSpPr>
          <p:cNvPr id="192" name="Google Shape;192;p13"/>
          <p:cNvGrpSpPr/>
          <p:nvPr/>
        </p:nvGrpSpPr>
        <p:grpSpPr>
          <a:xfrm>
            <a:off x="5183188" y="1779389"/>
            <a:ext cx="6172199" cy="3289696"/>
            <a:chOff x="0" y="791964"/>
            <a:chExt cx="6172199" cy="3289696"/>
          </a:xfrm>
        </p:grpSpPr>
        <p:sp>
          <p:nvSpPr>
            <p:cNvPr id="193" name="Google Shape;193;p13"/>
            <p:cNvSpPr/>
            <p:nvPr/>
          </p:nvSpPr>
          <p:spPr>
            <a:xfrm>
              <a:off x="0" y="791964"/>
              <a:ext cx="6172199" cy="1462087"/>
            </a:xfrm>
            <a:prstGeom prst="roundRect">
              <a:avLst>
                <a:gd name="adj" fmla="val 10000"/>
              </a:avLst>
            </a:prstGeom>
            <a:solidFill>
              <a:srgbClr val="D2E0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13"/>
            <p:cNvSpPr/>
            <p:nvPr/>
          </p:nvSpPr>
          <p:spPr>
            <a:xfrm>
              <a:off x="442281" y="1120933"/>
              <a:ext cx="804148" cy="804148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13"/>
            <p:cNvSpPr/>
            <p:nvPr/>
          </p:nvSpPr>
          <p:spPr>
            <a:xfrm>
              <a:off x="1688711" y="791964"/>
              <a:ext cx="4483488" cy="146208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3"/>
            <p:cNvSpPr txBox="1"/>
            <p:nvPr/>
          </p:nvSpPr>
          <p:spPr>
            <a:xfrm>
              <a:off x="1688711" y="791964"/>
              <a:ext cx="4483488" cy="146208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54725" tIns="154725" rIns="154725" bIns="154725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00"/>
                <a:buFont typeface="Bell MT"/>
                <a:buNone/>
              </a:pPr>
              <a:r>
                <a:rPr lang="es-CO" sz="2500">
                  <a:solidFill>
                    <a:schemeClr val="dk1"/>
                  </a:solidFill>
                  <a:latin typeface="Bell MT"/>
                  <a:ea typeface="Bell MT"/>
                  <a:cs typeface="Bell MT"/>
                  <a:sym typeface="Bell MT"/>
                </a:rPr>
                <a:t>Listas enlazadas simples (con una sola dirección) y</a:t>
              </a:r>
              <a:endParaRPr sz="2500">
                <a:solidFill>
                  <a:schemeClr val="dk1"/>
                </a:solidFill>
                <a:latin typeface="Bell MT"/>
                <a:ea typeface="Bell MT"/>
                <a:cs typeface="Bell MT"/>
                <a:sym typeface="Bell MT"/>
              </a:endParaRPr>
            </a:p>
          </p:txBody>
        </p:sp>
        <p:sp>
          <p:nvSpPr>
            <p:cNvPr id="197" name="Google Shape;197;p13"/>
            <p:cNvSpPr/>
            <p:nvPr/>
          </p:nvSpPr>
          <p:spPr>
            <a:xfrm>
              <a:off x="0" y="2619573"/>
              <a:ext cx="6172199" cy="1462087"/>
            </a:xfrm>
            <a:prstGeom prst="roundRect">
              <a:avLst>
                <a:gd name="adj" fmla="val 10000"/>
              </a:avLst>
            </a:prstGeom>
            <a:solidFill>
              <a:srgbClr val="D2E0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3"/>
            <p:cNvSpPr/>
            <p:nvPr/>
          </p:nvSpPr>
          <p:spPr>
            <a:xfrm>
              <a:off x="442281" y="2948543"/>
              <a:ext cx="804148" cy="804148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3"/>
            <p:cNvSpPr/>
            <p:nvPr/>
          </p:nvSpPr>
          <p:spPr>
            <a:xfrm>
              <a:off x="1688711" y="2619573"/>
              <a:ext cx="4483488" cy="146208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3"/>
            <p:cNvSpPr txBox="1"/>
            <p:nvPr/>
          </p:nvSpPr>
          <p:spPr>
            <a:xfrm>
              <a:off x="1688711" y="2619573"/>
              <a:ext cx="4483488" cy="146208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54725" tIns="154725" rIns="154725" bIns="154725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00"/>
                <a:buFont typeface="Bell MT"/>
                <a:buNone/>
              </a:pPr>
              <a:r>
                <a:rPr lang="es-CO" sz="2500">
                  <a:solidFill>
                    <a:schemeClr val="dk1"/>
                  </a:solidFill>
                  <a:latin typeface="Bell MT"/>
                  <a:ea typeface="Bell MT"/>
                  <a:cs typeface="Bell MT"/>
                  <a:sym typeface="Bell MT"/>
                </a:rPr>
                <a:t>Listas enlazadas dobles (con dos direcciones).</a:t>
              </a:r>
              <a:endParaRPr sz="2500">
                <a:solidFill>
                  <a:schemeClr val="dk1"/>
                </a:solidFill>
                <a:latin typeface="Bell MT"/>
                <a:ea typeface="Bell MT"/>
                <a:cs typeface="Bell MT"/>
                <a:sym typeface="Bell M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487C"/>
              </a:buClr>
              <a:buSzPts val="1800"/>
              <a:buFont typeface="Calibri"/>
              <a:buNone/>
            </a:pPr>
            <a:r>
              <a:rPr lang="es-CO" sz="1800" b="1">
                <a:solidFill>
                  <a:srgbClr val="1F487C"/>
                </a:solidFill>
                <a:latin typeface="Calibri"/>
                <a:ea typeface="Calibri"/>
                <a:cs typeface="Calibri"/>
                <a:sym typeface="Calibri"/>
              </a:rPr>
              <a:t>Implementación de la clase Nodo en el fichero Nodo.java</a:t>
            </a:r>
            <a:br>
              <a:rPr lang="es-CO" sz="1800"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pic>
        <p:nvPicPr>
          <p:cNvPr id="206" name="Google Shape;206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28046" y="1217930"/>
            <a:ext cx="5203825" cy="52749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9"/>
              </a:buClr>
              <a:buSzPts val="4400"/>
              <a:buFont typeface="Times New Roman"/>
              <a:buNone/>
            </a:pPr>
            <a:r>
              <a:rPr lang="es-CO" sz="4400" b="1">
                <a:solidFill>
                  <a:srgbClr val="00000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Nodo.java</a:t>
            </a:r>
            <a:endParaRPr/>
          </a:p>
        </p:txBody>
      </p:sp>
      <p:sp>
        <p:nvSpPr>
          <p:cNvPr id="212" name="Google Shape;212;p15"/>
          <p:cNvSpPr txBox="1">
            <a:spLocks noGrp="1"/>
          </p:cNvSpPr>
          <p:nvPr>
            <p:ph type="body" idx="1"/>
          </p:nvPr>
        </p:nvSpPr>
        <p:spPr>
          <a:xfrm>
            <a:off x="590867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9"/>
              </a:buClr>
              <a:buSzPts val="1800"/>
              <a:buChar char="•"/>
            </a:pPr>
            <a:r>
              <a:rPr lang="es-CO" sz="1800">
                <a:solidFill>
                  <a:srgbClr val="00000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 el fichero </a:t>
            </a:r>
            <a:r>
              <a:rPr lang="es-CO" sz="1800" b="1">
                <a:solidFill>
                  <a:srgbClr val="00000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Nodo.java </a:t>
            </a:r>
            <a:r>
              <a:rPr lang="es-CO" sz="1800">
                <a:solidFill>
                  <a:srgbClr val="00000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 declara la clase Nodo, que tendrá toda la información requerida del estudiante y su respectivo enlace o apuntador</a:t>
            </a:r>
            <a:r>
              <a:rPr lang="es-CO"/>
              <a:t> </a:t>
            </a:r>
            <a:endParaRPr/>
          </a:p>
        </p:txBody>
      </p:sp>
      <p:sp>
        <p:nvSpPr>
          <p:cNvPr id="213" name="Google Shape;213;p15"/>
          <p:cNvSpPr txBox="1"/>
          <p:nvPr/>
        </p:nvSpPr>
        <p:spPr>
          <a:xfrm>
            <a:off x="589820" y="2917507"/>
            <a:ext cx="5981065" cy="1022985"/>
          </a:xfrm>
          <a:prstGeom prst="rect">
            <a:avLst/>
          </a:prstGeom>
          <a:solidFill>
            <a:srgbClr val="B8CCE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58115" marR="4511040" lvl="0" indent="-140335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000">
                <a:solidFill>
                  <a:srgbClr val="000009"/>
                </a:solidFill>
                <a:latin typeface="Arial"/>
                <a:ea typeface="Arial"/>
                <a:cs typeface="Arial"/>
                <a:sym typeface="Arial"/>
              </a:rPr>
              <a:t>public class Nodo { private int codigo; private String nombre; private float nota1; private float nota2; private float nota3; private Nodo siguiente;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15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215" name="Google Shape;215;p15"/>
          <p:cNvSpPr/>
          <p:nvPr/>
        </p:nvSpPr>
        <p:spPr>
          <a:xfrm>
            <a:off x="5879224" y="207986"/>
            <a:ext cx="5181600" cy="4447649"/>
          </a:xfrm>
          <a:custGeom>
            <a:avLst/>
            <a:gdLst/>
            <a:ahLst/>
            <a:cxnLst/>
            <a:rect l="l" t="t" r="r" b="b"/>
            <a:pathLst>
              <a:path w="9419" h="11043" extrusionOk="0">
                <a:moveTo>
                  <a:pt x="9419" y="10120"/>
                </a:moveTo>
                <a:lnTo>
                  <a:pt x="0" y="10120"/>
                </a:lnTo>
                <a:lnTo>
                  <a:pt x="0" y="10351"/>
                </a:lnTo>
                <a:lnTo>
                  <a:pt x="0" y="10581"/>
                </a:lnTo>
                <a:lnTo>
                  <a:pt x="0" y="10811"/>
                </a:lnTo>
                <a:lnTo>
                  <a:pt x="0" y="11042"/>
                </a:lnTo>
                <a:lnTo>
                  <a:pt x="9419" y="11042"/>
                </a:lnTo>
                <a:lnTo>
                  <a:pt x="9419" y="10811"/>
                </a:lnTo>
                <a:lnTo>
                  <a:pt x="9419" y="10581"/>
                </a:lnTo>
                <a:lnTo>
                  <a:pt x="9419" y="10351"/>
                </a:lnTo>
                <a:lnTo>
                  <a:pt x="9419" y="10120"/>
                </a:lnTo>
                <a:close/>
                <a:moveTo>
                  <a:pt x="9419" y="9200"/>
                </a:moveTo>
                <a:lnTo>
                  <a:pt x="0" y="9200"/>
                </a:lnTo>
                <a:lnTo>
                  <a:pt x="0" y="9431"/>
                </a:lnTo>
                <a:lnTo>
                  <a:pt x="0" y="9661"/>
                </a:lnTo>
                <a:lnTo>
                  <a:pt x="0" y="9889"/>
                </a:lnTo>
                <a:lnTo>
                  <a:pt x="0" y="10120"/>
                </a:lnTo>
                <a:lnTo>
                  <a:pt x="9419" y="10120"/>
                </a:lnTo>
                <a:lnTo>
                  <a:pt x="9419" y="9889"/>
                </a:lnTo>
                <a:lnTo>
                  <a:pt x="9419" y="9661"/>
                </a:lnTo>
                <a:lnTo>
                  <a:pt x="9419" y="9431"/>
                </a:lnTo>
                <a:lnTo>
                  <a:pt x="9419" y="9200"/>
                </a:lnTo>
                <a:close/>
                <a:moveTo>
                  <a:pt x="9419" y="8512"/>
                </a:moveTo>
                <a:lnTo>
                  <a:pt x="0" y="8512"/>
                </a:lnTo>
                <a:lnTo>
                  <a:pt x="0" y="8740"/>
                </a:lnTo>
                <a:lnTo>
                  <a:pt x="0" y="8970"/>
                </a:lnTo>
                <a:lnTo>
                  <a:pt x="0" y="9200"/>
                </a:lnTo>
                <a:lnTo>
                  <a:pt x="9419" y="9200"/>
                </a:lnTo>
                <a:lnTo>
                  <a:pt x="9419" y="8970"/>
                </a:lnTo>
                <a:lnTo>
                  <a:pt x="9419" y="8740"/>
                </a:lnTo>
                <a:lnTo>
                  <a:pt x="9419" y="8512"/>
                </a:lnTo>
                <a:close/>
                <a:moveTo>
                  <a:pt x="9419" y="7820"/>
                </a:moveTo>
                <a:lnTo>
                  <a:pt x="0" y="7820"/>
                </a:lnTo>
                <a:lnTo>
                  <a:pt x="0" y="8051"/>
                </a:lnTo>
                <a:lnTo>
                  <a:pt x="0" y="8281"/>
                </a:lnTo>
                <a:lnTo>
                  <a:pt x="0" y="8512"/>
                </a:lnTo>
                <a:lnTo>
                  <a:pt x="9419" y="8512"/>
                </a:lnTo>
                <a:lnTo>
                  <a:pt x="9419" y="8281"/>
                </a:lnTo>
                <a:lnTo>
                  <a:pt x="9419" y="8051"/>
                </a:lnTo>
                <a:lnTo>
                  <a:pt x="9419" y="7820"/>
                </a:lnTo>
                <a:close/>
                <a:moveTo>
                  <a:pt x="9419" y="7132"/>
                </a:moveTo>
                <a:lnTo>
                  <a:pt x="0" y="7132"/>
                </a:lnTo>
                <a:lnTo>
                  <a:pt x="0" y="7360"/>
                </a:lnTo>
                <a:lnTo>
                  <a:pt x="0" y="7590"/>
                </a:lnTo>
                <a:lnTo>
                  <a:pt x="0" y="7820"/>
                </a:lnTo>
                <a:lnTo>
                  <a:pt x="9419" y="7820"/>
                </a:lnTo>
                <a:lnTo>
                  <a:pt x="9419" y="7590"/>
                </a:lnTo>
                <a:lnTo>
                  <a:pt x="9419" y="7360"/>
                </a:lnTo>
                <a:lnTo>
                  <a:pt x="9419" y="7132"/>
                </a:lnTo>
                <a:close/>
                <a:moveTo>
                  <a:pt x="9419" y="6670"/>
                </a:moveTo>
                <a:lnTo>
                  <a:pt x="0" y="6670"/>
                </a:lnTo>
                <a:lnTo>
                  <a:pt x="0" y="6901"/>
                </a:lnTo>
                <a:lnTo>
                  <a:pt x="0" y="7132"/>
                </a:lnTo>
                <a:lnTo>
                  <a:pt x="9419" y="7132"/>
                </a:lnTo>
                <a:lnTo>
                  <a:pt x="9419" y="6901"/>
                </a:lnTo>
                <a:lnTo>
                  <a:pt x="9419" y="6670"/>
                </a:lnTo>
                <a:close/>
                <a:moveTo>
                  <a:pt x="9419" y="5751"/>
                </a:moveTo>
                <a:lnTo>
                  <a:pt x="0" y="5751"/>
                </a:lnTo>
                <a:lnTo>
                  <a:pt x="0" y="5979"/>
                </a:lnTo>
                <a:lnTo>
                  <a:pt x="0" y="6210"/>
                </a:lnTo>
                <a:lnTo>
                  <a:pt x="0" y="6440"/>
                </a:lnTo>
                <a:lnTo>
                  <a:pt x="0" y="6670"/>
                </a:lnTo>
                <a:lnTo>
                  <a:pt x="9419" y="6670"/>
                </a:lnTo>
                <a:lnTo>
                  <a:pt x="9419" y="6440"/>
                </a:lnTo>
                <a:lnTo>
                  <a:pt x="9419" y="6210"/>
                </a:lnTo>
                <a:lnTo>
                  <a:pt x="9419" y="5979"/>
                </a:lnTo>
                <a:lnTo>
                  <a:pt x="9419" y="5751"/>
                </a:lnTo>
                <a:close/>
                <a:moveTo>
                  <a:pt x="9419" y="5290"/>
                </a:moveTo>
                <a:lnTo>
                  <a:pt x="0" y="5290"/>
                </a:lnTo>
                <a:lnTo>
                  <a:pt x="0" y="5521"/>
                </a:lnTo>
                <a:lnTo>
                  <a:pt x="0" y="5751"/>
                </a:lnTo>
                <a:lnTo>
                  <a:pt x="9419" y="5751"/>
                </a:lnTo>
                <a:lnTo>
                  <a:pt x="9419" y="5521"/>
                </a:lnTo>
                <a:lnTo>
                  <a:pt x="9419" y="5290"/>
                </a:lnTo>
                <a:close/>
                <a:moveTo>
                  <a:pt x="9419" y="4602"/>
                </a:moveTo>
                <a:lnTo>
                  <a:pt x="0" y="4602"/>
                </a:lnTo>
                <a:lnTo>
                  <a:pt x="0" y="4830"/>
                </a:lnTo>
                <a:lnTo>
                  <a:pt x="0" y="5060"/>
                </a:lnTo>
                <a:lnTo>
                  <a:pt x="0" y="5290"/>
                </a:lnTo>
                <a:lnTo>
                  <a:pt x="9419" y="5290"/>
                </a:lnTo>
                <a:lnTo>
                  <a:pt x="9419" y="5060"/>
                </a:lnTo>
                <a:lnTo>
                  <a:pt x="9419" y="4830"/>
                </a:lnTo>
                <a:lnTo>
                  <a:pt x="9419" y="4602"/>
                </a:lnTo>
                <a:close/>
                <a:moveTo>
                  <a:pt x="9419" y="3449"/>
                </a:moveTo>
                <a:lnTo>
                  <a:pt x="0" y="3449"/>
                </a:lnTo>
                <a:lnTo>
                  <a:pt x="0" y="3680"/>
                </a:lnTo>
                <a:lnTo>
                  <a:pt x="0" y="3910"/>
                </a:lnTo>
                <a:lnTo>
                  <a:pt x="0" y="4141"/>
                </a:lnTo>
                <a:lnTo>
                  <a:pt x="0" y="4371"/>
                </a:lnTo>
                <a:lnTo>
                  <a:pt x="0" y="4602"/>
                </a:lnTo>
                <a:lnTo>
                  <a:pt x="9419" y="4602"/>
                </a:lnTo>
                <a:lnTo>
                  <a:pt x="9419" y="4371"/>
                </a:lnTo>
                <a:lnTo>
                  <a:pt x="9419" y="4141"/>
                </a:lnTo>
                <a:lnTo>
                  <a:pt x="9419" y="3910"/>
                </a:lnTo>
                <a:lnTo>
                  <a:pt x="9419" y="3680"/>
                </a:lnTo>
                <a:lnTo>
                  <a:pt x="9419" y="3449"/>
                </a:lnTo>
                <a:close/>
                <a:moveTo>
                  <a:pt x="9419" y="3221"/>
                </a:moveTo>
                <a:lnTo>
                  <a:pt x="0" y="3221"/>
                </a:lnTo>
                <a:lnTo>
                  <a:pt x="0" y="3449"/>
                </a:lnTo>
                <a:lnTo>
                  <a:pt x="9419" y="3449"/>
                </a:lnTo>
                <a:lnTo>
                  <a:pt x="9419" y="3221"/>
                </a:lnTo>
                <a:close/>
                <a:moveTo>
                  <a:pt x="9419" y="1841"/>
                </a:moveTo>
                <a:lnTo>
                  <a:pt x="0" y="1841"/>
                </a:lnTo>
                <a:lnTo>
                  <a:pt x="0" y="2069"/>
                </a:lnTo>
                <a:lnTo>
                  <a:pt x="0" y="2299"/>
                </a:lnTo>
                <a:lnTo>
                  <a:pt x="0" y="2530"/>
                </a:lnTo>
                <a:lnTo>
                  <a:pt x="0" y="2760"/>
                </a:lnTo>
                <a:lnTo>
                  <a:pt x="0" y="2991"/>
                </a:lnTo>
                <a:lnTo>
                  <a:pt x="0" y="3221"/>
                </a:lnTo>
                <a:lnTo>
                  <a:pt x="9419" y="3221"/>
                </a:lnTo>
                <a:lnTo>
                  <a:pt x="9419" y="2991"/>
                </a:lnTo>
                <a:lnTo>
                  <a:pt x="9419" y="2760"/>
                </a:lnTo>
                <a:lnTo>
                  <a:pt x="9419" y="2530"/>
                </a:lnTo>
                <a:lnTo>
                  <a:pt x="9419" y="2299"/>
                </a:lnTo>
                <a:lnTo>
                  <a:pt x="9419" y="2069"/>
                </a:lnTo>
                <a:lnTo>
                  <a:pt x="9419" y="1841"/>
                </a:lnTo>
                <a:close/>
                <a:moveTo>
                  <a:pt x="9419" y="461"/>
                </a:moveTo>
                <a:lnTo>
                  <a:pt x="0" y="461"/>
                </a:lnTo>
                <a:lnTo>
                  <a:pt x="0" y="689"/>
                </a:lnTo>
                <a:lnTo>
                  <a:pt x="0" y="919"/>
                </a:lnTo>
                <a:lnTo>
                  <a:pt x="0" y="1150"/>
                </a:lnTo>
                <a:lnTo>
                  <a:pt x="0" y="1380"/>
                </a:lnTo>
                <a:lnTo>
                  <a:pt x="0" y="1611"/>
                </a:lnTo>
                <a:lnTo>
                  <a:pt x="0" y="1841"/>
                </a:lnTo>
                <a:lnTo>
                  <a:pt x="9419" y="1841"/>
                </a:lnTo>
                <a:lnTo>
                  <a:pt x="9419" y="1611"/>
                </a:lnTo>
                <a:lnTo>
                  <a:pt x="9419" y="1380"/>
                </a:lnTo>
                <a:lnTo>
                  <a:pt x="9419" y="1150"/>
                </a:lnTo>
                <a:lnTo>
                  <a:pt x="9419" y="919"/>
                </a:lnTo>
                <a:lnTo>
                  <a:pt x="9419" y="689"/>
                </a:lnTo>
                <a:lnTo>
                  <a:pt x="9419" y="461"/>
                </a:lnTo>
                <a:close/>
                <a:moveTo>
                  <a:pt x="9419" y="0"/>
                </a:moveTo>
                <a:lnTo>
                  <a:pt x="0" y="0"/>
                </a:lnTo>
                <a:lnTo>
                  <a:pt x="0" y="230"/>
                </a:lnTo>
                <a:lnTo>
                  <a:pt x="0" y="231"/>
                </a:lnTo>
                <a:lnTo>
                  <a:pt x="0" y="461"/>
                </a:lnTo>
                <a:lnTo>
                  <a:pt x="9419" y="461"/>
                </a:lnTo>
                <a:lnTo>
                  <a:pt x="9419" y="231"/>
                </a:lnTo>
                <a:lnTo>
                  <a:pt x="9419" y="230"/>
                </a:lnTo>
                <a:lnTo>
                  <a:pt x="9419" y="0"/>
                </a:lnTo>
                <a:close/>
              </a:path>
            </a:pathLst>
          </a:custGeom>
          <a:solidFill>
            <a:srgbClr val="B8CCE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900">
                <a:solidFill>
                  <a:srgbClr val="000009"/>
                </a:solidFill>
                <a:latin typeface="Arial"/>
                <a:ea typeface="Arial"/>
                <a:cs typeface="Arial"/>
                <a:sym typeface="Arial"/>
              </a:rPr>
              <a:t>public void Nodo(){ 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900">
                <a:solidFill>
                  <a:srgbClr val="000009"/>
                </a:solidFill>
                <a:latin typeface="Arial"/>
                <a:ea typeface="Arial"/>
                <a:cs typeface="Arial"/>
                <a:sym typeface="Arial"/>
              </a:rPr>
              <a:t>    codigo = 0; nombre = ""; nota1 = 0;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900">
                <a:solidFill>
                  <a:srgbClr val="000009"/>
                </a:solidFill>
                <a:latin typeface="Arial"/>
                <a:ea typeface="Arial"/>
                <a:cs typeface="Arial"/>
                <a:sym typeface="Arial"/>
              </a:rPr>
              <a:t>nota2 = 0;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900">
                <a:solidFill>
                  <a:srgbClr val="000009"/>
                </a:solidFill>
                <a:latin typeface="Arial"/>
                <a:ea typeface="Arial"/>
                <a:cs typeface="Arial"/>
                <a:sym typeface="Arial"/>
              </a:rPr>
              <a:t>nota3 = 0; siguiente = null;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900">
                <a:solidFill>
                  <a:srgbClr val="000009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900">
                <a:solidFill>
                  <a:srgbClr val="000009"/>
                </a:solidFill>
                <a:latin typeface="Arial"/>
                <a:ea typeface="Arial"/>
                <a:cs typeface="Arial"/>
                <a:sym typeface="Arial"/>
              </a:rPr>
              <a:t>public void setCodigo(int cod){ 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900">
                <a:solidFill>
                  <a:srgbClr val="000009"/>
                </a:solidFill>
                <a:latin typeface="Arial"/>
                <a:ea typeface="Arial"/>
                <a:cs typeface="Arial"/>
                <a:sym typeface="Arial"/>
              </a:rPr>
              <a:t>    codigo = cod;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900">
                <a:solidFill>
                  <a:srgbClr val="000009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900">
                <a:solidFill>
                  <a:srgbClr val="000009"/>
                </a:solidFill>
                <a:latin typeface="Arial"/>
                <a:ea typeface="Arial"/>
                <a:cs typeface="Arial"/>
                <a:sym typeface="Arial"/>
              </a:rPr>
              <a:t>public void setNombre(String nom){ 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900">
                <a:solidFill>
                  <a:srgbClr val="000009"/>
                </a:solidFill>
                <a:latin typeface="Arial"/>
                <a:ea typeface="Arial"/>
                <a:cs typeface="Arial"/>
                <a:sym typeface="Arial"/>
              </a:rPr>
              <a:t>    nombre = nom;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900">
                <a:solidFill>
                  <a:srgbClr val="000009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900">
                <a:solidFill>
                  <a:srgbClr val="000009"/>
                </a:solidFill>
                <a:latin typeface="Arial"/>
                <a:ea typeface="Arial"/>
                <a:cs typeface="Arial"/>
                <a:sym typeface="Arial"/>
              </a:rPr>
              <a:t>public void setNota1(float n1){ 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900">
                <a:solidFill>
                  <a:srgbClr val="000009"/>
                </a:solidFill>
                <a:latin typeface="Arial"/>
                <a:ea typeface="Arial"/>
                <a:cs typeface="Arial"/>
                <a:sym typeface="Arial"/>
              </a:rPr>
              <a:t>     nota1 = n1;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900">
                <a:solidFill>
                  <a:srgbClr val="000009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900">
                <a:solidFill>
                  <a:srgbClr val="000009"/>
                </a:solidFill>
                <a:latin typeface="Arial"/>
                <a:ea typeface="Arial"/>
                <a:cs typeface="Arial"/>
                <a:sym typeface="Arial"/>
              </a:rPr>
              <a:t>public void setNota2(float n2){ 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900">
                <a:solidFill>
                  <a:srgbClr val="000009"/>
                </a:solidFill>
                <a:latin typeface="Arial"/>
                <a:ea typeface="Arial"/>
                <a:cs typeface="Arial"/>
                <a:sym typeface="Arial"/>
              </a:rPr>
              <a:t>    nota2 = n2;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900">
                <a:solidFill>
                  <a:srgbClr val="000009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900">
                <a:solidFill>
                  <a:srgbClr val="000009"/>
                </a:solidFill>
                <a:latin typeface="Arial"/>
                <a:ea typeface="Arial"/>
                <a:cs typeface="Arial"/>
                <a:sym typeface="Arial"/>
              </a:rPr>
              <a:t>public void setNota3(float n3){ 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900">
                <a:solidFill>
                  <a:srgbClr val="000009"/>
                </a:solidFill>
                <a:latin typeface="Arial"/>
                <a:ea typeface="Arial"/>
                <a:cs typeface="Arial"/>
                <a:sym typeface="Arial"/>
              </a:rPr>
              <a:t>    nota3 = n3;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900">
                <a:solidFill>
                  <a:srgbClr val="000009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900">
                <a:solidFill>
                  <a:srgbClr val="000009"/>
                </a:solidFill>
                <a:latin typeface="Arial"/>
                <a:ea typeface="Arial"/>
                <a:cs typeface="Arial"/>
                <a:sym typeface="Arial"/>
              </a:rPr>
              <a:t>public void setSiguiente(Nodo sig){ 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900">
                <a:solidFill>
                  <a:srgbClr val="000009"/>
                </a:solidFill>
                <a:latin typeface="Arial"/>
                <a:ea typeface="Arial"/>
                <a:cs typeface="Arial"/>
                <a:sym typeface="Arial"/>
              </a:rPr>
              <a:t>    siguiente = sig;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900">
                <a:solidFill>
                  <a:srgbClr val="000009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900">
                <a:solidFill>
                  <a:srgbClr val="000009"/>
                </a:solidFill>
                <a:latin typeface="Arial"/>
                <a:ea typeface="Arial"/>
                <a:cs typeface="Arial"/>
                <a:sym typeface="Arial"/>
              </a:rPr>
              <a:t>public int getCodigo(){ return codigo;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900">
                <a:solidFill>
                  <a:srgbClr val="000009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900">
                <a:solidFill>
                  <a:srgbClr val="000009"/>
                </a:solidFill>
                <a:latin typeface="Arial"/>
                <a:ea typeface="Arial"/>
                <a:cs typeface="Arial"/>
                <a:sym typeface="Arial"/>
              </a:rPr>
              <a:t>public String getNombre(){ 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900">
                <a:solidFill>
                  <a:srgbClr val="000009"/>
                </a:solidFill>
                <a:latin typeface="Arial"/>
                <a:ea typeface="Arial"/>
                <a:cs typeface="Arial"/>
                <a:sym typeface="Arial"/>
              </a:rPr>
              <a:t>    return nombre;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900">
                <a:solidFill>
                  <a:srgbClr val="000009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900">
                <a:solidFill>
                  <a:srgbClr val="000009"/>
                </a:solidFill>
                <a:latin typeface="Arial"/>
                <a:ea typeface="Arial"/>
                <a:cs typeface="Arial"/>
                <a:sym typeface="Arial"/>
              </a:rPr>
              <a:t>public float getNota1(){ 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900">
                <a:solidFill>
                  <a:srgbClr val="000009"/>
                </a:solidFill>
                <a:latin typeface="Arial"/>
                <a:ea typeface="Arial"/>
                <a:cs typeface="Arial"/>
                <a:sym typeface="Arial"/>
              </a:rPr>
              <a:t>     return nota1</a:t>
            </a:r>
            <a:endParaRPr sz="900">
              <a:solidFill>
                <a:schemeClr val="dk1"/>
              </a:solidFill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216" name="Google Shape;216;p15"/>
          <p:cNvSpPr/>
          <p:nvPr/>
        </p:nvSpPr>
        <p:spPr>
          <a:xfrm>
            <a:off x="369888" y="383303"/>
            <a:ext cx="219932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9"/>
              </a:buClr>
              <a:buSzPts val="1000"/>
              <a:buFont typeface="Arial"/>
              <a:buNone/>
            </a:pPr>
            <a:r>
              <a:rPr lang="es-CO" sz="1000" b="0" i="0" u="none" strike="noStrike" cap="none">
                <a:solidFill>
                  <a:srgbClr val="000009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15"/>
          <p:cNvSpPr txBox="1"/>
          <p:nvPr/>
        </p:nvSpPr>
        <p:spPr>
          <a:xfrm>
            <a:off x="7877504" y="3926834"/>
            <a:ext cx="6106510" cy="28982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29234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050">
                <a:solidFill>
                  <a:srgbClr val="000009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69570" marR="4602480" lvl="0" indent="-140335" algn="l" rtl="0">
              <a:spcBef>
                <a:spcPts val="5"/>
              </a:spcBef>
              <a:spcAft>
                <a:spcPts val="0"/>
              </a:spcAft>
              <a:buNone/>
            </a:pPr>
            <a:r>
              <a:rPr lang="es-CO" sz="1050">
                <a:solidFill>
                  <a:srgbClr val="000009"/>
                </a:solidFill>
                <a:latin typeface="Arial"/>
                <a:ea typeface="Arial"/>
                <a:cs typeface="Arial"/>
                <a:sym typeface="Arial"/>
              </a:rPr>
              <a:t>public float getNota2(){ 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69570" marR="4602480" lvl="0" indent="-140335" algn="l" rtl="0">
              <a:spcBef>
                <a:spcPts val="5"/>
              </a:spcBef>
              <a:spcAft>
                <a:spcPts val="0"/>
              </a:spcAft>
              <a:buNone/>
            </a:pPr>
            <a:r>
              <a:rPr lang="es-CO" sz="1050">
                <a:solidFill>
                  <a:srgbClr val="000009"/>
                </a:solidFill>
                <a:latin typeface="Arial"/>
                <a:ea typeface="Arial"/>
                <a:cs typeface="Arial"/>
                <a:sym typeface="Arial"/>
              </a:rPr>
              <a:t>    return nota2;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9234" marR="0" lvl="0" indent="0" algn="l" rtl="0">
              <a:lnSpc>
                <a:spcPct val="109047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s-CO" sz="1050">
                <a:solidFill>
                  <a:srgbClr val="000009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69570" marR="4603750" lvl="0" indent="-140335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050">
                <a:solidFill>
                  <a:srgbClr val="000009"/>
                </a:solidFill>
                <a:latin typeface="Arial"/>
                <a:ea typeface="Arial"/>
                <a:cs typeface="Arial"/>
                <a:sym typeface="Arial"/>
              </a:rPr>
              <a:t>public float getNota3(){ return nota3;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9234" marR="0" lvl="0" indent="0" algn="l" rtl="0">
              <a:lnSpc>
                <a:spcPct val="1095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050">
                <a:solidFill>
                  <a:srgbClr val="000009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9234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050">
                <a:solidFill>
                  <a:srgbClr val="000009"/>
                </a:solidFill>
                <a:latin typeface="Arial"/>
                <a:ea typeface="Arial"/>
                <a:cs typeface="Arial"/>
                <a:sym typeface="Arial"/>
              </a:rPr>
              <a:t>public float definitiva(){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69570" marR="0" lvl="0" indent="0" algn="l" rtl="0">
              <a:spcBef>
                <a:spcPts val="5"/>
              </a:spcBef>
              <a:spcAft>
                <a:spcPts val="0"/>
              </a:spcAft>
              <a:buNone/>
            </a:pPr>
            <a:r>
              <a:rPr lang="es-CO" sz="1050">
                <a:solidFill>
                  <a:srgbClr val="000009"/>
                </a:solidFill>
                <a:latin typeface="Arial"/>
                <a:ea typeface="Arial"/>
                <a:cs typeface="Arial"/>
                <a:sym typeface="Arial"/>
              </a:rPr>
              <a:t>return (getNota1()+getNota2()+getNota3())/3;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9234" marR="0" lvl="0" indent="0" algn="l" rtl="0">
              <a:lnSpc>
                <a:spcPct val="1085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050">
                <a:solidFill>
                  <a:srgbClr val="000009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69570" marR="4340225" lvl="0" indent="-140335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050">
                <a:solidFill>
                  <a:srgbClr val="000009"/>
                </a:solidFill>
                <a:latin typeface="Arial"/>
                <a:ea typeface="Arial"/>
                <a:cs typeface="Arial"/>
                <a:sym typeface="Arial"/>
              </a:rPr>
              <a:t>public Nodo getSiguiente(){ 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69570" marR="4340225" lvl="0" indent="-140335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050">
                <a:solidFill>
                  <a:srgbClr val="000009"/>
                </a:solidFill>
                <a:latin typeface="Arial"/>
                <a:ea typeface="Arial"/>
                <a:cs typeface="Arial"/>
                <a:sym typeface="Arial"/>
              </a:rPr>
              <a:t>    return siguiente;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9234" marR="0" lvl="0" indent="0" algn="l" rtl="0">
              <a:spcBef>
                <a:spcPts val="10"/>
              </a:spcBef>
              <a:spcAft>
                <a:spcPts val="0"/>
              </a:spcAft>
              <a:buNone/>
            </a:pPr>
            <a:r>
              <a:rPr lang="es-CO" sz="1050">
                <a:solidFill>
                  <a:srgbClr val="000009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89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050">
                <a:solidFill>
                  <a:srgbClr val="000009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487C"/>
              </a:buClr>
              <a:buSzPct val="100000"/>
              <a:buFont typeface="Times New Roman"/>
              <a:buNone/>
            </a:pPr>
            <a:r>
              <a:rPr lang="es-CO" sz="4400" b="1">
                <a:solidFill>
                  <a:srgbClr val="1F487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Implementación de la clase ListaEnlazada en el fichero ListaEnlazada.java:</a:t>
            </a:r>
            <a:br>
              <a:rPr lang="es-CO" sz="4400" b="1">
                <a:latin typeface="Times New Roman"/>
                <a:ea typeface="Times New Roman"/>
                <a:cs typeface="Times New Roman"/>
                <a:sym typeface="Times New Roman"/>
              </a:rPr>
            </a:br>
            <a:endParaRPr/>
          </a:p>
        </p:txBody>
      </p:sp>
      <p:sp>
        <p:nvSpPr>
          <p:cNvPr id="223" name="Google Shape;223;p1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9"/>
              </a:buClr>
              <a:buSzPts val="1800"/>
              <a:buChar char="•"/>
            </a:pPr>
            <a:r>
              <a:rPr lang="es-CO" sz="1800">
                <a:solidFill>
                  <a:srgbClr val="00000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 fichero </a:t>
            </a:r>
            <a:r>
              <a:rPr lang="es-CO" sz="1800" b="1">
                <a:solidFill>
                  <a:srgbClr val="00000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ListaEnlazada.java </a:t>
            </a:r>
            <a:r>
              <a:rPr lang="es-CO" sz="1800">
                <a:solidFill>
                  <a:srgbClr val="00000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 para declarar la clase ListaEnlazada, en esta clase se declaran todos los métodos que permiten crear la lista enlazada y realizar las operaciones básicas sobre la misma, como: agregar nodos a la lista, buscar información, eliminar nodos y realizar operaciones</a:t>
            </a:r>
            <a:endParaRPr/>
          </a:p>
        </p:txBody>
      </p:sp>
      <p:sp>
        <p:nvSpPr>
          <p:cNvPr id="224" name="Google Shape;224;p16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Bell MT"/>
              <a:buNone/>
            </a:pPr>
            <a:endParaRPr/>
          </a:p>
        </p:txBody>
      </p:sp>
      <p:sp>
        <p:nvSpPr>
          <p:cNvPr id="230" name="Google Shape;230;p1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sp>
        <p:nvSpPr>
          <p:cNvPr id="231" name="Google Shape;231;p17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8"/>
          <p:cNvSpPr txBox="1"/>
          <p:nvPr/>
        </p:nvSpPr>
        <p:spPr>
          <a:xfrm>
            <a:off x="2891978" y="2283719"/>
            <a:ext cx="6207617" cy="1569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9600">
                <a:solidFill>
                  <a:schemeClr val="dk1"/>
                </a:solidFill>
                <a:latin typeface="Bell MT"/>
                <a:ea typeface="Bell MT"/>
                <a:cs typeface="Bell MT"/>
                <a:sym typeface="Bell MT"/>
              </a:rPr>
              <a:t>GRACIAS!!</a:t>
            </a:r>
            <a:r>
              <a:rPr lang="es-CO" sz="1800">
                <a:solidFill>
                  <a:schemeClr val="dk1"/>
                </a:solidFill>
                <a:latin typeface="Bell MT"/>
                <a:ea typeface="Bell MT"/>
                <a:cs typeface="Bell MT"/>
                <a:sym typeface="Bell MT"/>
              </a:rPr>
              <a:t> 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9"/>
          <p:cNvSpPr txBox="1">
            <a:spLocks noGrp="1"/>
          </p:cNvSpPr>
          <p:nvPr>
            <p:ph type="body" idx="1"/>
          </p:nvPr>
        </p:nvSpPr>
        <p:spPr>
          <a:xfrm>
            <a:off x="523875" y="1295400"/>
            <a:ext cx="11163300" cy="5181600"/>
          </a:xfrm>
          <a:prstGeom prst="rect">
            <a:avLst/>
          </a:prstGeom>
          <a:gradFill>
            <a:gsLst>
              <a:gs pos="0">
                <a:srgbClr val="9FD4B4"/>
              </a:gs>
              <a:gs pos="50000">
                <a:srgbClr val="92C9A7"/>
              </a:gs>
              <a:gs pos="100000">
                <a:srgbClr val="7EC59A"/>
              </a:gs>
            </a:gsLst>
            <a:lin ang="5400000" scaled="0"/>
          </a:gradFill>
          <a:ln w="9525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s-CO" sz="2400">
                <a:solidFill>
                  <a:schemeClr val="dk1"/>
                </a:solidFill>
                <a:latin typeface="Bell MT"/>
                <a:ea typeface="Bell MT"/>
                <a:cs typeface="Bell MT"/>
                <a:sym typeface="Bell MT"/>
              </a:rPr>
              <a:t>ZOHONERO MARTÍNEZ, I. ; JOYANES AGUILAR, L. </a:t>
            </a:r>
            <a:r>
              <a:rPr lang="es-CO" sz="2400" b="1">
                <a:solidFill>
                  <a:schemeClr val="dk1"/>
                </a:solidFill>
                <a:latin typeface="Bell MT"/>
                <a:ea typeface="Bell MT"/>
                <a:cs typeface="Bell MT"/>
                <a:sym typeface="Bell MT"/>
              </a:rPr>
              <a:t>Estructuras de datos en Java</a:t>
            </a:r>
            <a:r>
              <a:rPr lang="es-CO" sz="2400">
                <a:solidFill>
                  <a:schemeClr val="dk1"/>
                </a:solidFill>
                <a:latin typeface="Bell MT"/>
                <a:ea typeface="Bell MT"/>
                <a:cs typeface="Bell MT"/>
                <a:sym typeface="Bell MT"/>
              </a:rPr>
              <a:t>. ed. Madrid etc: McGraw-Hill España, 2008. 562 p. Disponible en: https://elibro.net/es/ereader/corposucre/50117?page=188. Consultado en: 18 Aug 2022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s-CO" sz="2400">
                <a:solidFill>
                  <a:schemeClr val="dk1"/>
                </a:solidFill>
                <a:latin typeface="Bell MT"/>
                <a:ea typeface="Bell MT"/>
                <a:cs typeface="Bell MT"/>
                <a:sym typeface="Bell MT"/>
              </a:rPr>
              <a:t>Guardati Buemo, Silvia. Estructuras de datos básicas: programación orientada a objetos con java • Ruiz Rodríguez, R. (2009). Fundamentos de la programación orientada a objetos: una aplicación a las estructuras de datos en Java. El Cid Editor. https://elibro.net/es/lc/corposucre/titulos/34869 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s-CO" sz="2400">
                <a:solidFill>
                  <a:schemeClr val="dk1"/>
                </a:solidFill>
                <a:latin typeface="Bell MT"/>
                <a:ea typeface="Bell MT"/>
                <a:cs typeface="Bell MT"/>
                <a:sym typeface="Bell MT"/>
              </a:rPr>
              <a:t>Wiener, R., &amp; Pinson, L. J. (2000). Fundamentals of OOP and Data Structures in Java. Cambridge University Press. </a:t>
            </a:r>
            <a:r>
              <a:rPr lang="es-CO" sz="2400" u="sng">
                <a:solidFill>
                  <a:schemeClr val="dk1"/>
                </a:solidFill>
                <a:latin typeface="Bell MT"/>
                <a:ea typeface="Bell MT"/>
                <a:cs typeface="Bell MT"/>
                <a:sym typeface="Bell M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http://search.ebscohost.com/login.aspx?direct=true&amp;db=nlebk&amp;AN=54565&amp;site=ehost-live</a:t>
            </a:r>
            <a:endParaRPr sz="240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s-CO" sz="2400">
                <a:solidFill>
                  <a:schemeClr val="dk1"/>
                </a:solidFill>
                <a:latin typeface="Bell MT"/>
                <a:ea typeface="Bell MT"/>
                <a:cs typeface="Bell MT"/>
                <a:sym typeface="Bell MT"/>
              </a:rPr>
              <a:t>Joyanes Aguilar, Luis. Fundamentos de programación: Algoritmos, estructura de datos y objetos. 4a. Edición. Mexico: Mc Graw Hill,2008</a:t>
            </a:r>
            <a:endParaRPr/>
          </a:p>
          <a:p>
            <a:pPr marL="228600" lvl="0" indent="-76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/>
          </a:p>
        </p:txBody>
      </p:sp>
      <p:sp>
        <p:nvSpPr>
          <p:cNvPr id="242" name="Google Shape;242;p19"/>
          <p:cNvSpPr txBox="1"/>
          <p:nvPr/>
        </p:nvSpPr>
        <p:spPr>
          <a:xfrm>
            <a:off x="1376361" y="600074"/>
            <a:ext cx="7043739" cy="885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Bell MT"/>
              <a:buNone/>
            </a:pPr>
            <a:r>
              <a:rPr lang="es-CO" sz="4400" b="1">
                <a:solidFill>
                  <a:schemeClr val="dk1"/>
                </a:solidFill>
                <a:latin typeface="Bell MT"/>
                <a:ea typeface="Bell MT"/>
                <a:cs typeface="Bell MT"/>
                <a:sym typeface="Bell MT"/>
              </a:rPr>
              <a:t>BIBLIOGRAFÍA</a:t>
            </a:r>
            <a:endParaRPr sz="44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Bell MT"/>
              <a:buNone/>
            </a:pPr>
            <a:endParaRPr sz="44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PLANTILLA INSTITUCIONAL">
  <a:themeElements>
    <a:clrScheme name="AJS">
      <a:dk1>
        <a:srgbClr val="31521B"/>
      </a:dk1>
      <a:lt1>
        <a:srgbClr val="0D291B"/>
      </a:lt1>
      <a:dk2>
        <a:srgbClr val="739A28"/>
      </a:dk2>
      <a:lt2>
        <a:srgbClr val="D6EAAF"/>
      </a:lt2>
      <a:accent1>
        <a:srgbClr val="99CB38"/>
      </a:accent1>
      <a:accent2>
        <a:srgbClr val="63A537"/>
      </a:accent2>
      <a:accent3>
        <a:srgbClr val="37A76F"/>
      </a:accent3>
      <a:accent4>
        <a:srgbClr val="1B5337"/>
      </a:accent4>
      <a:accent5>
        <a:srgbClr val="1B5337"/>
      </a:accent5>
      <a:accent6>
        <a:srgbClr val="773D03"/>
      </a:accent6>
      <a:hlink>
        <a:srgbClr val="FF0000"/>
      </a:hlink>
      <a:folHlink>
        <a:srgbClr val="C000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1526</Words>
  <Application>Microsoft Macintosh PowerPoint</Application>
  <PresentationFormat>Panorámica</PresentationFormat>
  <Paragraphs>161</Paragraphs>
  <Slides>20</Slides>
  <Notes>19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20</vt:i4>
      </vt:variant>
    </vt:vector>
  </HeadingPairs>
  <TitlesOfParts>
    <vt:vector size="26" baseType="lpstr">
      <vt:lpstr>Courier New</vt:lpstr>
      <vt:lpstr>Arial</vt:lpstr>
      <vt:lpstr>Times New Roman</vt:lpstr>
      <vt:lpstr>Bell MT</vt:lpstr>
      <vt:lpstr>Calibri</vt:lpstr>
      <vt:lpstr>PLANTILLA INSTITUCIONAL</vt:lpstr>
      <vt:lpstr>Presentación de PowerPoint</vt:lpstr>
      <vt:lpstr>Agenda:</vt:lpstr>
      <vt:lpstr>Presentación de PowerPoint</vt:lpstr>
      <vt:lpstr>Nodos: </vt:lpstr>
      <vt:lpstr>Presentación de PowerPoint</vt:lpstr>
      <vt:lpstr>Tipos de listas enlazadas </vt:lpstr>
      <vt:lpstr>Ventajas y desventajas </vt:lpstr>
      <vt:lpstr>Usos comunes  </vt:lpstr>
      <vt:lpstr>Listas</vt:lpstr>
      <vt:lpstr>Presentación de PowerPoint</vt:lpstr>
      <vt:lpstr>OPERACIONES A REALIZAR EN UNA LISTA ENLAZADA:  </vt:lpstr>
      <vt:lpstr>Ejercicio</vt:lpstr>
      <vt:lpstr>Ejercicio</vt:lpstr>
      <vt:lpstr> Las listas enlazadas se dividen en: </vt:lpstr>
      <vt:lpstr>Implementación de la clase Nodo en el fichero Nodo.java </vt:lpstr>
      <vt:lpstr>Nodo.java</vt:lpstr>
      <vt:lpstr>Implementación de la clase ListaEnlazada en el fichero ListaEnlazada.java: 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fanylucastrotorres@gmail.com</dc:creator>
  <cp:lastModifiedBy>jaider enrique reyes herazo</cp:lastModifiedBy>
  <cp:revision>1</cp:revision>
  <dcterms:created xsi:type="dcterms:W3CDTF">2019-10-27T02:47:36Z</dcterms:created>
  <dcterms:modified xsi:type="dcterms:W3CDTF">2025-09-12T20:10:06Z</dcterms:modified>
</cp:coreProperties>
</file>